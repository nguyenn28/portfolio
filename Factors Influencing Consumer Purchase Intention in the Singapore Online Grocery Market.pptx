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微软雅黑" panose="020B0503020204020204" pitchFamily="34" charset="-122"/>
      <p:regular r:id="rId15"/>
      <p:bold r:id="rId16"/>
    </p:embeddedFont>
    <p:embeddedFont>
      <p:font typeface="Liter" panose="020B0604020202020204" charset="0"/>
      <p:regular r:id="rId17"/>
    </p:embeddedFont>
    <p:embeddedFont>
      <p:font typeface="Oranienbaum" panose="02000506080000020003" pitchFamily="2" charset="0"/>
      <p:regular r:id="rId18"/>
    </p:embeddedFont>
    <p:embeddedFont>
      <p:font typeface="Quattrocento Sans" panose="020B0502050000020003" pitchFamily="34" charset="0"/>
      <p:regular r:id="rId19"/>
      <p:bold r:id="rId20"/>
    </p:embeddedFont>
    <p:embeddedFont>
      <p:font typeface="Unna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9231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1e2e0864b5aeff77752026dae588bd7550d0f8d3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2889" r="1288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3A5C">
                  <a:alpha val="95000"/>
                </a:srgbClr>
              </a:gs>
              <a:gs pos="50000">
                <a:srgbClr val="1A3A5C">
                  <a:alpha val="90000"/>
                </a:srgbClr>
              </a:gs>
              <a:gs pos="100000">
                <a:srgbClr val="5A7A96">
                  <a:alpha val="8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381000" y="792163"/>
            <a:ext cx="2714625" cy="381000"/>
          </a:xfrm>
          <a:custGeom>
            <a:avLst/>
            <a:gdLst/>
            <a:ahLst/>
            <a:cxnLst/>
            <a:rect l="l" t="t" r="r" b="b"/>
            <a:pathLst>
              <a:path w="2714625" h="381000">
                <a:moveTo>
                  <a:pt x="0" y="0"/>
                </a:moveTo>
                <a:lnTo>
                  <a:pt x="2714625" y="0"/>
                </a:lnTo>
                <a:lnTo>
                  <a:pt x="27146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571500" y="868363"/>
            <a:ext cx="2409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MASTER'S THESIS DEFENSE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477963"/>
            <a:ext cx="8820150" cy="2143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Factors Influencing Consumer Purchase Intention in the Singapore Online Grocery Market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925888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381000" y="4268788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5A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Quantitative Study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4687888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Acceptance Model (TAM) Framework Application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1000" y="5368925"/>
            <a:ext cx="11430000" cy="6350"/>
          </a:xfrm>
          <a:custGeom>
            <a:avLst/>
            <a:gdLst/>
            <a:ahLst/>
            <a:cxnLst/>
            <a:rect l="l" t="t" r="r" b="b"/>
            <a:pathLst>
              <a:path w="11430000" h="6350">
                <a:moveTo>
                  <a:pt x="0" y="0"/>
                </a:moveTo>
                <a:lnTo>
                  <a:pt x="11430000" y="0"/>
                </a:lnTo>
                <a:lnTo>
                  <a:pt x="114300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381000" y="5600700"/>
            <a:ext cx="563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Presented by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81000" y="5905500"/>
            <a:ext cx="5676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Nguyen Thi Nhu Nguyen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81000" y="6248400"/>
            <a:ext cx="563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Master of Science in International Business Management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172200" y="5600700"/>
            <a:ext cx="563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Supervisor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134100" y="5905500"/>
            <a:ext cx="5676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Philip Snelle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172200" y="6248400"/>
            <a:ext cx="563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December 2020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C5A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3A5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Research Problem &amp; Objectives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00050" y="1371600"/>
            <a:ext cx="5600700" cy="1619250"/>
          </a:xfrm>
          <a:custGeom>
            <a:avLst/>
            <a:gdLst/>
            <a:ahLst/>
            <a:cxnLst/>
            <a:rect l="l" t="t" r="r" b="b"/>
            <a:pathLst>
              <a:path w="5600700" h="1619250">
                <a:moveTo>
                  <a:pt x="38100" y="0"/>
                </a:moveTo>
                <a:lnTo>
                  <a:pt x="5524498" y="0"/>
                </a:lnTo>
                <a:cubicBezTo>
                  <a:pt x="5566583" y="0"/>
                  <a:pt x="5600700" y="34117"/>
                  <a:pt x="5600700" y="76202"/>
                </a:cubicBezTo>
                <a:lnTo>
                  <a:pt x="5600700" y="1543048"/>
                </a:lnTo>
                <a:cubicBezTo>
                  <a:pt x="5600700" y="1585133"/>
                  <a:pt x="5566583" y="1619250"/>
                  <a:pt x="5524498" y="1619250"/>
                </a:cubicBezTo>
                <a:lnTo>
                  <a:pt x="38100" y="1619250"/>
                </a:lnTo>
                <a:cubicBezTo>
                  <a:pt x="17072" y="1619250"/>
                  <a:pt x="0" y="1602178"/>
                  <a:pt x="0" y="1581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00050" y="1371600"/>
            <a:ext cx="38100" cy="1619250"/>
          </a:xfrm>
          <a:custGeom>
            <a:avLst/>
            <a:gdLst/>
            <a:ahLst/>
            <a:cxnLst/>
            <a:rect l="l" t="t" r="r" b="b"/>
            <a:pathLst>
              <a:path w="38100" h="1619250">
                <a:moveTo>
                  <a:pt x="38100" y="0"/>
                </a:moveTo>
                <a:lnTo>
                  <a:pt x="38100" y="0"/>
                </a:lnTo>
                <a:lnTo>
                  <a:pt x="38100" y="1619250"/>
                </a:lnTo>
                <a:lnTo>
                  <a:pt x="38100" y="1619250"/>
                </a:lnTo>
                <a:cubicBezTo>
                  <a:pt x="17072" y="1619250"/>
                  <a:pt x="0" y="1602178"/>
                  <a:pt x="0" y="1581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609600" y="1562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716756" y="16668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39303" y="69652"/>
                </a:moveTo>
                <a:cubicBezTo>
                  <a:pt x="139303" y="85022"/>
                  <a:pt x="134314" y="99220"/>
                  <a:pt x="125909" y="110739"/>
                </a:cubicBezTo>
                <a:lnTo>
                  <a:pt x="168302" y="153166"/>
                </a:lnTo>
                <a:cubicBezTo>
                  <a:pt x="172488" y="157352"/>
                  <a:pt x="172488" y="164150"/>
                  <a:pt x="168302" y="168336"/>
                </a:cubicBezTo>
                <a:cubicBezTo>
                  <a:pt x="164116" y="172522"/>
                  <a:pt x="157319" y="172522"/>
                  <a:pt x="153133" y="168336"/>
                </a:cubicBezTo>
                <a:lnTo>
                  <a:pt x="110739" y="125909"/>
                </a:lnTo>
                <a:cubicBezTo>
                  <a:pt x="99220" y="134314"/>
                  <a:pt x="85022" y="139303"/>
                  <a:pt x="69652" y="139303"/>
                </a:cubicBezTo>
                <a:cubicBezTo>
                  <a:pt x="31176" y="139303"/>
                  <a:pt x="0" y="108127"/>
                  <a:pt x="0" y="69652"/>
                </a:cubicBezTo>
                <a:cubicBezTo>
                  <a:pt x="0" y="31176"/>
                  <a:pt x="31176" y="0"/>
                  <a:pt x="69652" y="0"/>
                </a:cubicBezTo>
                <a:cubicBezTo>
                  <a:pt x="108127" y="0"/>
                  <a:pt x="139303" y="31176"/>
                  <a:pt x="139303" y="69652"/>
                </a:cubicBezTo>
                <a:close/>
                <a:moveTo>
                  <a:pt x="69652" y="117872"/>
                </a:moveTo>
                <a:cubicBezTo>
                  <a:pt x="96265" y="117872"/>
                  <a:pt x="117872" y="96265"/>
                  <a:pt x="117872" y="69652"/>
                </a:cubicBezTo>
                <a:cubicBezTo>
                  <a:pt x="117872" y="43038"/>
                  <a:pt x="96265" y="21431"/>
                  <a:pt x="69652" y="21431"/>
                </a:cubicBezTo>
                <a:cubicBezTo>
                  <a:pt x="43038" y="21431"/>
                  <a:pt x="21431" y="43038"/>
                  <a:pt x="21431" y="69652"/>
                </a:cubicBezTo>
                <a:cubicBezTo>
                  <a:pt x="21431" y="96265"/>
                  <a:pt x="43038" y="117872"/>
                  <a:pt x="69652" y="11787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104900" y="1619250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Research Gap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2057400"/>
            <a:ext cx="5276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Limited academic literature examining online grocery purchase intention specifically in </a:t>
            </a:r>
            <a:r>
              <a:rPr lang="en-US" sz="1200" b="1" dirty="0">
                <a:solidFill>
                  <a:srgbClr val="212529"/>
                </a:solidFill>
                <a:highlight>
                  <a:srgbClr val="C5A56A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Singapore's unique market context </a:t>
            </a: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despite the country's advanced digital infrastructure.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3143250"/>
            <a:ext cx="5600700" cy="1619250"/>
          </a:xfrm>
          <a:custGeom>
            <a:avLst/>
            <a:gdLst/>
            <a:ahLst/>
            <a:cxnLst/>
            <a:rect l="l" t="t" r="r" b="b"/>
            <a:pathLst>
              <a:path w="5600700" h="1619250">
                <a:moveTo>
                  <a:pt x="38100" y="0"/>
                </a:moveTo>
                <a:lnTo>
                  <a:pt x="5524498" y="0"/>
                </a:lnTo>
                <a:cubicBezTo>
                  <a:pt x="5566583" y="0"/>
                  <a:pt x="5600700" y="34117"/>
                  <a:pt x="5600700" y="76202"/>
                </a:cubicBezTo>
                <a:lnTo>
                  <a:pt x="5600700" y="1543048"/>
                </a:lnTo>
                <a:cubicBezTo>
                  <a:pt x="5600700" y="1585133"/>
                  <a:pt x="5566583" y="1619250"/>
                  <a:pt x="5524498" y="1619250"/>
                </a:cubicBezTo>
                <a:lnTo>
                  <a:pt x="38100" y="1619250"/>
                </a:lnTo>
                <a:cubicBezTo>
                  <a:pt x="17072" y="1619250"/>
                  <a:pt x="0" y="1602178"/>
                  <a:pt x="0" y="1581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00050" y="3143250"/>
            <a:ext cx="38100" cy="1619250"/>
          </a:xfrm>
          <a:custGeom>
            <a:avLst/>
            <a:gdLst/>
            <a:ahLst/>
            <a:cxnLst/>
            <a:rect l="l" t="t" r="r" b="b"/>
            <a:pathLst>
              <a:path w="38100" h="1619250">
                <a:moveTo>
                  <a:pt x="38100" y="0"/>
                </a:moveTo>
                <a:lnTo>
                  <a:pt x="38100" y="0"/>
                </a:lnTo>
                <a:lnTo>
                  <a:pt x="38100" y="1619250"/>
                </a:lnTo>
                <a:lnTo>
                  <a:pt x="38100" y="1619250"/>
                </a:lnTo>
                <a:cubicBezTo>
                  <a:pt x="17072" y="1619250"/>
                  <a:pt x="0" y="1602178"/>
                  <a:pt x="0" y="1581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09600" y="3333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716756" y="34385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104900" y="3390900"/>
            <a:ext cx="156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600" y="3829050"/>
            <a:ext cx="5276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Despite rapid global e-commerce growth, Singapore's online grocery market remains </a:t>
            </a:r>
            <a:r>
              <a:rPr lang="en-US" sz="1200" b="1" dirty="0">
                <a:solidFill>
                  <a:srgbClr val="212529"/>
                </a:solidFill>
                <a:highlight>
                  <a:srgbClr val="C5A56A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underdeveloped (only 3% of total consumption) </a:t>
            </a: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due to strong traditional retail infrastructure and cultural shopping habits.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190875" y="4959350"/>
            <a:ext cx="5619750" cy="1619250"/>
          </a:xfrm>
          <a:custGeom>
            <a:avLst/>
            <a:gdLst/>
            <a:ahLst/>
            <a:cxnLst/>
            <a:rect l="l" t="t" r="r" b="b"/>
            <a:pathLst>
              <a:path w="5619750" h="1619250">
                <a:moveTo>
                  <a:pt x="76202" y="0"/>
                </a:moveTo>
                <a:lnTo>
                  <a:pt x="5543548" y="0"/>
                </a:lnTo>
                <a:cubicBezTo>
                  <a:pt x="5585633" y="0"/>
                  <a:pt x="5619750" y="34117"/>
                  <a:pt x="5619750" y="76202"/>
                </a:cubicBezTo>
                <a:lnTo>
                  <a:pt x="5619750" y="1543048"/>
                </a:lnTo>
                <a:cubicBezTo>
                  <a:pt x="5619750" y="1585133"/>
                  <a:pt x="5585633" y="1619250"/>
                  <a:pt x="5543548" y="1619250"/>
                </a:cubicBezTo>
                <a:lnTo>
                  <a:pt x="76202" y="1619250"/>
                </a:lnTo>
                <a:cubicBezTo>
                  <a:pt x="34117" y="1619250"/>
                  <a:pt x="0" y="1585133"/>
                  <a:pt x="0" y="154304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3A5C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3381375" y="5149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3488531" y="52546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0019" y="85725"/>
                </a:moveTo>
                <a:cubicBezTo>
                  <a:pt x="150019" y="50240"/>
                  <a:pt x="121210" y="21431"/>
                  <a:pt x="85725" y="21431"/>
                </a:cubicBezTo>
                <a:cubicBezTo>
                  <a:pt x="50240" y="21431"/>
                  <a:pt x="21431" y="50240"/>
                  <a:pt x="21431" y="85725"/>
                </a:cubicBezTo>
                <a:cubicBezTo>
                  <a:pt x="21431" y="121210"/>
                  <a:pt x="50240" y="150019"/>
                  <a:pt x="85725" y="150019"/>
                </a:cubicBezTo>
                <a:cubicBezTo>
                  <a:pt x="121210" y="150019"/>
                  <a:pt x="150019" y="121210"/>
                  <a:pt x="150019" y="85725"/>
                </a:cubicBezTo>
                <a:close/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85725" y="112514"/>
                </a:moveTo>
                <a:cubicBezTo>
                  <a:pt x="100510" y="112514"/>
                  <a:pt x="112514" y="100510"/>
                  <a:pt x="112514" y="85725"/>
                </a:cubicBezTo>
                <a:cubicBezTo>
                  <a:pt x="112514" y="70940"/>
                  <a:pt x="100510" y="58936"/>
                  <a:pt x="85725" y="58936"/>
                </a:cubicBezTo>
                <a:cubicBezTo>
                  <a:pt x="70940" y="58936"/>
                  <a:pt x="58936" y="70940"/>
                  <a:pt x="58936" y="85725"/>
                </a:cubicBezTo>
                <a:cubicBezTo>
                  <a:pt x="58936" y="100510"/>
                  <a:pt x="70940" y="112514"/>
                  <a:pt x="85725" y="112514"/>
                </a:cubicBezTo>
                <a:close/>
                <a:moveTo>
                  <a:pt x="85725" y="37505"/>
                </a:moveTo>
                <a:cubicBezTo>
                  <a:pt x="112339" y="37505"/>
                  <a:pt x="133945" y="59111"/>
                  <a:pt x="133945" y="85725"/>
                </a:cubicBezTo>
                <a:cubicBezTo>
                  <a:pt x="133945" y="112339"/>
                  <a:pt x="112339" y="133945"/>
                  <a:pt x="85725" y="133945"/>
                </a:cubicBezTo>
                <a:cubicBezTo>
                  <a:pt x="59111" y="133945"/>
                  <a:pt x="37505" y="112339"/>
                  <a:pt x="37505" y="85725"/>
                </a:cubicBezTo>
                <a:cubicBezTo>
                  <a:pt x="37505" y="59111"/>
                  <a:pt x="59111" y="37505"/>
                  <a:pt x="85725" y="37505"/>
                </a:cubicBezTo>
                <a:close/>
                <a:moveTo>
                  <a:pt x="75009" y="85725"/>
                </a:moveTo>
                <a:cubicBezTo>
                  <a:pt x="75009" y="79811"/>
                  <a:pt x="79811" y="75009"/>
                  <a:pt x="85725" y="75009"/>
                </a:cubicBezTo>
                <a:cubicBezTo>
                  <a:pt x="91639" y="75009"/>
                  <a:pt x="96441" y="79811"/>
                  <a:pt x="96441" y="85725"/>
                </a:cubicBezTo>
                <a:cubicBezTo>
                  <a:pt x="96441" y="91639"/>
                  <a:pt x="91639" y="96441"/>
                  <a:pt x="85725" y="96441"/>
                </a:cubicBezTo>
                <a:cubicBezTo>
                  <a:pt x="79811" y="96441"/>
                  <a:pt x="75009" y="91639"/>
                  <a:pt x="75009" y="8572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3876675" y="5207000"/>
            <a:ext cx="115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Research Aim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81375" y="5645150"/>
            <a:ext cx="53149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 examine factors affecting consumer purchase intention in Singapore's online grocery sector and quantify their degree of influence on consumer decision-making.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91250" y="1371600"/>
            <a:ext cx="5619750" cy="3378200"/>
          </a:xfrm>
          <a:custGeom>
            <a:avLst/>
            <a:gdLst/>
            <a:ahLst/>
            <a:cxnLst/>
            <a:rect l="l" t="t" r="r" b="b"/>
            <a:pathLst>
              <a:path w="5619750" h="5162550">
                <a:moveTo>
                  <a:pt x="76199" y="0"/>
                </a:moveTo>
                <a:lnTo>
                  <a:pt x="5543551" y="0"/>
                </a:lnTo>
                <a:cubicBezTo>
                  <a:pt x="5585634" y="0"/>
                  <a:pt x="5619750" y="34116"/>
                  <a:pt x="5619750" y="76199"/>
                </a:cubicBezTo>
                <a:lnTo>
                  <a:pt x="5619750" y="5086351"/>
                </a:lnTo>
                <a:cubicBezTo>
                  <a:pt x="5619750" y="5128434"/>
                  <a:pt x="5585634" y="5162550"/>
                  <a:pt x="5543551" y="5162550"/>
                </a:cubicBezTo>
                <a:lnTo>
                  <a:pt x="76199" y="5162550"/>
                </a:lnTo>
                <a:cubicBezTo>
                  <a:pt x="34116" y="5162550"/>
                  <a:pt x="0" y="5128434"/>
                  <a:pt x="0" y="50863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6381750" y="1562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6488906" y="16668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24110"/>
                </a:moveTo>
                <a:cubicBezTo>
                  <a:pt x="0" y="19690"/>
                  <a:pt x="3583" y="16073"/>
                  <a:pt x="8037" y="16073"/>
                </a:cubicBezTo>
                <a:lnTo>
                  <a:pt x="24110" y="16073"/>
                </a:lnTo>
                <a:cubicBezTo>
                  <a:pt x="28564" y="16073"/>
                  <a:pt x="32147" y="19656"/>
                  <a:pt x="32147" y="24110"/>
                </a:cubicBezTo>
                <a:lnTo>
                  <a:pt x="32147" y="58936"/>
                </a:lnTo>
                <a:lnTo>
                  <a:pt x="40184" y="58936"/>
                </a:lnTo>
                <a:cubicBezTo>
                  <a:pt x="44637" y="58936"/>
                  <a:pt x="48220" y="62519"/>
                  <a:pt x="48220" y="66973"/>
                </a:cubicBezTo>
                <a:cubicBezTo>
                  <a:pt x="48220" y="71426"/>
                  <a:pt x="44637" y="75009"/>
                  <a:pt x="40184" y="75009"/>
                </a:cubicBezTo>
                <a:lnTo>
                  <a:pt x="8037" y="75009"/>
                </a:lnTo>
                <a:cubicBezTo>
                  <a:pt x="3583" y="75009"/>
                  <a:pt x="0" y="71426"/>
                  <a:pt x="0" y="66973"/>
                </a:cubicBezTo>
                <a:cubicBezTo>
                  <a:pt x="0" y="62519"/>
                  <a:pt x="3583" y="58936"/>
                  <a:pt x="8037" y="58936"/>
                </a:cubicBezTo>
                <a:lnTo>
                  <a:pt x="16073" y="58936"/>
                </a:lnTo>
                <a:lnTo>
                  <a:pt x="16073" y="32147"/>
                </a:lnTo>
                <a:lnTo>
                  <a:pt x="8037" y="32147"/>
                </a:lnTo>
                <a:cubicBezTo>
                  <a:pt x="3583" y="32147"/>
                  <a:pt x="0" y="28564"/>
                  <a:pt x="0" y="24110"/>
                </a:cubicBezTo>
                <a:close/>
                <a:moveTo>
                  <a:pt x="10180" y="100861"/>
                </a:moveTo>
                <a:cubicBezTo>
                  <a:pt x="13997" y="97981"/>
                  <a:pt x="18652" y="96441"/>
                  <a:pt x="23440" y="96441"/>
                </a:cubicBezTo>
                <a:lnTo>
                  <a:pt x="25081" y="96441"/>
                </a:lnTo>
                <a:cubicBezTo>
                  <a:pt x="36366" y="96441"/>
                  <a:pt x="45541" y="105616"/>
                  <a:pt x="45541" y="116901"/>
                </a:cubicBezTo>
                <a:cubicBezTo>
                  <a:pt x="45541" y="123464"/>
                  <a:pt x="42394" y="129592"/>
                  <a:pt x="37103" y="133443"/>
                </a:cubicBezTo>
                <a:lnTo>
                  <a:pt x="29066" y="139303"/>
                </a:lnTo>
                <a:lnTo>
                  <a:pt x="40184" y="139303"/>
                </a:lnTo>
                <a:cubicBezTo>
                  <a:pt x="44637" y="139303"/>
                  <a:pt x="48220" y="142886"/>
                  <a:pt x="48220" y="147340"/>
                </a:cubicBezTo>
                <a:cubicBezTo>
                  <a:pt x="48220" y="151794"/>
                  <a:pt x="44637" y="155377"/>
                  <a:pt x="40184" y="155377"/>
                </a:cubicBezTo>
                <a:lnTo>
                  <a:pt x="9811" y="155377"/>
                </a:lnTo>
                <a:cubicBezTo>
                  <a:pt x="4387" y="155377"/>
                  <a:pt x="0" y="150990"/>
                  <a:pt x="0" y="145565"/>
                </a:cubicBezTo>
                <a:cubicBezTo>
                  <a:pt x="0" y="142417"/>
                  <a:pt x="1507" y="139471"/>
                  <a:pt x="4052" y="137629"/>
                </a:cubicBezTo>
                <a:lnTo>
                  <a:pt x="27660" y="120450"/>
                </a:lnTo>
                <a:cubicBezTo>
                  <a:pt x="28798" y="119613"/>
                  <a:pt x="29468" y="118307"/>
                  <a:pt x="29468" y="116901"/>
                </a:cubicBezTo>
                <a:cubicBezTo>
                  <a:pt x="29468" y="114490"/>
                  <a:pt x="27492" y="112514"/>
                  <a:pt x="25081" y="112514"/>
                </a:cubicBezTo>
                <a:lnTo>
                  <a:pt x="23440" y="112514"/>
                </a:lnTo>
                <a:cubicBezTo>
                  <a:pt x="22134" y="112514"/>
                  <a:pt x="20862" y="112949"/>
                  <a:pt x="19824" y="113720"/>
                </a:cubicBezTo>
                <a:lnTo>
                  <a:pt x="12859" y="118943"/>
                </a:lnTo>
                <a:cubicBezTo>
                  <a:pt x="9309" y="121622"/>
                  <a:pt x="4286" y="120886"/>
                  <a:pt x="1607" y="117336"/>
                </a:cubicBezTo>
                <a:cubicBezTo>
                  <a:pt x="-1072" y="113787"/>
                  <a:pt x="-335" y="108764"/>
                  <a:pt x="3215" y="106085"/>
                </a:cubicBezTo>
                <a:lnTo>
                  <a:pt x="10180" y="100861"/>
                </a:lnTo>
                <a:close/>
                <a:moveTo>
                  <a:pt x="75009" y="21431"/>
                </a:moveTo>
                <a:lnTo>
                  <a:pt x="160734" y="21431"/>
                </a:lnTo>
                <a:cubicBezTo>
                  <a:pt x="166661" y="21431"/>
                  <a:pt x="171450" y="26220"/>
                  <a:pt x="171450" y="32147"/>
                </a:cubicBezTo>
                <a:cubicBezTo>
                  <a:pt x="171450" y="38074"/>
                  <a:pt x="166661" y="42863"/>
                  <a:pt x="160734" y="42863"/>
                </a:cubicBezTo>
                <a:lnTo>
                  <a:pt x="75009" y="42863"/>
                </a:lnTo>
                <a:cubicBezTo>
                  <a:pt x="69082" y="42863"/>
                  <a:pt x="64294" y="38074"/>
                  <a:pt x="64294" y="32147"/>
                </a:cubicBezTo>
                <a:cubicBezTo>
                  <a:pt x="64294" y="26220"/>
                  <a:pt x="69082" y="21431"/>
                  <a:pt x="75009" y="21431"/>
                </a:cubicBezTo>
                <a:close/>
                <a:moveTo>
                  <a:pt x="75009" y="75009"/>
                </a:moveTo>
                <a:lnTo>
                  <a:pt x="160734" y="75009"/>
                </a:lnTo>
                <a:cubicBezTo>
                  <a:pt x="166661" y="75009"/>
                  <a:pt x="171450" y="79798"/>
                  <a:pt x="171450" y="85725"/>
                </a:cubicBezTo>
                <a:cubicBezTo>
                  <a:pt x="171450" y="91652"/>
                  <a:pt x="166661" y="96441"/>
                  <a:pt x="160734" y="96441"/>
                </a:cubicBezTo>
                <a:lnTo>
                  <a:pt x="75009" y="96441"/>
                </a:lnTo>
                <a:cubicBezTo>
                  <a:pt x="69082" y="96441"/>
                  <a:pt x="64294" y="91652"/>
                  <a:pt x="64294" y="85725"/>
                </a:cubicBezTo>
                <a:cubicBezTo>
                  <a:pt x="64294" y="79798"/>
                  <a:pt x="69082" y="75009"/>
                  <a:pt x="75009" y="75009"/>
                </a:cubicBezTo>
                <a:close/>
                <a:moveTo>
                  <a:pt x="75009" y="128588"/>
                </a:moveTo>
                <a:lnTo>
                  <a:pt x="160734" y="128588"/>
                </a:lnTo>
                <a:cubicBezTo>
                  <a:pt x="166661" y="128588"/>
                  <a:pt x="171450" y="133376"/>
                  <a:pt x="171450" y="139303"/>
                </a:cubicBezTo>
                <a:cubicBezTo>
                  <a:pt x="171450" y="145230"/>
                  <a:pt x="166661" y="150019"/>
                  <a:pt x="160734" y="150019"/>
                </a:cubicBezTo>
                <a:lnTo>
                  <a:pt x="75009" y="150019"/>
                </a:lnTo>
                <a:cubicBezTo>
                  <a:pt x="69082" y="150019"/>
                  <a:pt x="64294" y="145230"/>
                  <a:pt x="64294" y="139303"/>
                </a:cubicBezTo>
                <a:cubicBezTo>
                  <a:pt x="64294" y="133376"/>
                  <a:pt x="69082" y="128588"/>
                  <a:pt x="75009" y="12858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6877050" y="1619250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Research Objectives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81750" y="21145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348413" y="2114550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00850" y="2095500"/>
            <a:ext cx="4895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Review</a:t>
            </a: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global online grocery market trends and factors influencing consumer purchase intention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81750" y="27241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6348413" y="2724150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00850" y="2705100"/>
            <a:ext cx="4895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Identify</a:t>
            </a: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key determinants and analyze how they shape consumer action and behavior patterns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81750" y="33337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6348413" y="3333750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00850" y="3314700"/>
            <a:ext cx="4895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Analyze</a:t>
            </a: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effectiveness of identified factors toward consumer purchase intention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81750" y="39433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6348413" y="3943350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00850" y="3924300"/>
            <a:ext cx="4895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</a:t>
            </a: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strategic improvements to enhance online grocery purchasing adoption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340" y="378340"/>
            <a:ext cx="11501530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b="1" kern="0" spc="52" dirty="0">
                <a:solidFill>
                  <a:srgbClr val="C5A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Context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8340" y="643178"/>
            <a:ext cx="11605573" cy="378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81" b="1" dirty="0">
                <a:solidFill>
                  <a:srgbClr val="1A3A5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Singapore Online Grocery Market Context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8340" y="1135019"/>
            <a:ext cx="908016" cy="37834"/>
          </a:xfrm>
          <a:custGeom>
            <a:avLst/>
            <a:gdLst/>
            <a:ahLst/>
            <a:cxnLst/>
            <a:rect l="l" t="t" r="r" b="b"/>
            <a:pathLst>
              <a:path w="908016" h="37834">
                <a:moveTo>
                  <a:pt x="0" y="0"/>
                </a:moveTo>
                <a:lnTo>
                  <a:pt x="908016" y="0"/>
                </a:lnTo>
                <a:lnTo>
                  <a:pt x="908016" y="37834"/>
                </a:lnTo>
                <a:lnTo>
                  <a:pt x="0" y="37834"/>
                </a:lnTo>
                <a:lnTo>
                  <a:pt x="0" y="0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97257" y="1324189"/>
            <a:ext cx="6781741" cy="1626861"/>
          </a:xfrm>
          <a:custGeom>
            <a:avLst/>
            <a:gdLst/>
            <a:ahLst/>
            <a:cxnLst/>
            <a:rect l="l" t="t" r="r" b="b"/>
            <a:pathLst>
              <a:path w="6781741" h="1626861">
                <a:moveTo>
                  <a:pt x="37834" y="0"/>
                </a:moveTo>
                <a:lnTo>
                  <a:pt x="6706076" y="0"/>
                </a:lnTo>
                <a:cubicBezTo>
                  <a:pt x="6747864" y="0"/>
                  <a:pt x="6781741" y="33877"/>
                  <a:pt x="6781741" y="75665"/>
                </a:cubicBezTo>
                <a:lnTo>
                  <a:pt x="6781741" y="1551196"/>
                </a:lnTo>
                <a:cubicBezTo>
                  <a:pt x="6781741" y="1592985"/>
                  <a:pt x="6747864" y="1626861"/>
                  <a:pt x="6706076" y="1626861"/>
                </a:cubicBezTo>
                <a:lnTo>
                  <a:pt x="37834" y="1626861"/>
                </a:lnTo>
                <a:cubicBezTo>
                  <a:pt x="16939" y="1626861"/>
                  <a:pt x="0" y="1609922"/>
                  <a:pt x="0" y="1589027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6751" dist="3783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97257" y="1324189"/>
            <a:ext cx="37834" cy="1626861"/>
          </a:xfrm>
          <a:custGeom>
            <a:avLst/>
            <a:gdLst/>
            <a:ahLst/>
            <a:cxnLst/>
            <a:rect l="l" t="t" r="r" b="b"/>
            <a:pathLst>
              <a:path w="37834" h="1626861">
                <a:moveTo>
                  <a:pt x="37834" y="0"/>
                </a:moveTo>
                <a:lnTo>
                  <a:pt x="37834" y="0"/>
                </a:lnTo>
                <a:lnTo>
                  <a:pt x="37834" y="1626861"/>
                </a:lnTo>
                <a:lnTo>
                  <a:pt x="37834" y="1626861"/>
                </a:lnTo>
                <a:cubicBezTo>
                  <a:pt x="16939" y="1626861"/>
                  <a:pt x="0" y="1609922"/>
                  <a:pt x="0" y="1589027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95885" y="1494442"/>
            <a:ext cx="227004" cy="227004"/>
          </a:xfrm>
          <a:custGeom>
            <a:avLst/>
            <a:gdLst/>
            <a:ahLst/>
            <a:cxnLst/>
            <a:rect l="l" t="t" r="r" b="b"/>
            <a:pathLst>
              <a:path w="227004" h="227004">
                <a:moveTo>
                  <a:pt x="28375" y="28375"/>
                </a:moveTo>
                <a:cubicBezTo>
                  <a:pt x="28375" y="20528"/>
                  <a:pt x="22035" y="14188"/>
                  <a:pt x="14188" y="14188"/>
                </a:cubicBezTo>
                <a:cubicBezTo>
                  <a:pt x="6340" y="14188"/>
                  <a:pt x="0" y="20528"/>
                  <a:pt x="0" y="28375"/>
                </a:cubicBezTo>
                <a:lnTo>
                  <a:pt x="0" y="177347"/>
                </a:lnTo>
                <a:cubicBezTo>
                  <a:pt x="0" y="196944"/>
                  <a:pt x="15873" y="212816"/>
                  <a:pt x="35469" y="212816"/>
                </a:cubicBezTo>
                <a:lnTo>
                  <a:pt x="212816" y="212816"/>
                </a:lnTo>
                <a:cubicBezTo>
                  <a:pt x="220664" y="212816"/>
                  <a:pt x="227004" y="206476"/>
                  <a:pt x="227004" y="198628"/>
                </a:cubicBezTo>
                <a:cubicBezTo>
                  <a:pt x="227004" y="190781"/>
                  <a:pt x="220664" y="184441"/>
                  <a:pt x="212816" y="184441"/>
                </a:cubicBezTo>
                <a:lnTo>
                  <a:pt x="35469" y="184441"/>
                </a:lnTo>
                <a:cubicBezTo>
                  <a:pt x="31568" y="184441"/>
                  <a:pt x="28375" y="181248"/>
                  <a:pt x="28375" y="177347"/>
                </a:cubicBezTo>
                <a:lnTo>
                  <a:pt x="28375" y="28375"/>
                </a:lnTo>
                <a:close/>
                <a:moveTo>
                  <a:pt x="208648" y="66771"/>
                </a:moveTo>
                <a:cubicBezTo>
                  <a:pt x="214191" y="61229"/>
                  <a:pt x="214191" y="52229"/>
                  <a:pt x="208648" y="46687"/>
                </a:cubicBezTo>
                <a:cubicBezTo>
                  <a:pt x="203106" y="41144"/>
                  <a:pt x="194106" y="41144"/>
                  <a:pt x="188564" y="46687"/>
                </a:cubicBezTo>
                <a:lnTo>
                  <a:pt x="141877" y="93417"/>
                </a:lnTo>
                <a:lnTo>
                  <a:pt x="116428" y="68012"/>
                </a:lnTo>
                <a:cubicBezTo>
                  <a:pt x="110886" y="62470"/>
                  <a:pt x="101886" y="62470"/>
                  <a:pt x="96344" y="68012"/>
                </a:cubicBezTo>
                <a:lnTo>
                  <a:pt x="53780" y="110576"/>
                </a:lnTo>
                <a:cubicBezTo>
                  <a:pt x="48238" y="116118"/>
                  <a:pt x="48238" y="125118"/>
                  <a:pt x="53780" y="130660"/>
                </a:cubicBezTo>
                <a:cubicBezTo>
                  <a:pt x="59322" y="136202"/>
                  <a:pt x="68323" y="136202"/>
                  <a:pt x="73865" y="130660"/>
                </a:cubicBezTo>
                <a:lnTo>
                  <a:pt x="106408" y="98117"/>
                </a:lnTo>
                <a:lnTo>
                  <a:pt x="131857" y="123566"/>
                </a:lnTo>
                <a:cubicBezTo>
                  <a:pt x="137399" y="129108"/>
                  <a:pt x="146400" y="129108"/>
                  <a:pt x="151942" y="123566"/>
                </a:cubicBezTo>
                <a:lnTo>
                  <a:pt x="208693" y="66815"/>
                </a:ln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64766" y="1475525"/>
            <a:ext cx="1844407" cy="264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0" b="1" dirty="0">
                <a:solidFill>
                  <a:srgbClr val="1A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Market Characteristics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7510" y="1816031"/>
            <a:ext cx="6535820" cy="49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2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Singapore possesses highly developed market economies and advanced digital infrastructure, yet </a:t>
            </a:r>
            <a:r>
              <a:rPr lang="en-US" sz="1192" b="1" dirty="0">
                <a:solidFill>
                  <a:srgbClr val="212529"/>
                </a:solidFill>
                <a:highlight>
                  <a:srgbClr val="C5A56A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online grocery adoption remains low at 11.9% </a:t>
            </a:r>
            <a:r>
              <a:rPr lang="en-US" sz="1192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 food and beverage purchases (Singstat, 2020).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7510" y="2383541"/>
            <a:ext cx="6460152" cy="416174"/>
          </a:xfrm>
          <a:custGeom>
            <a:avLst/>
            <a:gdLst/>
            <a:ahLst/>
            <a:cxnLst/>
            <a:rect l="l" t="t" r="r" b="b"/>
            <a:pathLst>
              <a:path w="6460152" h="416174">
                <a:moveTo>
                  <a:pt x="37834" y="0"/>
                </a:moveTo>
                <a:lnTo>
                  <a:pt x="6422318" y="0"/>
                </a:lnTo>
                <a:cubicBezTo>
                  <a:pt x="6443213" y="0"/>
                  <a:pt x="6460152" y="16939"/>
                  <a:pt x="6460152" y="37834"/>
                </a:cubicBezTo>
                <a:lnTo>
                  <a:pt x="6460152" y="378339"/>
                </a:lnTo>
                <a:cubicBezTo>
                  <a:pt x="6460152" y="399235"/>
                  <a:pt x="6443213" y="416174"/>
                  <a:pt x="6422318" y="416174"/>
                </a:cubicBezTo>
                <a:lnTo>
                  <a:pt x="37834" y="416174"/>
                </a:lnTo>
                <a:cubicBezTo>
                  <a:pt x="16939" y="416174"/>
                  <a:pt x="0" y="399235"/>
                  <a:pt x="0" y="378339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699929" y="2528571"/>
            <a:ext cx="132419" cy="132419"/>
          </a:xfrm>
          <a:custGeom>
            <a:avLst/>
            <a:gdLst/>
            <a:ahLst/>
            <a:cxnLst/>
            <a:rect l="l" t="t" r="r" b="b"/>
            <a:pathLst>
              <a:path w="132419" h="132419">
                <a:moveTo>
                  <a:pt x="66209" y="132419"/>
                </a:moveTo>
                <a:cubicBezTo>
                  <a:pt x="102751" y="132419"/>
                  <a:pt x="132419" y="102751"/>
                  <a:pt x="132419" y="66209"/>
                </a:cubicBezTo>
                <a:cubicBezTo>
                  <a:pt x="132419" y="29667"/>
                  <a:pt x="102751" y="0"/>
                  <a:pt x="66209" y="0"/>
                </a:cubicBezTo>
                <a:cubicBezTo>
                  <a:pt x="29667" y="0"/>
                  <a:pt x="0" y="29667"/>
                  <a:pt x="0" y="66209"/>
                </a:cubicBezTo>
                <a:cubicBezTo>
                  <a:pt x="0" y="102751"/>
                  <a:pt x="29667" y="132419"/>
                  <a:pt x="66209" y="132419"/>
                </a:cubicBezTo>
                <a:close/>
                <a:moveTo>
                  <a:pt x="57933" y="41381"/>
                </a:moveTo>
                <a:cubicBezTo>
                  <a:pt x="57933" y="36813"/>
                  <a:pt x="61642" y="33105"/>
                  <a:pt x="66209" y="33105"/>
                </a:cubicBezTo>
                <a:cubicBezTo>
                  <a:pt x="70777" y="33105"/>
                  <a:pt x="74486" y="36813"/>
                  <a:pt x="74486" y="41381"/>
                </a:cubicBezTo>
                <a:cubicBezTo>
                  <a:pt x="74486" y="45949"/>
                  <a:pt x="70777" y="49657"/>
                  <a:pt x="66209" y="49657"/>
                </a:cubicBezTo>
                <a:cubicBezTo>
                  <a:pt x="61642" y="49657"/>
                  <a:pt x="57933" y="45949"/>
                  <a:pt x="57933" y="41381"/>
                </a:cubicBezTo>
                <a:close/>
                <a:moveTo>
                  <a:pt x="55864" y="57933"/>
                </a:moveTo>
                <a:lnTo>
                  <a:pt x="68279" y="57933"/>
                </a:lnTo>
                <a:cubicBezTo>
                  <a:pt x="71718" y="57933"/>
                  <a:pt x="74486" y="60701"/>
                  <a:pt x="74486" y="64140"/>
                </a:cubicBezTo>
                <a:lnTo>
                  <a:pt x="74486" y="86900"/>
                </a:lnTo>
                <a:lnTo>
                  <a:pt x="76555" y="86900"/>
                </a:lnTo>
                <a:cubicBezTo>
                  <a:pt x="79994" y="86900"/>
                  <a:pt x="82762" y="89667"/>
                  <a:pt x="82762" y="93107"/>
                </a:cubicBezTo>
                <a:cubicBezTo>
                  <a:pt x="82762" y="96547"/>
                  <a:pt x="79994" y="99314"/>
                  <a:pt x="76555" y="99314"/>
                </a:cubicBezTo>
                <a:lnTo>
                  <a:pt x="55864" y="99314"/>
                </a:lnTo>
                <a:cubicBezTo>
                  <a:pt x="52424" y="99314"/>
                  <a:pt x="49657" y="96547"/>
                  <a:pt x="49657" y="93107"/>
                </a:cubicBezTo>
                <a:cubicBezTo>
                  <a:pt x="49657" y="89667"/>
                  <a:pt x="52424" y="86900"/>
                  <a:pt x="55864" y="86900"/>
                </a:cubicBezTo>
                <a:lnTo>
                  <a:pt x="62071" y="86900"/>
                </a:lnTo>
                <a:lnTo>
                  <a:pt x="62071" y="70348"/>
                </a:lnTo>
                <a:lnTo>
                  <a:pt x="55864" y="70348"/>
                </a:lnTo>
                <a:cubicBezTo>
                  <a:pt x="52424" y="70348"/>
                  <a:pt x="49657" y="67580"/>
                  <a:pt x="49657" y="64140"/>
                </a:cubicBezTo>
                <a:cubicBezTo>
                  <a:pt x="49657" y="60701"/>
                  <a:pt x="52424" y="57933"/>
                  <a:pt x="55864" y="57933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907619" y="2497043"/>
            <a:ext cx="6072750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5A7A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paradox highlights the gap between technological capability and consumer behavior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97257" y="3064552"/>
            <a:ext cx="6781741" cy="1456608"/>
          </a:xfrm>
          <a:custGeom>
            <a:avLst/>
            <a:gdLst/>
            <a:ahLst/>
            <a:cxnLst/>
            <a:rect l="l" t="t" r="r" b="b"/>
            <a:pathLst>
              <a:path w="6781741" h="1456608">
                <a:moveTo>
                  <a:pt x="37834" y="0"/>
                </a:moveTo>
                <a:lnTo>
                  <a:pt x="6706070" y="0"/>
                </a:lnTo>
                <a:cubicBezTo>
                  <a:pt x="6747862" y="0"/>
                  <a:pt x="6781741" y="33879"/>
                  <a:pt x="6781741" y="75671"/>
                </a:cubicBezTo>
                <a:lnTo>
                  <a:pt x="6781741" y="1380937"/>
                </a:lnTo>
                <a:cubicBezTo>
                  <a:pt x="6781741" y="1422729"/>
                  <a:pt x="6747862" y="1456608"/>
                  <a:pt x="6706070" y="1456608"/>
                </a:cubicBezTo>
                <a:lnTo>
                  <a:pt x="37834" y="1456608"/>
                </a:lnTo>
                <a:cubicBezTo>
                  <a:pt x="16939" y="1456608"/>
                  <a:pt x="0" y="1439669"/>
                  <a:pt x="0" y="1418774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6751" dist="3783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397257" y="3064552"/>
            <a:ext cx="37834" cy="1456608"/>
          </a:xfrm>
          <a:custGeom>
            <a:avLst/>
            <a:gdLst/>
            <a:ahLst/>
            <a:cxnLst/>
            <a:rect l="l" t="t" r="r" b="b"/>
            <a:pathLst>
              <a:path w="37834" h="1456608">
                <a:moveTo>
                  <a:pt x="37834" y="0"/>
                </a:moveTo>
                <a:lnTo>
                  <a:pt x="37834" y="0"/>
                </a:lnTo>
                <a:lnTo>
                  <a:pt x="37834" y="1456608"/>
                </a:lnTo>
                <a:lnTo>
                  <a:pt x="37834" y="1456608"/>
                </a:lnTo>
                <a:cubicBezTo>
                  <a:pt x="16939" y="1456608"/>
                  <a:pt x="0" y="1439669"/>
                  <a:pt x="0" y="1418774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595885" y="3234805"/>
            <a:ext cx="227004" cy="227004"/>
          </a:xfrm>
          <a:custGeom>
            <a:avLst/>
            <a:gdLst/>
            <a:ahLst/>
            <a:cxnLst/>
            <a:rect l="l" t="t" r="r" b="b"/>
            <a:pathLst>
              <a:path w="227004" h="227004">
                <a:moveTo>
                  <a:pt x="13611" y="32055"/>
                </a:moveTo>
                <a:cubicBezTo>
                  <a:pt x="16671" y="21459"/>
                  <a:pt x="26380" y="14188"/>
                  <a:pt x="37420" y="14188"/>
                </a:cubicBezTo>
                <a:lnTo>
                  <a:pt x="189938" y="14188"/>
                </a:lnTo>
                <a:cubicBezTo>
                  <a:pt x="200978" y="14188"/>
                  <a:pt x="210688" y="21459"/>
                  <a:pt x="213792" y="32055"/>
                </a:cubicBezTo>
                <a:lnTo>
                  <a:pt x="224166" y="67613"/>
                </a:lnTo>
                <a:cubicBezTo>
                  <a:pt x="229841" y="86989"/>
                  <a:pt x="215255" y="106408"/>
                  <a:pt x="195081" y="106408"/>
                </a:cubicBezTo>
                <a:cubicBezTo>
                  <a:pt x="183421" y="106408"/>
                  <a:pt x="173179" y="99802"/>
                  <a:pt x="168125" y="89959"/>
                </a:cubicBezTo>
                <a:cubicBezTo>
                  <a:pt x="162982" y="99669"/>
                  <a:pt x="152784" y="106408"/>
                  <a:pt x="140902" y="106408"/>
                </a:cubicBezTo>
                <a:cubicBezTo>
                  <a:pt x="129108" y="106408"/>
                  <a:pt x="118867" y="99758"/>
                  <a:pt x="113724" y="90003"/>
                </a:cubicBezTo>
                <a:cubicBezTo>
                  <a:pt x="108581" y="99758"/>
                  <a:pt x="98339" y="106408"/>
                  <a:pt x="86545" y="106408"/>
                </a:cubicBezTo>
                <a:cubicBezTo>
                  <a:pt x="74663" y="106408"/>
                  <a:pt x="64466" y="99713"/>
                  <a:pt x="59322" y="89959"/>
                </a:cubicBezTo>
                <a:cubicBezTo>
                  <a:pt x="54268" y="99758"/>
                  <a:pt x="44026" y="106408"/>
                  <a:pt x="32366" y="106408"/>
                </a:cubicBezTo>
                <a:cubicBezTo>
                  <a:pt x="12148" y="106408"/>
                  <a:pt x="-2394" y="87033"/>
                  <a:pt x="3281" y="67613"/>
                </a:cubicBezTo>
                <a:lnTo>
                  <a:pt x="13611" y="32055"/>
                </a:lnTo>
                <a:close/>
                <a:moveTo>
                  <a:pt x="42741" y="156065"/>
                </a:moveTo>
                <a:lnTo>
                  <a:pt x="184618" y="156065"/>
                </a:lnTo>
                <a:lnTo>
                  <a:pt x="184618" y="126626"/>
                </a:lnTo>
                <a:cubicBezTo>
                  <a:pt x="187988" y="127335"/>
                  <a:pt x="191490" y="127690"/>
                  <a:pt x="195037" y="127690"/>
                </a:cubicBezTo>
                <a:cubicBezTo>
                  <a:pt x="201377" y="127690"/>
                  <a:pt x="207451" y="126537"/>
                  <a:pt x="212993" y="124497"/>
                </a:cubicBezTo>
                <a:lnTo>
                  <a:pt x="212993" y="191535"/>
                </a:lnTo>
                <a:cubicBezTo>
                  <a:pt x="212993" y="203284"/>
                  <a:pt x="203461" y="212816"/>
                  <a:pt x="191712" y="212816"/>
                </a:cubicBezTo>
                <a:lnTo>
                  <a:pt x="35647" y="212816"/>
                </a:lnTo>
                <a:cubicBezTo>
                  <a:pt x="23897" y="212816"/>
                  <a:pt x="14365" y="203284"/>
                  <a:pt x="14365" y="191535"/>
                </a:cubicBezTo>
                <a:lnTo>
                  <a:pt x="14365" y="124497"/>
                </a:lnTo>
                <a:cubicBezTo>
                  <a:pt x="19907" y="126537"/>
                  <a:pt x="25937" y="127690"/>
                  <a:pt x="32321" y="127690"/>
                </a:cubicBezTo>
                <a:cubicBezTo>
                  <a:pt x="35913" y="127690"/>
                  <a:pt x="39371" y="127335"/>
                  <a:pt x="42741" y="126626"/>
                </a:cubicBezTo>
                <a:lnTo>
                  <a:pt x="42741" y="156065"/>
                </a:ln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964766" y="3215888"/>
            <a:ext cx="1447150" cy="264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0" b="1" dirty="0">
                <a:solidFill>
                  <a:srgbClr val="1A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Dominant Players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7510" y="3556394"/>
            <a:ext cx="6535820" cy="245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2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Traditional supermarket chains maintain market control through extensive physical networks: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7510" y="3877983"/>
            <a:ext cx="2099786" cy="491842"/>
          </a:xfrm>
          <a:custGeom>
            <a:avLst/>
            <a:gdLst/>
            <a:ahLst/>
            <a:cxnLst/>
            <a:rect l="l" t="t" r="r" b="b"/>
            <a:pathLst>
              <a:path w="2099786" h="491842">
                <a:moveTo>
                  <a:pt x="37832" y="0"/>
                </a:moveTo>
                <a:lnTo>
                  <a:pt x="2061953" y="0"/>
                </a:lnTo>
                <a:cubicBezTo>
                  <a:pt x="2082848" y="0"/>
                  <a:pt x="2099786" y="16938"/>
                  <a:pt x="2099786" y="37832"/>
                </a:cubicBezTo>
                <a:lnTo>
                  <a:pt x="2099786" y="454009"/>
                </a:lnTo>
                <a:cubicBezTo>
                  <a:pt x="2099786" y="474904"/>
                  <a:pt x="2082848" y="491842"/>
                  <a:pt x="2061953" y="491842"/>
                </a:cubicBezTo>
                <a:lnTo>
                  <a:pt x="37832" y="491842"/>
                </a:lnTo>
                <a:cubicBezTo>
                  <a:pt x="16938" y="491842"/>
                  <a:pt x="0" y="474904"/>
                  <a:pt x="0" y="454009"/>
                </a:cubicBezTo>
                <a:lnTo>
                  <a:pt x="0" y="37832"/>
                </a:lnTo>
                <a:cubicBezTo>
                  <a:pt x="0" y="16952"/>
                  <a:pt x="16952" y="0"/>
                  <a:pt x="37832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10073" y="3953651"/>
            <a:ext cx="2014659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3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NTUC FairPrice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4802" y="4142821"/>
            <a:ext cx="2005201" cy="151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4" dirty="0">
                <a:solidFill>
                  <a:srgbClr val="5A7A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90+ stores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745821" y="3877983"/>
            <a:ext cx="2099786" cy="491842"/>
          </a:xfrm>
          <a:custGeom>
            <a:avLst/>
            <a:gdLst/>
            <a:ahLst/>
            <a:cxnLst/>
            <a:rect l="l" t="t" r="r" b="b"/>
            <a:pathLst>
              <a:path w="2099786" h="491842">
                <a:moveTo>
                  <a:pt x="37832" y="0"/>
                </a:moveTo>
                <a:lnTo>
                  <a:pt x="2061953" y="0"/>
                </a:lnTo>
                <a:cubicBezTo>
                  <a:pt x="2082848" y="0"/>
                  <a:pt x="2099786" y="16938"/>
                  <a:pt x="2099786" y="37832"/>
                </a:cubicBezTo>
                <a:lnTo>
                  <a:pt x="2099786" y="454009"/>
                </a:lnTo>
                <a:cubicBezTo>
                  <a:pt x="2099786" y="474904"/>
                  <a:pt x="2082848" y="491842"/>
                  <a:pt x="2061953" y="491842"/>
                </a:cubicBezTo>
                <a:lnTo>
                  <a:pt x="37832" y="491842"/>
                </a:lnTo>
                <a:cubicBezTo>
                  <a:pt x="16938" y="491842"/>
                  <a:pt x="0" y="474904"/>
                  <a:pt x="0" y="454009"/>
                </a:cubicBezTo>
                <a:lnTo>
                  <a:pt x="0" y="37832"/>
                </a:lnTo>
                <a:cubicBezTo>
                  <a:pt x="0" y="16952"/>
                  <a:pt x="16952" y="0"/>
                  <a:pt x="37832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2788384" y="3953651"/>
            <a:ext cx="2014659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3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Cold Storage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793113" y="4142821"/>
            <a:ext cx="2005201" cy="151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4" dirty="0">
                <a:solidFill>
                  <a:srgbClr val="5A7A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35 supermarkets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924231" y="3877983"/>
            <a:ext cx="2099786" cy="491842"/>
          </a:xfrm>
          <a:custGeom>
            <a:avLst/>
            <a:gdLst/>
            <a:ahLst/>
            <a:cxnLst/>
            <a:rect l="l" t="t" r="r" b="b"/>
            <a:pathLst>
              <a:path w="2099786" h="491842">
                <a:moveTo>
                  <a:pt x="37832" y="0"/>
                </a:moveTo>
                <a:lnTo>
                  <a:pt x="2061953" y="0"/>
                </a:lnTo>
                <a:cubicBezTo>
                  <a:pt x="2082848" y="0"/>
                  <a:pt x="2099786" y="16938"/>
                  <a:pt x="2099786" y="37832"/>
                </a:cubicBezTo>
                <a:lnTo>
                  <a:pt x="2099786" y="454009"/>
                </a:lnTo>
                <a:cubicBezTo>
                  <a:pt x="2099786" y="474904"/>
                  <a:pt x="2082848" y="491842"/>
                  <a:pt x="2061953" y="491842"/>
                </a:cubicBezTo>
                <a:lnTo>
                  <a:pt x="37832" y="491842"/>
                </a:lnTo>
                <a:cubicBezTo>
                  <a:pt x="16938" y="491842"/>
                  <a:pt x="0" y="474904"/>
                  <a:pt x="0" y="454009"/>
                </a:cubicBezTo>
                <a:lnTo>
                  <a:pt x="0" y="37832"/>
                </a:lnTo>
                <a:cubicBezTo>
                  <a:pt x="0" y="16952"/>
                  <a:pt x="16952" y="0"/>
                  <a:pt x="37832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966794" y="3953651"/>
            <a:ext cx="2014659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3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Sheng Siong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71523" y="4142821"/>
            <a:ext cx="2005201" cy="151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4" dirty="0">
                <a:solidFill>
                  <a:srgbClr val="5A7A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 chain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97257" y="4634663"/>
            <a:ext cx="6781741" cy="1135019"/>
          </a:xfrm>
          <a:custGeom>
            <a:avLst/>
            <a:gdLst/>
            <a:ahLst/>
            <a:cxnLst/>
            <a:rect l="l" t="t" r="r" b="b"/>
            <a:pathLst>
              <a:path w="6781741" h="1135019">
                <a:moveTo>
                  <a:pt x="37834" y="0"/>
                </a:moveTo>
                <a:lnTo>
                  <a:pt x="6706069" y="0"/>
                </a:lnTo>
                <a:cubicBezTo>
                  <a:pt x="6747861" y="0"/>
                  <a:pt x="6781741" y="33879"/>
                  <a:pt x="6781741" y="75672"/>
                </a:cubicBezTo>
                <a:lnTo>
                  <a:pt x="6781741" y="1059348"/>
                </a:lnTo>
                <a:cubicBezTo>
                  <a:pt x="6781741" y="1101140"/>
                  <a:pt x="6747861" y="1135019"/>
                  <a:pt x="6706069" y="1135019"/>
                </a:cubicBezTo>
                <a:lnTo>
                  <a:pt x="37834" y="1135019"/>
                </a:lnTo>
                <a:cubicBezTo>
                  <a:pt x="16939" y="1135019"/>
                  <a:pt x="0" y="1118081"/>
                  <a:pt x="0" y="1097185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6751" dist="3783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397257" y="4634663"/>
            <a:ext cx="37834" cy="1135019"/>
          </a:xfrm>
          <a:custGeom>
            <a:avLst/>
            <a:gdLst/>
            <a:ahLst/>
            <a:cxnLst/>
            <a:rect l="l" t="t" r="r" b="b"/>
            <a:pathLst>
              <a:path w="37834" h="1135019">
                <a:moveTo>
                  <a:pt x="37834" y="0"/>
                </a:moveTo>
                <a:lnTo>
                  <a:pt x="37834" y="0"/>
                </a:lnTo>
                <a:lnTo>
                  <a:pt x="37834" y="1135019"/>
                </a:lnTo>
                <a:lnTo>
                  <a:pt x="37834" y="1135019"/>
                </a:lnTo>
                <a:cubicBezTo>
                  <a:pt x="16939" y="1135019"/>
                  <a:pt x="0" y="1118081"/>
                  <a:pt x="0" y="1097185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567510" y="4804915"/>
            <a:ext cx="283755" cy="227004"/>
          </a:xfrm>
          <a:custGeom>
            <a:avLst/>
            <a:gdLst/>
            <a:ahLst/>
            <a:cxnLst/>
            <a:rect l="l" t="t" r="r" b="b"/>
            <a:pathLst>
              <a:path w="283755" h="227004">
                <a:moveTo>
                  <a:pt x="10641" y="-7094"/>
                </a:moveTo>
                <a:cubicBezTo>
                  <a:pt x="4744" y="-7094"/>
                  <a:pt x="0" y="-2350"/>
                  <a:pt x="0" y="3547"/>
                </a:cubicBezTo>
                <a:cubicBezTo>
                  <a:pt x="0" y="9444"/>
                  <a:pt x="4744" y="14188"/>
                  <a:pt x="10641" y="14188"/>
                </a:cubicBezTo>
                <a:lnTo>
                  <a:pt x="30725" y="14188"/>
                </a:lnTo>
                <a:cubicBezTo>
                  <a:pt x="32454" y="14188"/>
                  <a:pt x="33918" y="15429"/>
                  <a:pt x="34228" y="17114"/>
                </a:cubicBezTo>
                <a:lnTo>
                  <a:pt x="57327" y="144050"/>
                </a:lnTo>
                <a:cubicBezTo>
                  <a:pt x="60076" y="159213"/>
                  <a:pt x="73289" y="170253"/>
                  <a:pt x="88718" y="170253"/>
                </a:cubicBezTo>
                <a:lnTo>
                  <a:pt x="202175" y="170253"/>
                </a:lnTo>
                <a:cubicBezTo>
                  <a:pt x="208072" y="170253"/>
                  <a:pt x="212816" y="165509"/>
                  <a:pt x="212816" y="159612"/>
                </a:cubicBezTo>
                <a:cubicBezTo>
                  <a:pt x="212816" y="153715"/>
                  <a:pt x="208072" y="148971"/>
                  <a:pt x="202175" y="148971"/>
                </a:cubicBezTo>
                <a:lnTo>
                  <a:pt x="88718" y="148971"/>
                </a:lnTo>
                <a:cubicBezTo>
                  <a:pt x="83575" y="148971"/>
                  <a:pt x="79185" y="145291"/>
                  <a:pt x="78254" y="140237"/>
                </a:cubicBezTo>
                <a:lnTo>
                  <a:pt x="75993" y="127690"/>
                </a:lnTo>
                <a:lnTo>
                  <a:pt x="210599" y="127690"/>
                </a:lnTo>
                <a:cubicBezTo>
                  <a:pt x="224255" y="127690"/>
                  <a:pt x="235960" y="117980"/>
                  <a:pt x="238487" y="104546"/>
                </a:cubicBezTo>
                <a:lnTo>
                  <a:pt x="252231" y="30991"/>
                </a:lnTo>
                <a:cubicBezTo>
                  <a:pt x="253872" y="22257"/>
                  <a:pt x="247177" y="14188"/>
                  <a:pt x="238265" y="14188"/>
                </a:cubicBezTo>
                <a:lnTo>
                  <a:pt x="55288" y="14188"/>
                </a:lnTo>
                <a:lnTo>
                  <a:pt x="55111" y="13301"/>
                </a:lnTo>
                <a:cubicBezTo>
                  <a:pt x="52982" y="1507"/>
                  <a:pt x="42696" y="-7094"/>
                  <a:pt x="30681" y="-7094"/>
                </a:cubicBezTo>
                <a:lnTo>
                  <a:pt x="10641" y="-7094"/>
                </a:lnTo>
                <a:close/>
                <a:moveTo>
                  <a:pt x="92220" y="227004"/>
                </a:moveTo>
                <a:cubicBezTo>
                  <a:pt x="103966" y="227004"/>
                  <a:pt x="113502" y="217468"/>
                  <a:pt x="113502" y="205722"/>
                </a:cubicBezTo>
                <a:cubicBezTo>
                  <a:pt x="113502" y="193977"/>
                  <a:pt x="103966" y="184441"/>
                  <a:pt x="92220" y="184441"/>
                </a:cubicBezTo>
                <a:cubicBezTo>
                  <a:pt x="80475" y="184441"/>
                  <a:pt x="70939" y="193977"/>
                  <a:pt x="70939" y="205722"/>
                </a:cubicBezTo>
                <a:cubicBezTo>
                  <a:pt x="70939" y="217468"/>
                  <a:pt x="80475" y="227004"/>
                  <a:pt x="92220" y="227004"/>
                </a:cubicBezTo>
                <a:close/>
                <a:moveTo>
                  <a:pt x="191535" y="227004"/>
                </a:moveTo>
                <a:cubicBezTo>
                  <a:pt x="203280" y="227004"/>
                  <a:pt x="212816" y="217468"/>
                  <a:pt x="212816" y="205722"/>
                </a:cubicBezTo>
                <a:cubicBezTo>
                  <a:pt x="212816" y="193977"/>
                  <a:pt x="203280" y="184441"/>
                  <a:pt x="191535" y="184441"/>
                </a:cubicBezTo>
                <a:cubicBezTo>
                  <a:pt x="179789" y="184441"/>
                  <a:pt x="170253" y="193977"/>
                  <a:pt x="170253" y="205722"/>
                </a:cubicBezTo>
                <a:cubicBezTo>
                  <a:pt x="170253" y="217468"/>
                  <a:pt x="179789" y="227004"/>
                  <a:pt x="191535" y="227004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964766" y="4785998"/>
            <a:ext cx="1816031" cy="264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0" b="1" dirty="0">
                <a:solidFill>
                  <a:srgbClr val="1A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Emerging Competitors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67510" y="5126504"/>
            <a:ext cx="6535820" cy="49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2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Pure-play e-commerce firms (Shopee, RedMart/Lazada) are gaining traction with </a:t>
            </a:r>
            <a:r>
              <a:rPr lang="en-US" sz="1192" b="1" dirty="0">
                <a:solidFill>
                  <a:srgbClr val="212529"/>
                </a:solidFill>
                <a:highlight>
                  <a:srgbClr val="C5A56A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Shopee capturing the largest market share </a:t>
            </a:r>
            <a:r>
              <a:rPr lang="en-US" sz="1192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among online grocery platforms.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329644" y="1324189"/>
            <a:ext cx="4483327" cy="2724047"/>
          </a:xfrm>
          <a:custGeom>
            <a:avLst/>
            <a:gdLst/>
            <a:ahLst/>
            <a:cxnLst/>
            <a:rect l="l" t="t" r="r" b="b"/>
            <a:pathLst>
              <a:path w="4483327" h="2724047">
                <a:moveTo>
                  <a:pt x="75674" y="0"/>
                </a:moveTo>
                <a:lnTo>
                  <a:pt x="4407653" y="0"/>
                </a:lnTo>
                <a:cubicBezTo>
                  <a:pt x="4449446" y="0"/>
                  <a:pt x="4483327" y="33880"/>
                  <a:pt x="4483327" y="75674"/>
                </a:cubicBezTo>
                <a:lnTo>
                  <a:pt x="4483327" y="2648373"/>
                </a:lnTo>
                <a:cubicBezTo>
                  <a:pt x="4483327" y="2690166"/>
                  <a:pt x="4449446" y="2724047"/>
                  <a:pt x="4407653" y="2724047"/>
                </a:cubicBezTo>
                <a:lnTo>
                  <a:pt x="75674" y="2724047"/>
                </a:lnTo>
                <a:cubicBezTo>
                  <a:pt x="33908" y="2724047"/>
                  <a:pt x="0" y="2690138"/>
                  <a:pt x="0" y="2648373"/>
                </a:cubicBezTo>
                <a:lnTo>
                  <a:pt x="0" y="75674"/>
                </a:lnTo>
                <a:cubicBezTo>
                  <a:pt x="0" y="33908"/>
                  <a:pt x="33908" y="0"/>
                  <a:pt x="75674" y="0"/>
                </a:cubicBezTo>
                <a:close/>
              </a:path>
            </a:pathLst>
          </a:custGeom>
          <a:solidFill>
            <a:srgbClr val="1A3A5C"/>
          </a:solidFill>
          <a:ln/>
          <a:effectLst>
            <a:outerShdw blurRad="56751" dist="3783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7480980" y="1494442"/>
            <a:ext cx="283755" cy="227004"/>
          </a:xfrm>
          <a:custGeom>
            <a:avLst/>
            <a:gdLst/>
            <a:ahLst/>
            <a:cxnLst/>
            <a:rect l="l" t="t" r="r" b="b"/>
            <a:pathLst>
              <a:path w="283755" h="227004">
                <a:moveTo>
                  <a:pt x="141877" y="7094"/>
                </a:moveTo>
                <a:cubicBezTo>
                  <a:pt x="167326" y="7094"/>
                  <a:pt x="187988" y="27755"/>
                  <a:pt x="187988" y="53204"/>
                </a:cubicBezTo>
                <a:cubicBezTo>
                  <a:pt x="187988" y="78653"/>
                  <a:pt x="167326" y="99314"/>
                  <a:pt x="141877" y="99314"/>
                </a:cubicBezTo>
                <a:cubicBezTo>
                  <a:pt x="116429" y="99314"/>
                  <a:pt x="95767" y="78653"/>
                  <a:pt x="95767" y="53204"/>
                </a:cubicBezTo>
                <a:cubicBezTo>
                  <a:pt x="95767" y="27755"/>
                  <a:pt x="116429" y="7094"/>
                  <a:pt x="141877" y="7094"/>
                </a:cubicBezTo>
                <a:close/>
                <a:moveTo>
                  <a:pt x="42563" y="39016"/>
                </a:moveTo>
                <a:cubicBezTo>
                  <a:pt x="60182" y="39016"/>
                  <a:pt x="74486" y="53320"/>
                  <a:pt x="74486" y="70939"/>
                </a:cubicBezTo>
                <a:cubicBezTo>
                  <a:pt x="74486" y="88557"/>
                  <a:pt x="60182" y="102861"/>
                  <a:pt x="42563" y="102861"/>
                </a:cubicBezTo>
                <a:cubicBezTo>
                  <a:pt x="24945" y="102861"/>
                  <a:pt x="10641" y="88557"/>
                  <a:pt x="10641" y="70939"/>
                </a:cubicBezTo>
                <a:cubicBezTo>
                  <a:pt x="10641" y="53320"/>
                  <a:pt x="24945" y="39016"/>
                  <a:pt x="42563" y="39016"/>
                </a:cubicBezTo>
                <a:close/>
                <a:moveTo>
                  <a:pt x="0" y="184441"/>
                </a:moveTo>
                <a:cubicBezTo>
                  <a:pt x="0" y="153095"/>
                  <a:pt x="25405" y="127690"/>
                  <a:pt x="56751" y="127690"/>
                </a:cubicBezTo>
                <a:cubicBezTo>
                  <a:pt x="62426" y="127690"/>
                  <a:pt x="67924" y="128532"/>
                  <a:pt x="73111" y="130084"/>
                </a:cubicBezTo>
                <a:cubicBezTo>
                  <a:pt x="58524" y="146400"/>
                  <a:pt x="49657" y="167947"/>
                  <a:pt x="49657" y="191535"/>
                </a:cubicBezTo>
                <a:lnTo>
                  <a:pt x="49657" y="198628"/>
                </a:lnTo>
                <a:cubicBezTo>
                  <a:pt x="49657" y="203683"/>
                  <a:pt x="50721" y="208471"/>
                  <a:pt x="52628" y="212816"/>
                </a:cubicBezTo>
                <a:lnTo>
                  <a:pt x="14188" y="212816"/>
                </a:lnTo>
                <a:cubicBezTo>
                  <a:pt x="6340" y="212816"/>
                  <a:pt x="0" y="206476"/>
                  <a:pt x="0" y="198628"/>
                </a:cubicBezTo>
                <a:lnTo>
                  <a:pt x="0" y="184441"/>
                </a:lnTo>
                <a:close/>
                <a:moveTo>
                  <a:pt x="231127" y="212816"/>
                </a:moveTo>
                <a:cubicBezTo>
                  <a:pt x="233034" y="208471"/>
                  <a:pt x="234098" y="203683"/>
                  <a:pt x="234098" y="198628"/>
                </a:cubicBezTo>
                <a:lnTo>
                  <a:pt x="234098" y="191535"/>
                </a:lnTo>
                <a:cubicBezTo>
                  <a:pt x="234098" y="167947"/>
                  <a:pt x="225230" y="146400"/>
                  <a:pt x="210644" y="130084"/>
                </a:cubicBezTo>
                <a:cubicBezTo>
                  <a:pt x="215831" y="128532"/>
                  <a:pt x="221329" y="127690"/>
                  <a:pt x="227004" y="127690"/>
                </a:cubicBezTo>
                <a:cubicBezTo>
                  <a:pt x="258350" y="127690"/>
                  <a:pt x="283755" y="153095"/>
                  <a:pt x="283755" y="184441"/>
                </a:cubicBezTo>
                <a:lnTo>
                  <a:pt x="283755" y="198628"/>
                </a:lnTo>
                <a:cubicBezTo>
                  <a:pt x="283755" y="206476"/>
                  <a:pt x="277415" y="212816"/>
                  <a:pt x="269567" y="212816"/>
                </a:cubicBezTo>
                <a:lnTo>
                  <a:pt x="231127" y="212816"/>
                </a:lnTo>
                <a:close/>
                <a:moveTo>
                  <a:pt x="209269" y="70939"/>
                </a:moveTo>
                <a:cubicBezTo>
                  <a:pt x="209269" y="53320"/>
                  <a:pt x="223573" y="39016"/>
                  <a:pt x="241192" y="39016"/>
                </a:cubicBezTo>
                <a:cubicBezTo>
                  <a:pt x="258810" y="39016"/>
                  <a:pt x="273114" y="53320"/>
                  <a:pt x="273114" y="70939"/>
                </a:cubicBezTo>
                <a:cubicBezTo>
                  <a:pt x="273114" y="88557"/>
                  <a:pt x="258810" y="102861"/>
                  <a:pt x="241192" y="102861"/>
                </a:cubicBezTo>
                <a:cubicBezTo>
                  <a:pt x="223573" y="102861"/>
                  <a:pt x="209269" y="88557"/>
                  <a:pt x="209269" y="70939"/>
                </a:cubicBezTo>
                <a:close/>
                <a:moveTo>
                  <a:pt x="70939" y="191535"/>
                </a:moveTo>
                <a:cubicBezTo>
                  <a:pt x="70939" y="152341"/>
                  <a:pt x="102684" y="120596"/>
                  <a:pt x="141877" y="120596"/>
                </a:cubicBezTo>
                <a:cubicBezTo>
                  <a:pt x="181071" y="120596"/>
                  <a:pt x="212816" y="152341"/>
                  <a:pt x="212816" y="191535"/>
                </a:cubicBezTo>
                <a:lnTo>
                  <a:pt x="212816" y="198628"/>
                </a:lnTo>
                <a:cubicBezTo>
                  <a:pt x="212816" y="206476"/>
                  <a:pt x="206476" y="212816"/>
                  <a:pt x="198628" y="212816"/>
                </a:cubicBezTo>
                <a:lnTo>
                  <a:pt x="85126" y="212816"/>
                </a:lnTo>
                <a:cubicBezTo>
                  <a:pt x="77279" y="212816"/>
                  <a:pt x="70939" y="206476"/>
                  <a:pt x="70939" y="198628"/>
                </a:cubicBezTo>
                <a:lnTo>
                  <a:pt x="70939" y="191535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7878237" y="1475525"/>
            <a:ext cx="1598486" cy="264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0" b="1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Consumer Behavior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521179" y="1891699"/>
            <a:ext cx="127690" cy="170253"/>
          </a:xfrm>
          <a:custGeom>
            <a:avLst/>
            <a:gdLst/>
            <a:ahLst/>
            <a:cxnLst/>
            <a:rect l="l" t="t" r="r" b="b"/>
            <a:pathLst>
              <a:path w="127690" h="170253">
                <a:moveTo>
                  <a:pt x="0" y="62714"/>
                </a:moveTo>
                <a:cubicBezTo>
                  <a:pt x="0" y="28065"/>
                  <a:pt x="28597" y="0"/>
                  <a:pt x="63845" y="0"/>
                </a:cubicBezTo>
                <a:cubicBezTo>
                  <a:pt x="99093" y="0"/>
                  <a:pt x="127690" y="28065"/>
                  <a:pt x="127690" y="62714"/>
                </a:cubicBezTo>
                <a:cubicBezTo>
                  <a:pt x="127690" y="102385"/>
                  <a:pt x="87720" y="149936"/>
                  <a:pt x="71027" y="168058"/>
                </a:cubicBezTo>
                <a:cubicBezTo>
                  <a:pt x="67104" y="172315"/>
                  <a:pt x="60553" y="172315"/>
                  <a:pt x="56629" y="168058"/>
                </a:cubicBezTo>
                <a:cubicBezTo>
                  <a:pt x="39936" y="149936"/>
                  <a:pt x="-33" y="102385"/>
                  <a:pt x="-33" y="62714"/>
                </a:cubicBezTo>
                <a:close/>
                <a:moveTo>
                  <a:pt x="63845" y="85126"/>
                </a:moveTo>
                <a:cubicBezTo>
                  <a:pt x="75590" y="85126"/>
                  <a:pt x="85126" y="75590"/>
                  <a:pt x="85126" y="63845"/>
                </a:cubicBezTo>
                <a:cubicBezTo>
                  <a:pt x="85126" y="52099"/>
                  <a:pt x="75590" y="42563"/>
                  <a:pt x="63845" y="42563"/>
                </a:cubicBezTo>
                <a:cubicBezTo>
                  <a:pt x="52099" y="42563"/>
                  <a:pt x="42563" y="52099"/>
                  <a:pt x="42563" y="63845"/>
                </a:cubicBezTo>
                <a:cubicBezTo>
                  <a:pt x="42563" y="75590"/>
                  <a:pt x="52099" y="85126"/>
                  <a:pt x="63845" y="85126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7805525" y="1853865"/>
            <a:ext cx="3934734" cy="22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Traditional Preference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805525" y="2080869"/>
            <a:ext cx="3925275" cy="378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Locals prefer physical stores and wet markets due to cultural habits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521179" y="2610545"/>
            <a:ext cx="127690" cy="170253"/>
          </a:xfrm>
          <a:custGeom>
            <a:avLst/>
            <a:gdLst/>
            <a:ahLst/>
            <a:cxnLst/>
            <a:rect l="l" t="t" r="r" b="b"/>
            <a:pathLst>
              <a:path w="127690" h="170253">
                <a:moveTo>
                  <a:pt x="5320" y="21282"/>
                </a:moveTo>
                <a:cubicBezTo>
                  <a:pt x="5320" y="9543"/>
                  <a:pt x="14864" y="0"/>
                  <a:pt x="26602" y="0"/>
                </a:cubicBezTo>
                <a:lnTo>
                  <a:pt x="101088" y="0"/>
                </a:lnTo>
                <a:cubicBezTo>
                  <a:pt x="112826" y="0"/>
                  <a:pt x="122369" y="9543"/>
                  <a:pt x="122369" y="21282"/>
                </a:cubicBezTo>
                <a:lnTo>
                  <a:pt x="122369" y="148971"/>
                </a:lnTo>
                <a:cubicBezTo>
                  <a:pt x="122369" y="160709"/>
                  <a:pt x="112826" y="170253"/>
                  <a:pt x="101088" y="170253"/>
                </a:cubicBezTo>
                <a:lnTo>
                  <a:pt x="26602" y="170253"/>
                </a:lnTo>
                <a:cubicBezTo>
                  <a:pt x="14864" y="170253"/>
                  <a:pt x="5320" y="160709"/>
                  <a:pt x="5320" y="148971"/>
                </a:cubicBezTo>
                <a:lnTo>
                  <a:pt x="5320" y="21282"/>
                </a:lnTo>
                <a:close/>
                <a:moveTo>
                  <a:pt x="26602" y="21282"/>
                </a:moveTo>
                <a:lnTo>
                  <a:pt x="26602" y="122369"/>
                </a:lnTo>
                <a:lnTo>
                  <a:pt x="101088" y="122369"/>
                </a:lnTo>
                <a:lnTo>
                  <a:pt x="101088" y="21282"/>
                </a:lnTo>
                <a:lnTo>
                  <a:pt x="26602" y="21282"/>
                </a:lnTo>
                <a:close/>
                <a:moveTo>
                  <a:pt x="63845" y="156952"/>
                </a:moveTo>
                <a:cubicBezTo>
                  <a:pt x="69731" y="156952"/>
                  <a:pt x="74486" y="152197"/>
                  <a:pt x="74486" y="146311"/>
                </a:cubicBezTo>
                <a:cubicBezTo>
                  <a:pt x="74486" y="140425"/>
                  <a:pt x="69731" y="135670"/>
                  <a:pt x="63845" y="135670"/>
                </a:cubicBezTo>
                <a:cubicBezTo>
                  <a:pt x="57959" y="135670"/>
                  <a:pt x="53204" y="140425"/>
                  <a:pt x="53204" y="146311"/>
                </a:cubicBezTo>
                <a:cubicBezTo>
                  <a:pt x="53204" y="152197"/>
                  <a:pt x="57959" y="156952"/>
                  <a:pt x="63845" y="156952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7799120" y="2572711"/>
            <a:ext cx="3934734" cy="22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 Adoption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799120" y="2799715"/>
            <a:ext cx="3925275" cy="378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Generation Y (21-29 years) and females show highest online adoption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495168" y="3329390"/>
            <a:ext cx="170253" cy="170253"/>
          </a:xfrm>
          <a:custGeom>
            <a:avLst/>
            <a:gdLst/>
            <a:ahLst/>
            <a:cxnLst/>
            <a:rect l="l" t="t" r="r" b="b"/>
            <a:pathLst>
              <a:path w="170253" h="170253">
                <a:moveTo>
                  <a:pt x="92376" y="2860"/>
                </a:moveTo>
                <a:cubicBezTo>
                  <a:pt x="88285" y="-931"/>
                  <a:pt x="81967" y="-931"/>
                  <a:pt x="77911" y="2860"/>
                </a:cubicBezTo>
                <a:lnTo>
                  <a:pt x="3425" y="72025"/>
                </a:lnTo>
                <a:cubicBezTo>
                  <a:pt x="233" y="75018"/>
                  <a:pt x="-831" y="79640"/>
                  <a:pt x="765" y="83697"/>
                </a:cubicBezTo>
                <a:cubicBezTo>
                  <a:pt x="2361" y="87753"/>
                  <a:pt x="6251" y="90447"/>
                  <a:pt x="10641" y="90447"/>
                </a:cubicBezTo>
                <a:lnTo>
                  <a:pt x="15961" y="90447"/>
                </a:lnTo>
                <a:lnTo>
                  <a:pt x="15961" y="148971"/>
                </a:lnTo>
                <a:cubicBezTo>
                  <a:pt x="15961" y="160709"/>
                  <a:pt x="25505" y="170253"/>
                  <a:pt x="37243" y="170253"/>
                </a:cubicBezTo>
                <a:lnTo>
                  <a:pt x="133010" y="170253"/>
                </a:lnTo>
                <a:cubicBezTo>
                  <a:pt x="144748" y="170253"/>
                  <a:pt x="154292" y="160709"/>
                  <a:pt x="154292" y="148971"/>
                </a:cubicBezTo>
                <a:lnTo>
                  <a:pt x="154292" y="90447"/>
                </a:lnTo>
                <a:lnTo>
                  <a:pt x="159612" y="90447"/>
                </a:lnTo>
                <a:cubicBezTo>
                  <a:pt x="164001" y="90447"/>
                  <a:pt x="167925" y="87753"/>
                  <a:pt x="169521" y="83697"/>
                </a:cubicBezTo>
                <a:cubicBezTo>
                  <a:pt x="171117" y="79640"/>
                  <a:pt x="170053" y="74984"/>
                  <a:pt x="166861" y="72025"/>
                </a:cubicBezTo>
                <a:lnTo>
                  <a:pt x="92376" y="2860"/>
                </a:lnTo>
                <a:close/>
                <a:moveTo>
                  <a:pt x="79806" y="106408"/>
                </a:moveTo>
                <a:lnTo>
                  <a:pt x="90447" y="106408"/>
                </a:lnTo>
                <a:cubicBezTo>
                  <a:pt x="99259" y="106408"/>
                  <a:pt x="106408" y="113557"/>
                  <a:pt x="106408" y="122369"/>
                </a:cubicBezTo>
                <a:lnTo>
                  <a:pt x="106408" y="154292"/>
                </a:lnTo>
                <a:lnTo>
                  <a:pt x="63845" y="154292"/>
                </a:lnTo>
                <a:lnTo>
                  <a:pt x="63845" y="122369"/>
                </a:lnTo>
                <a:cubicBezTo>
                  <a:pt x="63845" y="113557"/>
                  <a:pt x="70994" y="106408"/>
                  <a:pt x="79806" y="106408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7797741" y="3291556"/>
            <a:ext cx="3934734" cy="22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Household Size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797741" y="3518560"/>
            <a:ext cx="3925275" cy="378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Medium-sized households (2-5 people) more likely to purchase online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329644" y="4161738"/>
            <a:ext cx="4483327" cy="1967367"/>
          </a:xfrm>
          <a:custGeom>
            <a:avLst/>
            <a:gdLst/>
            <a:ahLst/>
            <a:cxnLst/>
            <a:rect l="l" t="t" r="r" b="b"/>
            <a:pathLst>
              <a:path w="4483327" h="1967367">
                <a:moveTo>
                  <a:pt x="75665" y="0"/>
                </a:moveTo>
                <a:lnTo>
                  <a:pt x="4407662" y="0"/>
                </a:lnTo>
                <a:cubicBezTo>
                  <a:pt x="4449450" y="0"/>
                  <a:pt x="4483327" y="33876"/>
                  <a:pt x="4483327" y="75665"/>
                </a:cubicBezTo>
                <a:lnTo>
                  <a:pt x="4483327" y="1891702"/>
                </a:lnTo>
                <a:cubicBezTo>
                  <a:pt x="4483327" y="1933491"/>
                  <a:pt x="4449450" y="1967367"/>
                  <a:pt x="4407662" y="1967367"/>
                </a:cubicBezTo>
                <a:lnTo>
                  <a:pt x="75665" y="1967367"/>
                </a:lnTo>
                <a:cubicBezTo>
                  <a:pt x="33876" y="1967367"/>
                  <a:pt x="0" y="1933491"/>
                  <a:pt x="0" y="1891702"/>
                </a:cubicBezTo>
                <a:lnTo>
                  <a:pt x="0" y="75665"/>
                </a:lnTo>
                <a:cubicBezTo>
                  <a:pt x="0" y="33904"/>
                  <a:pt x="33904" y="0"/>
                  <a:pt x="7566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6751" dist="3783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7480980" y="4313074"/>
            <a:ext cx="4265781" cy="264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1" b="1" dirty="0">
                <a:solidFill>
                  <a:srgbClr val="1A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Key Market Statistics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480980" y="4691413"/>
            <a:ext cx="4180655" cy="378340"/>
          </a:xfrm>
          <a:custGeom>
            <a:avLst/>
            <a:gdLst/>
            <a:ahLst/>
            <a:cxnLst/>
            <a:rect l="l" t="t" r="r" b="b"/>
            <a:pathLst>
              <a:path w="4180655" h="378340">
                <a:moveTo>
                  <a:pt x="37834" y="0"/>
                </a:moveTo>
                <a:lnTo>
                  <a:pt x="4142821" y="0"/>
                </a:lnTo>
                <a:cubicBezTo>
                  <a:pt x="4163716" y="0"/>
                  <a:pt x="4180655" y="16939"/>
                  <a:pt x="4180655" y="37834"/>
                </a:cubicBezTo>
                <a:lnTo>
                  <a:pt x="4180655" y="340506"/>
                </a:lnTo>
                <a:cubicBezTo>
                  <a:pt x="4180655" y="361401"/>
                  <a:pt x="4163716" y="378340"/>
                  <a:pt x="4142821" y="378340"/>
                </a:cubicBezTo>
                <a:lnTo>
                  <a:pt x="37834" y="378340"/>
                </a:lnTo>
                <a:cubicBezTo>
                  <a:pt x="16953" y="378340"/>
                  <a:pt x="0" y="361387"/>
                  <a:pt x="0" y="340506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7556648" y="4785998"/>
            <a:ext cx="1494442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Online Grocery Adoption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219155" y="4767081"/>
            <a:ext cx="444549" cy="22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2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11.9%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480980" y="5145421"/>
            <a:ext cx="4180655" cy="378340"/>
          </a:xfrm>
          <a:custGeom>
            <a:avLst/>
            <a:gdLst/>
            <a:ahLst/>
            <a:cxnLst/>
            <a:rect l="l" t="t" r="r" b="b"/>
            <a:pathLst>
              <a:path w="4180655" h="378340">
                <a:moveTo>
                  <a:pt x="37834" y="0"/>
                </a:moveTo>
                <a:lnTo>
                  <a:pt x="4142821" y="0"/>
                </a:lnTo>
                <a:cubicBezTo>
                  <a:pt x="4163716" y="0"/>
                  <a:pt x="4180655" y="16939"/>
                  <a:pt x="4180655" y="37834"/>
                </a:cubicBezTo>
                <a:lnTo>
                  <a:pt x="4180655" y="340506"/>
                </a:lnTo>
                <a:cubicBezTo>
                  <a:pt x="4180655" y="361401"/>
                  <a:pt x="4163716" y="378340"/>
                  <a:pt x="4142821" y="378340"/>
                </a:cubicBezTo>
                <a:lnTo>
                  <a:pt x="37834" y="378340"/>
                </a:lnTo>
                <a:cubicBezTo>
                  <a:pt x="16953" y="378340"/>
                  <a:pt x="0" y="361387"/>
                  <a:pt x="0" y="340506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7556648" y="5240006"/>
            <a:ext cx="1579569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Online Consumption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376205" y="5221089"/>
            <a:ext cx="283755" cy="22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2" b="1" dirty="0">
                <a:solidFill>
                  <a:srgbClr val="5A7A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3%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480980" y="5599429"/>
            <a:ext cx="4180655" cy="378340"/>
          </a:xfrm>
          <a:custGeom>
            <a:avLst/>
            <a:gdLst/>
            <a:ahLst/>
            <a:cxnLst/>
            <a:rect l="l" t="t" r="r" b="b"/>
            <a:pathLst>
              <a:path w="4180655" h="378340">
                <a:moveTo>
                  <a:pt x="37834" y="0"/>
                </a:moveTo>
                <a:lnTo>
                  <a:pt x="4142821" y="0"/>
                </a:lnTo>
                <a:cubicBezTo>
                  <a:pt x="4163716" y="0"/>
                  <a:pt x="4180655" y="16939"/>
                  <a:pt x="4180655" y="37834"/>
                </a:cubicBezTo>
                <a:lnTo>
                  <a:pt x="4180655" y="340506"/>
                </a:lnTo>
                <a:cubicBezTo>
                  <a:pt x="4180655" y="361401"/>
                  <a:pt x="4163716" y="378340"/>
                  <a:pt x="4142821" y="378340"/>
                </a:cubicBezTo>
                <a:lnTo>
                  <a:pt x="37834" y="378340"/>
                </a:lnTo>
                <a:cubicBezTo>
                  <a:pt x="16953" y="378340"/>
                  <a:pt x="0" y="361387"/>
                  <a:pt x="0" y="340506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7556648" y="5694014"/>
            <a:ext cx="1182312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Smartphone Usage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185261" y="5675097"/>
            <a:ext cx="472925" cy="22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2" b="1" dirty="0">
                <a:solidFill>
                  <a:srgbClr val="C5A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67.7%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C5A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3A5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Theoretical Framework: Technology Acceptance Model (TAM)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00050" y="1333500"/>
            <a:ext cx="5619750" cy="2343150"/>
          </a:xfrm>
          <a:custGeom>
            <a:avLst/>
            <a:gdLst/>
            <a:ahLst/>
            <a:cxnLst/>
            <a:rect l="l" t="t" r="r" b="b"/>
            <a:pathLst>
              <a:path w="5619750" h="2343150">
                <a:moveTo>
                  <a:pt x="38100" y="0"/>
                </a:moveTo>
                <a:lnTo>
                  <a:pt x="5543551" y="0"/>
                </a:lnTo>
                <a:cubicBezTo>
                  <a:pt x="5585634" y="0"/>
                  <a:pt x="5619750" y="34116"/>
                  <a:pt x="5619750" y="76199"/>
                </a:cubicBezTo>
                <a:lnTo>
                  <a:pt x="5619750" y="2266951"/>
                </a:lnTo>
                <a:cubicBezTo>
                  <a:pt x="5619750" y="2309034"/>
                  <a:pt x="5585634" y="2343150"/>
                  <a:pt x="5543551" y="2343150"/>
                </a:cubicBezTo>
                <a:lnTo>
                  <a:pt x="38100" y="2343150"/>
                </a:lnTo>
                <a:cubicBezTo>
                  <a:pt x="17058" y="2343150"/>
                  <a:pt x="0" y="2326092"/>
                  <a:pt x="0" y="2305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00050" y="1333500"/>
            <a:ext cx="38100" cy="2343150"/>
          </a:xfrm>
          <a:custGeom>
            <a:avLst/>
            <a:gdLst/>
            <a:ahLst/>
            <a:cxnLst/>
            <a:rect l="l" t="t" r="r" b="b"/>
            <a:pathLst>
              <a:path w="38100" h="2343150">
                <a:moveTo>
                  <a:pt x="38100" y="0"/>
                </a:moveTo>
                <a:lnTo>
                  <a:pt x="38100" y="0"/>
                </a:lnTo>
                <a:lnTo>
                  <a:pt x="38100" y="2343150"/>
                </a:lnTo>
                <a:lnTo>
                  <a:pt x="38100" y="2343150"/>
                </a:lnTo>
                <a:cubicBezTo>
                  <a:pt x="17072" y="2343150"/>
                  <a:pt x="0" y="2326078"/>
                  <a:pt x="0" y="2305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71500" y="1485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716756" y="16192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2875" y="190500"/>
                </a:moveTo>
                <a:lnTo>
                  <a:pt x="35719" y="190500"/>
                </a:lnTo>
                <a:cubicBezTo>
                  <a:pt x="15999" y="190500"/>
                  <a:pt x="0" y="174501"/>
                  <a:pt x="0" y="154781"/>
                </a:cubicBezTo>
                <a:lnTo>
                  <a:pt x="0" y="35719"/>
                </a:lnTo>
                <a:cubicBezTo>
                  <a:pt x="0" y="15999"/>
                  <a:pt x="15999" y="0"/>
                  <a:pt x="35719" y="0"/>
                </a:cubicBezTo>
                <a:lnTo>
                  <a:pt x="148828" y="0"/>
                </a:lnTo>
                <a:cubicBezTo>
                  <a:pt x="158688" y="0"/>
                  <a:pt x="166688" y="8000"/>
                  <a:pt x="166688" y="17859"/>
                </a:cubicBezTo>
                <a:lnTo>
                  <a:pt x="166688" y="125016"/>
                </a:lnTo>
                <a:cubicBezTo>
                  <a:pt x="166688" y="132792"/>
                  <a:pt x="161702" y="139415"/>
                  <a:pt x="154781" y="141870"/>
                </a:cubicBezTo>
                <a:lnTo>
                  <a:pt x="154781" y="166688"/>
                </a:lnTo>
                <a:cubicBezTo>
                  <a:pt x="161367" y="166688"/>
                  <a:pt x="166688" y="172008"/>
                  <a:pt x="166688" y="178594"/>
                </a:cubicBezTo>
                <a:cubicBezTo>
                  <a:pt x="166688" y="185179"/>
                  <a:pt x="161367" y="190500"/>
                  <a:pt x="154781" y="190500"/>
                </a:cubicBezTo>
                <a:lnTo>
                  <a:pt x="142875" y="190500"/>
                </a:lnTo>
                <a:close/>
                <a:moveTo>
                  <a:pt x="35719" y="142875"/>
                </a:moveTo>
                <a:cubicBezTo>
                  <a:pt x="29133" y="142875"/>
                  <a:pt x="23812" y="148196"/>
                  <a:pt x="23812" y="154781"/>
                </a:cubicBezTo>
                <a:cubicBezTo>
                  <a:pt x="23812" y="161367"/>
                  <a:pt x="29133" y="166688"/>
                  <a:pt x="35719" y="166688"/>
                </a:cubicBezTo>
                <a:lnTo>
                  <a:pt x="130969" y="166688"/>
                </a:lnTo>
                <a:lnTo>
                  <a:pt x="130969" y="142875"/>
                </a:lnTo>
                <a:lnTo>
                  <a:pt x="35719" y="142875"/>
                </a:lnTo>
                <a:close/>
                <a:moveTo>
                  <a:pt x="47625" y="56555"/>
                </a:moveTo>
                <a:cubicBezTo>
                  <a:pt x="47625" y="61503"/>
                  <a:pt x="51606" y="65484"/>
                  <a:pt x="56555" y="65484"/>
                </a:cubicBezTo>
                <a:lnTo>
                  <a:pt x="122039" y="65484"/>
                </a:lnTo>
                <a:cubicBezTo>
                  <a:pt x="126988" y="65484"/>
                  <a:pt x="130969" y="61503"/>
                  <a:pt x="130969" y="56555"/>
                </a:cubicBezTo>
                <a:cubicBezTo>
                  <a:pt x="130969" y="51606"/>
                  <a:pt x="126988" y="47625"/>
                  <a:pt x="122039" y="47625"/>
                </a:cubicBezTo>
                <a:lnTo>
                  <a:pt x="56555" y="47625"/>
                </a:lnTo>
                <a:cubicBezTo>
                  <a:pt x="51606" y="47625"/>
                  <a:pt x="47625" y="51606"/>
                  <a:pt x="47625" y="56555"/>
                </a:cubicBezTo>
                <a:close/>
                <a:moveTo>
                  <a:pt x="56555" y="83344"/>
                </a:moveTo>
                <a:cubicBezTo>
                  <a:pt x="51606" y="83344"/>
                  <a:pt x="47625" y="87325"/>
                  <a:pt x="47625" y="92273"/>
                </a:cubicBezTo>
                <a:cubicBezTo>
                  <a:pt x="47625" y="97222"/>
                  <a:pt x="51606" y="101203"/>
                  <a:pt x="56555" y="101203"/>
                </a:cubicBezTo>
                <a:lnTo>
                  <a:pt x="122039" y="101203"/>
                </a:lnTo>
                <a:cubicBezTo>
                  <a:pt x="126988" y="101203"/>
                  <a:pt x="130969" y="97222"/>
                  <a:pt x="130969" y="92273"/>
                </a:cubicBezTo>
                <a:cubicBezTo>
                  <a:pt x="130969" y="87325"/>
                  <a:pt x="126988" y="83344"/>
                  <a:pt x="122039" y="83344"/>
                </a:cubicBezTo>
                <a:lnTo>
                  <a:pt x="56555" y="8334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143000" y="1485900"/>
            <a:ext cx="2095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TAM Foundation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1752600"/>
            <a:ext cx="2066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A7A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Davis, Bagozzi, &amp; Warshaw (1989)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2057400"/>
            <a:ext cx="5372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Technology Acceptance Model was developed to </a:t>
            </a:r>
            <a:r>
              <a:rPr lang="en-US" sz="1200" b="1" dirty="0">
                <a:solidFill>
                  <a:srgbClr val="212529"/>
                </a:solidFill>
                <a:highlight>
                  <a:srgbClr val="C5A56A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measure technology acceptance in retail contexts </a:t>
            </a: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providing a robust framework for understanding user adoption of new technologies.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1500" y="2914650"/>
            <a:ext cx="5295900" cy="609600"/>
          </a:xfrm>
          <a:custGeom>
            <a:avLst/>
            <a:gdLst/>
            <a:ahLst/>
            <a:cxnLst/>
            <a:rect l="l" t="t" r="r" b="b"/>
            <a:pathLst>
              <a:path w="5295900" h="609600">
                <a:moveTo>
                  <a:pt x="38100" y="0"/>
                </a:moveTo>
                <a:lnTo>
                  <a:pt x="5257800" y="0"/>
                </a:lnTo>
                <a:cubicBezTo>
                  <a:pt x="5278828" y="0"/>
                  <a:pt x="5295900" y="17072"/>
                  <a:pt x="5295900" y="38100"/>
                </a:cubicBezTo>
                <a:lnTo>
                  <a:pt x="5295900" y="571500"/>
                </a:lnTo>
                <a:cubicBezTo>
                  <a:pt x="5295900" y="592528"/>
                  <a:pt x="5278828" y="609600"/>
                  <a:pt x="525780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713184" y="3060702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0" y="56257"/>
                </a:moveTo>
                <a:cubicBezTo>
                  <a:pt x="0" y="38989"/>
                  <a:pt x="13986" y="25003"/>
                  <a:pt x="31254" y="25003"/>
                </a:cubicBezTo>
                <a:lnTo>
                  <a:pt x="33337" y="25003"/>
                </a:lnTo>
                <a:cubicBezTo>
                  <a:pt x="37947" y="25003"/>
                  <a:pt x="41672" y="28728"/>
                  <a:pt x="41672" y="33337"/>
                </a:cubicBezTo>
                <a:cubicBezTo>
                  <a:pt x="41672" y="37947"/>
                  <a:pt x="37947" y="41672"/>
                  <a:pt x="33337" y="41672"/>
                </a:cubicBezTo>
                <a:lnTo>
                  <a:pt x="31254" y="41672"/>
                </a:lnTo>
                <a:cubicBezTo>
                  <a:pt x="23206" y="41672"/>
                  <a:pt x="16669" y="48209"/>
                  <a:pt x="16669" y="56257"/>
                </a:cubicBezTo>
                <a:lnTo>
                  <a:pt x="16669" y="58341"/>
                </a:lnTo>
                <a:lnTo>
                  <a:pt x="33337" y="58341"/>
                </a:lnTo>
                <a:cubicBezTo>
                  <a:pt x="42531" y="58341"/>
                  <a:pt x="50006" y="65816"/>
                  <a:pt x="50006" y="75009"/>
                </a:cubicBezTo>
                <a:lnTo>
                  <a:pt x="50006" y="91678"/>
                </a:lnTo>
                <a:cubicBezTo>
                  <a:pt x="50006" y="100872"/>
                  <a:pt x="42531" y="108347"/>
                  <a:pt x="33337" y="108347"/>
                </a:cubicBezTo>
                <a:lnTo>
                  <a:pt x="16669" y="108347"/>
                </a:lnTo>
                <a:cubicBezTo>
                  <a:pt x="7475" y="108347"/>
                  <a:pt x="0" y="100872"/>
                  <a:pt x="0" y="91678"/>
                </a:cubicBezTo>
                <a:lnTo>
                  <a:pt x="0" y="56257"/>
                </a:lnTo>
                <a:close/>
                <a:moveTo>
                  <a:pt x="66675" y="56257"/>
                </a:moveTo>
                <a:cubicBezTo>
                  <a:pt x="66675" y="38989"/>
                  <a:pt x="80661" y="25003"/>
                  <a:pt x="97929" y="25003"/>
                </a:cubicBezTo>
                <a:lnTo>
                  <a:pt x="100013" y="25003"/>
                </a:lnTo>
                <a:cubicBezTo>
                  <a:pt x="104622" y="25003"/>
                  <a:pt x="108347" y="28728"/>
                  <a:pt x="108347" y="33337"/>
                </a:cubicBezTo>
                <a:cubicBezTo>
                  <a:pt x="108347" y="37947"/>
                  <a:pt x="104622" y="41672"/>
                  <a:pt x="100013" y="41672"/>
                </a:cubicBezTo>
                <a:lnTo>
                  <a:pt x="97929" y="41672"/>
                </a:lnTo>
                <a:cubicBezTo>
                  <a:pt x="89881" y="41672"/>
                  <a:pt x="83344" y="48209"/>
                  <a:pt x="83344" y="56257"/>
                </a:cubicBezTo>
                <a:lnTo>
                  <a:pt x="83344" y="58341"/>
                </a:lnTo>
                <a:lnTo>
                  <a:pt x="100013" y="58341"/>
                </a:lnTo>
                <a:cubicBezTo>
                  <a:pt x="109206" y="58341"/>
                  <a:pt x="116681" y="65816"/>
                  <a:pt x="116681" y="75009"/>
                </a:cubicBezTo>
                <a:lnTo>
                  <a:pt x="116681" y="91678"/>
                </a:lnTo>
                <a:cubicBezTo>
                  <a:pt x="116681" y="100872"/>
                  <a:pt x="109206" y="108347"/>
                  <a:pt x="100013" y="108347"/>
                </a:cubicBezTo>
                <a:lnTo>
                  <a:pt x="83344" y="108347"/>
                </a:lnTo>
                <a:cubicBezTo>
                  <a:pt x="74150" y="108347"/>
                  <a:pt x="66675" y="100872"/>
                  <a:pt x="66675" y="91678"/>
                </a:cubicBezTo>
                <a:lnTo>
                  <a:pt x="66675" y="56257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914400" y="3028950"/>
            <a:ext cx="4905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A7A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TAM has become one of the most influential models in technology adoption research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1000" y="3790950"/>
            <a:ext cx="5638800" cy="2781300"/>
          </a:xfrm>
          <a:custGeom>
            <a:avLst/>
            <a:gdLst/>
            <a:ahLst/>
            <a:cxnLst/>
            <a:rect l="l" t="t" r="r" b="b"/>
            <a:pathLst>
              <a:path w="5638800" h="2781300">
                <a:moveTo>
                  <a:pt x="76208" y="0"/>
                </a:moveTo>
                <a:lnTo>
                  <a:pt x="5562592" y="0"/>
                </a:lnTo>
                <a:cubicBezTo>
                  <a:pt x="5604681" y="0"/>
                  <a:pt x="5638800" y="34119"/>
                  <a:pt x="5638800" y="76208"/>
                </a:cubicBezTo>
                <a:lnTo>
                  <a:pt x="5638800" y="2705092"/>
                </a:lnTo>
                <a:cubicBezTo>
                  <a:pt x="5638800" y="2747181"/>
                  <a:pt x="5604681" y="2781300"/>
                  <a:pt x="5562592" y="2781300"/>
                </a:cubicBezTo>
                <a:lnTo>
                  <a:pt x="76208" y="2781300"/>
                </a:lnTo>
                <a:cubicBezTo>
                  <a:pt x="34119" y="2781300"/>
                  <a:pt x="0" y="2747181"/>
                  <a:pt x="0" y="2705092"/>
                </a:cubicBezTo>
                <a:lnTo>
                  <a:pt x="0" y="76208"/>
                </a:lnTo>
                <a:cubicBezTo>
                  <a:pt x="0" y="34119"/>
                  <a:pt x="34119" y="0"/>
                  <a:pt x="7620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33400" y="3943350"/>
            <a:ext cx="542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Core Constructs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2450" y="4324350"/>
            <a:ext cx="5314950" cy="838200"/>
          </a:xfrm>
          <a:custGeom>
            <a:avLst/>
            <a:gdLst/>
            <a:ahLst/>
            <a:cxnLst/>
            <a:rect l="l" t="t" r="r" b="b"/>
            <a:pathLst>
              <a:path w="5314950" h="838200">
                <a:moveTo>
                  <a:pt x="38100" y="0"/>
                </a:moveTo>
                <a:lnTo>
                  <a:pt x="5238749" y="0"/>
                </a:lnTo>
                <a:cubicBezTo>
                  <a:pt x="5280834" y="0"/>
                  <a:pt x="5314950" y="34116"/>
                  <a:pt x="5314950" y="76201"/>
                </a:cubicBezTo>
                <a:lnTo>
                  <a:pt x="5314950" y="761999"/>
                </a:lnTo>
                <a:cubicBezTo>
                  <a:pt x="5314950" y="804084"/>
                  <a:pt x="5280834" y="838200"/>
                  <a:pt x="523874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552450" y="432435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85800" y="44386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47700" y="443865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1100" y="4438650"/>
            <a:ext cx="464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Perceived Usefulness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1100" y="4667250"/>
            <a:ext cx="4638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degree to which a person believes that using a particular system would enhance their job performance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52450" y="5276850"/>
            <a:ext cx="5314950" cy="838200"/>
          </a:xfrm>
          <a:custGeom>
            <a:avLst/>
            <a:gdLst/>
            <a:ahLst/>
            <a:cxnLst/>
            <a:rect l="l" t="t" r="r" b="b"/>
            <a:pathLst>
              <a:path w="5314950" h="838200">
                <a:moveTo>
                  <a:pt x="38100" y="0"/>
                </a:moveTo>
                <a:lnTo>
                  <a:pt x="5238749" y="0"/>
                </a:lnTo>
                <a:cubicBezTo>
                  <a:pt x="5280834" y="0"/>
                  <a:pt x="5314950" y="34116"/>
                  <a:pt x="5314950" y="76201"/>
                </a:cubicBezTo>
                <a:lnTo>
                  <a:pt x="5314950" y="761999"/>
                </a:lnTo>
                <a:cubicBezTo>
                  <a:pt x="5314950" y="804084"/>
                  <a:pt x="5280834" y="838200"/>
                  <a:pt x="523874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552450" y="527685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685800" y="53911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47700" y="539115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PEOU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1100" y="5391150"/>
            <a:ext cx="464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Perceived Ease of Use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81100" y="5619750"/>
            <a:ext cx="4638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degree to which a person believes that using a particular system would be free of effort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52450" y="626110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762000" y="6229350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A7A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These constructs are fundamental predictors of technology adoption behavior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72200" y="1333500"/>
            <a:ext cx="5638800" cy="2019300"/>
          </a:xfrm>
          <a:custGeom>
            <a:avLst/>
            <a:gdLst/>
            <a:ahLst/>
            <a:cxnLst/>
            <a:rect l="l" t="t" r="r" b="b"/>
            <a:pathLst>
              <a:path w="5638800" h="2019300">
                <a:moveTo>
                  <a:pt x="76208" y="0"/>
                </a:moveTo>
                <a:lnTo>
                  <a:pt x="5562592" y="0"/>
                </a:lnTo>
                <a:cubicBezTo>
                  <a:pt x="5604680" y="0"/>
                  <a:pt x="5638800" y="34120"/>
                  <a:pt x="5638800" y="76208"/>
                </a:cubicBezTo>
                <a:lnTo>
                  <a:pt x="5638800" y="1943092"/>
                </a:lnTo>
                <a:cubicBezTo>
                  <a:pt x="5638800" y="1985180"/>
                  <a:pt x="5604680" y="2019300"/>
                  <a:pt x="5562592" y="2019300"/>
                </a:cubicBezTo>
                <a:lnTo>
                  <a:pt x="76208" y="2019300"/>
                </a:lnTo>
                <a:cubicBezTo>
                  <a:pt x="34120" y="2019300"/>
                  <a:pt x="0" y="1985180"/>
                  <a:pt x="0" y="19430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1A3A5C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6353175" y="15049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0013" y="0"/>
                </a:moveTo>
                <a:cubicBezTo>
                  <a:pt x="115773" y="0"/>
                  <a:pt x="128588" y="9599"/>
                  <a:pt x="128588" y="21431"/>
                </a:cubicBezTo>
                <a:cubicBezTo>
                  <a:pt x="128588" y="26075"/>
                  <a:pt x="126623" y="30361"/>
                  <a:pt x="123230" y="33888"/>
                </a:cubicBezTo>
                <a:cubicBezTo>
                  <a:pt x="120283" y="36969"/>
                  <a:pt x="117872" y="40719"/>
                  <a:pt x="117872" y="45006"/>
                </a:cubicBezTo>
                <a:cubicBezTo>
                  <a:pt x="117872" y="51703"/>
                  <a:pt x="123319" y="57150"/>
                  <a:pt x="130016" y="57150"/>
                </a:cubicBezTo>
                <a:lnTo>
                  <a:pt x="150019" y="57150"/>
                </a:lnTo>
                <a:cubicBezTo>
                  <a:pt x="161851" y="57150"/>
                  <a:pt x="171450" y="66749"/>
                  <a:pt x="171450" y="78581"/>
                </a:cubicBezTo>
                <a:lnTo>
                  <a:pt x="171450" y="98584"/>
                </a:lnTo>
                <a:cubicBezTo>
                  <a:pt x="171450" y="105281"/>
                  <a:pt x="176897" y="110728"/>
                  <a:pt x="183594" y="110728"/>
                </a:cubicBezTo>
                <a:cubicBezTo>
                  <a:pt x="187836" y="110728"/>
                  <a:pt x="191631" y="108317"/>
                  <a:pt x="194712" y="105370"/>
                </a:cubicBezTo>
                <a:cubicBezTo>
                  <a:pt x="198239" y="102022"/>
                  <a:pt x="202525" y="100013"/>
                  <a:pt x="207169" y="100013"/>
                </a:cubicBezTo>
                <a:cubicBezTo>
                  <a:pt x="219001" y="100013"/>
                  <a:pt x="228600" y="112827"/>
                  <a:pt x="228600" y="128588"/>
                </a:cubicBezTo>
                <a:cubicBezTo>
                  <a:pt x="228600" y="144348"/>
                  <a:pt x="219001" y="157163"/>
                  <a:pt x="207169" y="157163"/>
                </a:cubicBezTo>
                <a:cubicBezTo>
                  <a:pt x="202525" y="157163"/>
                  <a:pt x="198194" y="155198"/>
                  <a:pt x="194712" y="151805"/>
                </a:cubicBezTo>
                <a:cubicBezTo>
                  <a:pt x="191631" y="148858"/>
                  <a:pt x="187881" y="146447"/>
                  <a:pt x="183594" y="146447"/>
                </a:cubicBezTo>
                <a:cubicBezTo>
                  <a:pt x="176897" y="146447"/>
                  <a:pt x="171450" y="151894"/>
                  <a:pt x="171450" y="158591"/>
                </a:cubicBezTo>
                <a:lnTo>
                  <a:pt x="171450" y="207169"/>
                </a:lnTo>
                <a:cubicBezTo>
                  <a:pt x="171450" y="219001"/>
                  <a:pt x="161851" y="228600"/>
                  <a:pt x="150019" y="228600"/>
                </a:cubicBezTo>
                <a:lnTo>
                  <a:pt x="124658" y="228600"/>
                </a:lnTo>
                <a:cubicBezTo>
                  <a:pt x="118943" y="228600"/>
                  <a:pt x="114300" y="223957"/>
                  <a:pt x="114300" y="218242"/>
                </a:cubicBezTo>
                <a:cubicBezTo>
                  <a:pt x="114300" y="214134"/>
                  <a:pt x="116890" y="210517"/>
                  <a:pt x="120194" y="208062"/>
                </a:cubicBezTo>
                <a:cubicBezTo>
                  <a:pt x="125373" y="204177"/>
                  <a:pt x="128588" y="198819"/>
                  <a:pt x="128588" y="192881"/>
                </a:cubicBezTo>
                <a:cubicBezTo>
                  <a:pt x="128588" y="181049"/>
                  <a:pt x="115773" y="171450"/>
                  <a:pt x="100013" y="171450"/>
                </a:cubicBezTo>
                <a:cubicBezTo>
                  <a:pt x="84252" y="171450"/>
                  <a:pt x="71438" y="181049"/>
                  <a:pt x="71438" y="192881"/>
                </a:cubicBezTo>
                <a:cubicBezTo>
                  <a:pt x="71438" y="198819"/>
                  <a:pt x="74652" y="204177"/>
                  <a:pt x="79831" y="208062"/>
                </a:cubicBezTo>
                <a:cubicBezTo>
                  <a:pt x="83135" y="210517"/>
                  <a:pt x="85725" y="214089"/>
                  <a:pt x="85725" y="218242"/>
                </a:cubicBezTo>
                <a:cubicBezTo>
                  <a:pt x="85725" y="223957"/>
                  <a:pt x="81082" y="228600"/>
                  <a:pt x="75367" y="228600"/>
                </a:cubicBezTo>
                <a:lnTo>
                  <a:pt x="21431" y="228600"/>
                </a:lnTo>
                <a:cubicBezTo>
                  <a:pt x="9599" y="228600"/>
                  <a:pt x="0" y="219001"/>
                  <a:pt x="0" y="207169"/>
                </a:cubicBezTo>
                <a:lnTo>
                  <a:pt x="0" y="153233"/>
                </a:lnTo>
                <a:cubicBezTo>
                  <a:pt x="0" y="147518"/>
                  <a:pt x="4643" y="142875"/>
                  <a:pt x="10358" y="142875"/>
                </a:cubicBezTo>
                <a:cubicBezTo>
                  <a:pt x="14466" y="142875"/>
                  <a:pt x="18083" y="145465"/>
                  <a:pt x="20538" y="148769"/>
                </a:cubicBezTo>
                <a:cubicBezTo>
                  <a:pt x="24423" y="153948"/>
                  <a:pt x="29781" y="157163"/>
                  <a:pt x="35719" y="157163"/>
                </a:cubicBezTo>
                <a:cubicBezTo>
                  <a:pt x="47551" y="157163"/>
                  <a:pt x="57150" y="144348"/>
                  <a:pt x="57150" y="128588"/>
                </a:cubicBezTo>
                <a:cubicBezTo>
                  <a:pt x="57150" y="112827"/>
                  <a:pt x="47551" y="100013"/>
                  <a:pt x="35719" y="100013"/>
                </a:cubicBezTo>
                <a:cubicBezTo>
                  <a:pt x="29781" y="100013"/>
                  <a:pt x="24423" y="103227"/>
                  <a:pt x="20538" y="108406"/>
                </a:cubicBezTo>
                <a:cubicBezTo>
                  <a:pt x="18083" y="111710"/>
                  <a:pt x="14511" y="114300"/>
                  <a:pt x="10358" y="114300"/>
                </a:cubicBezTo>
                <a:cubicBezTo>
                  <a:pt x="4643" y="114300"/>
                  <a:pt x="0" y="109657"/>
                  <a:pt x="0" y="103942"/>
                </a:cubicBezTo>
                <a:lnTo>
                  <a:pt x="0" y="78581"/>
                </a:lnTo>
                <a:cubicBezTo>
                  <a:pt x="0" y="66749"/>
                  <a:pt x="9599" y="57150"/>
                  <a:pt x="21431" y="57150"/>
                </a:cubicBezTo>
                <a:lnTo>
                  <a:pt x="70009" y="57150"/>
                </a:lnTo>
                <a:cubicBezTo>
                  <a:pt x="76706" y="57150"/>
                  <a:pt x="82153" y="51703"/>
                  <a:pt x="82153" y="45006"/>
                </a:cubicBezTo>
                <a:cubicBezTo>
                  <a:pt x="82153" y="40764"/>
                  <a:pt x="79742" y="36969"/>
                  <a:pt x="76795" y="33888"/>
                </a:cubicBezTo>
                <a:cubicBezTo>
                  <a:pt x="73447" y="30361"/>
                  <a:pt x="71438" y="26075"/>
                  <a:pt x="71438" y="21431"/>
                </a:cubicBezTo>
                <a:cubicBezTo>
                  <a:pt x="71438" y="9599"/>
                  <a:pt x="84252" y="0"/>
                  <a:pt x="100013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6724650" y="1485900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Extended Application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24600" y="1866900"/>
            <a:ext cx="5410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study integrates TAM with additional theoretical perspectives to create a comprehensive framework: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43650" y="24955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6591300" y="2476500"/>
            <a:ext cx="2295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Convenience context-based concepts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43650" y="2762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6591300" y="2743200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Emotional perspectives (perceived risk)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43650" y="3028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6591300" y="3009900"/>
            <a:ext cx="2638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Social influence factors (consumer reviews)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72200" y="3467100"/>
            <a:ext cx="5638800" cy="1905000"/>
          </a:xfrm>
          <a:custGeom>
            <a:avLst/>
            <a:gdLst/>
            <a:ahLst/>
            <a:cxnLst/>
            <a:rect l="l" t="t" r="r" b="b"/>
            <a:pathLst>
              <a:path w="5638800" h="1905000">
                <a:moveTo>
                  <a:pt x="76200" y="0"/>
                </a:moveTo>
                <a:lnTo>
                  <a:pt x="5562600" y="0"/>
                </a:lnTo>
                <a:cubicBezTo>
                  <a:pt x="5604656" y="0"/>
                  <a:pt x="5638800" y="34144"/>
                  <a:pt x="5638800" y="76200"/>
                </a:cubicBezTo>
                <a:lnTo>
                  <a:pt x="5638800" y="1828800"/>
                </a:lnTo>
                <a:cubicBezTo>
                  <a:pt x="5638800" y="1870856"/>
                  <a:pt x="5604656" y="1905000"/>
                  <a:pt x="5562600" y="1905000"/>
                </a:cubicBezTo>
                <a:lnTo>
                  <a:pt x="76200" y="1905000"/>
                </a:lnTo>
                <a:cubicBezTo>
                  <a:pt x="34144" y="1905000"/>
                  <a:pt x="0" y="1870856"/>
                  <a:pt x="0" y="1828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6353175" y="36385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35719"/>
                </a:moveTo>
                <a:cubicBezTo>
                  <a:pt x="0" y="23887"/>
                  <a:pt x="9599" y="14288"/>
                  <a:pt x="21431" y="14288"/>
                </a:cubicBezTo>
                <a:lnTo>
                  <a:pt x="64294" y="14288"/>
                </a:lnTo>
                <a:cubicBezTo>
                  <a:pt x="76126" y="14288"/>
                  <a:pt x="85725" y="23887"/>
                  <a:pt x="85725" y="35719"/>
                </a:cubicBezTo>
                <a:lnTo>
                  <a:pt x="85725" y="42863"/>
                </a:lnTo>
                <a:lnTo>
                  <a:pt x="142875" y="42863"/>
                </a:lnTo>
                <a:lnTo>
                  <a:pt x="142875" y="35719"/>
                </a:lnTo>
                <a:cubicBezTo>
                  <a:pt x="142875" y="23887"/>
                  <a:pt x="152474" y="14288"/>
                  <a:pt x="164306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78581"/>
                </a:lnTo>
                <a:cubicBezTo>
                  <a:pt x="228600" y="90413"/>
                  <a:pt x="219001" y="100013"/>
                  <a:pt x="207169" y="100013"/>
                </a:cubicBezTo>
                <a:lnTo>
                  <a:pt x="164306" y="100013"/>
                </a:lnTo>
                <a:cubicBezTo>
                  <a:pt x="152474" y="100013"/>
                  <a:pt x="142875" y="90413"/>
                  <a:pt x="142875" y="78581"/>
                </a:cubicBezTo>
                <a:lnTo>
                  <a:pt x="142875" y="71438"/>
                </a:lnTo>
                <a:lnTo>
                  <a:pt x="85725" y="71438"/>
                </a:lnTo>
                <a:lnTo>
                  <a:pt x="85725" y="78581"/>
                </a:lnTo>
                <a:cubicBezTo>
                  <a:pt x="85725" y="81841"/>
                  <a:pt x="84966" y="84966"/>
                  <a:pt x="83671" y="87734"/>
                </a:cubicBezTo>
                <a:lnTo>
                  <a:pt x="114300" y="128588"/>
                </a:lnTo>
                <a:lnTo>
                  <a:pt x="150019" y="128588"/>
                </a:lnTo>
                <a:cubicBezTo>
                  <a:pt x="161851" y="128588"/>
                  <a:pt x="171450" y="138187"/>
                  <a:pt x="171450" y="150019"/>
                </a:cubicBezTo>
                <a:lnTo>
                  <a:pt x="171450" y="192881"/>
                </a:lnTo>
                <a:cubicBezTo>
                  <a:pt x="171450" y="204713"/>
                  <a:pt x="161851" y="214313"/>
                  <a:pt x="150019" y="214313"/>
                </a:cubicBezTo>
                <a:lnTo>
                  <a:pt x="107156" y="214313"/>
                </a:lnTo>
                <a:cubicBezTo>
                  <a:pt x="95324" y="214313"/>
                  <a:pt x="85725" y="204713"/>
                  <a:pt x="85725" y="192881"/>
                </a:cubicBezTo>
                <a:lnTo>
                  <a:pt x="85725" y="150019"/>
                </a:lnTo>
                <a:cubicBezTo>
                  <a:pt x="85725" y="146759"/>
                  <a:pt x="86484" y="143634"/>
                  <a:pt x="87779" y="140866"/>
                </a:cubicBezTo>
                <a:lnTo>
                  <a:pt x="57150" y="100013"/>
                </a:lnTo>
                <a:lnTo>
                  <a:pt x="21431" y="100013"/>
                </a:lnTo>
                <a:cubicBezTo>
                  <a:pt x="9599" y="100013"/>
                  <a:pt x="0" y="90413"/>
                  <a:pt x="0" y="78581"/>
                </a:cubicBezTo>
                <a:lnTo>
                  <a:pt x="0" y="35719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6724650" y="3619500"/>
            <a:ext cx="1847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Theoretical Integration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24600" y="4000500"/>
            <a:ext cx="5410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study combines </a:t>
            </a:r>
            <a:r>
              <a:rPr lang="en-US" sz="1200" b="1" dirty="0">
                <a:solidFill>
                  <a:srgbClr val="212529"/>
                </a:solidFill>
                <a:highlight>
                  <a:srgbClr val="C5A56A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cognitive response (TAM) </a:t>
            </a: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 </a:t>
            </a:r>
            <a:r>
              <a:rPr lang="en-US" sz="1200" b="1" dirty="0">
                <a:solidFill>
                  <a:srgbClr val="212529"/>
                </a:solidFill>
                <a:highlight>
                  <a:srgbClr val="C5A56A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emotional interaction factors </a:t>
            </a: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 understand online grocery purchase intention comprehensively.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24600" y="4610100"/>
            <a:ext cx="5334000" cy="609600"/>
          </a:xfrm>
          <a:custGeom>
            <a:avLst/>
            <a:gdLst/>
            <a:ahLst/>
            <a:cxnLst/>
            <a:rect l="l" t="t" r="r" b="b"/>
            <a:pathLst>
              <a:path w="5334000" h="609600">
                <a:moveTo>
                  <a:pt x="38100" y="0"/>
                </a:moveTo>
                <a:lnTo>
                  <a:pt x="5295900" y="0"/>
                </a:lnTo>
                <a:cubicBezTo>
                  <a:pt x="5316928" y="0"/>
                  <a:pt x="5334000" y="17072"/>
                  <a:pt x="5334000" y="38100"/>
                </a:cubicBezTo>
                <a:lnTo>
                  <a:pt x="5334000" y="571500"/>
                </a:lnTo>
                <a:cubicBezTo>
                  <a:pt x="5334000" y="592528"/>
                  <a:pt x="5316928" y="609600"/>
                  <a:pt x="529590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6438900" y="4724400"/>
            <a:ext cx="5172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A7A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Models:</a:t>
            </a:r>
            <a:r>
              <a:rPr lang="en-US" sz="1050" dirty="0">
                <a:solidFill>
                  <a:srgbClr val="5A7A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Theory of Reasoned Action (TRA), convenience context-based concept, and e-WOM literature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C5A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3A5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Research Variables &amp; Hypotheses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81000" y="1352550"/>
            <a:ext cx="3733800" cy="2219325"/>
          </a:xfrm>
          <a:custGeom>
            <a:avLst/>
            <a:gdLst/>
            <a:ahLst/>
            <a:cxnLst/>
            <a:rect l="l" t="t" r="r" b="b"/>
            <a:pathLst>
              <a:path w="3733800" h="2219325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2143136"/>
                </a:lnTo>
                <a:cubicBezTo>
                  <a:pt x="3733800" y="2185214"/>
                  <a:pt x="3699689" y="2219325"/>
                  <a:pt x="3657611" y="2219325"/>
                </a:cubicBezTo>
                <a:lnTo>
                  <a:pt x="76189" y="2219325"/>
                </a:lnTo>
                <a:cubicBezTo>
                  <a:pt x="34139" y="2219325"/>
                  <a:pt x="0" y="2185186"/>
                  <a:pt x="0" y="214313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81000" y="1352550"/>
            <a:ext cx="3733800" cy="38100"/>
          </a:xfrm>
          <a:custGeom>
            <a:avLst/>
            <a:gdLst/>
            <a:ahLst/>
            <a:cxnLst/>
            <a:rect l="l" t="t" r="r" b="b"/>
            <a:pathLst>
              <a:path w="3733800" h="3810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33400" y="1524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00063" y="1524000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IV1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543050"/>
            <a:ext cx="1866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Consumer Behaviour (CB)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3400" y="1905000"/>
            <a:ext cx="34956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Shopping habits, orientation, and motivation affecting online purchase decisions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3400" y="2414588"/>
            <a:ext cx="3429000" cy="457200"/>
          </a:xfrm>
          <a:custGeom>
            <a:avLst/>
            <a:gdLst/>
            <a:ahLst/>
            <a:cxnLst/>
            <a:rect l="l" t="t" r="r" b="b"/>
            <a:pathLst>
              <a:path w="3429000" h="457200">
                <a:moveTo>
                  <a:pt x="38098" y="0"/>
                </a:moveTo>
                <a:lnTo>
                  <a:pt x="3390902" y="0"/>
                </a:lnTo>
                <a:cubicBezTo>
                  <a:pt x="3411943" y="0"/>
                  <a:pt x="3429000" y="17057"/>
                  <a:pt x="3429000" y="38098"/>
                </a:cubicBezTo>
                <a:lnTo>
                  <a:pt x="3429000" y="419102"/>
                </a:lnTo>
                <a:cubicBezTo>
                  <a:pt x="3429000" y="440143"/>
                  <a:pt x="3411943" y="457200"/>
                  <a:pt x="33909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09600" y="2490788"/>
            <a:ext cx="3333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5A7A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Elements:</a:t>
            </a:r>
            <a:r>
              <a:rPr lang="en-US" sz="900" dirty="0">
                <a:solidFill>
                  <a:srgbClr val="5A7A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Shopping motivation, web design, information quality, payment systems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29100" y="1352550"/>
            <a:ext cx="3733800" cy="2219325"/>
          </a:xfrm>
          <a:custGeom>
            <a:avLst/>
            <a:gdLst/>
            <a:ahLst/>
            <a:cxnLst/>
            <a:rect l="l" t="t" r="r" b="b"/>
            <a:pathLst>
              <a:path w="3733800" h="2219325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2143136"/>
                </a:lnTo>
                <a:cubicBezTo>
                  <a:pt x="3733800" y="2185214"/>
                  <a:pt x="3699689" y="2219325"/>
                  <a:pt x="3657611" y="2219325"/>
                </a:cubicBezTo>
                <a:lnTo>
                  <a:pt x="76189" y="2219325"/>
                </a:lnTo>
                <a:cubicBezTo>
                  <a:pt x="34139" y="2219325"/>
                  <a:pt x="0" y="2185186"/>
                  <a:pt x="0" y="214313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229100" y="1352550"/>
            <a:ext cx="3733800" cy="38100"/>
          </a:xfrm>
          <a:custGeom>
            <a:avLst/>
            <a:gdLst/>
            <a:ahLst/>
            <a:cxnLst/>
            <a:rect l="l" t="t" r="r" b="b"/>
            <a:pathLst>
              <a:path w="3733800" h="3810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381500" y="1524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348163" y="1524000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IV2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62500" y="1543050"/>
            <a:ext cx="2333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Online Shopping Experience (SE)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81500" y="1905000"/>
            <a:ext cx="34956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 experience with online tools, shopping habits, and interactive processes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81500" y="2414588"/>
            <a:ext cx="3429000" cy="457200"/>
          </a:xfrm>
          <a:custGeom>
            <a:avLst/>
            <a:gdLst/>
            <a:ahLst/>
            <a:cxnLst/>
            <a:rect l="l" t="t" r="r" b="b"/>
            <a:pathLst>
              <a:path w="3429000" h="457200">
                <a:moveTo>
                  <a:pt x="38098" y="0"/>
                </a:moveTo>
                <a:lnTo>
                  <a:pt x="3390902" y="0"/>
                </a:lnTo>
                <a:cubicBezTo>
                  <a:pt x="3411943" y="0"/>
                  <a:pt x="3429000" y="17057"/>
                  <a:pt x="3429000" y="38098"/>
                </a:cubicBezTo>
                <a:lnTo>
                  <a:pt x="3429000" y="419102"/>
                </a:lnTo>
                <a:cubicBezTo>
                  <a:pt x="3429000" y="440143"/>
                  <a:pt x="3411943" y="457200"/>
                  <a:pt x="33909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457700" y="2490788"/>
            <a:ext cx="3333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5A7A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Elements:</a:t>
            </a:r>
            <a:r>
              <a:rPr lang="en-US" sz="900" dirty="0">
                <a:solidFill>
                  <a:srgbClr val="5A7A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Web atmospherics, prior knowledge, emotional responses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077200" y="1352550"/>
            <a:ext cx="3733800" cy="2219325"/>
          </a:xfrm>
          <a:custGeom>
            <a:avLst/>
            <a:gdLst/>
            <a:ahLst/>
            <a:cxnLst/>
            <a:rect l="l" t="t" r="r" b="b"/>
            <a:pathLst>
              <a:path w="3733800" h="2219325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2143136"/>
                </a:lnTo>
                <a:cubicBezTo>
                  <a:pt x="3733800" y="2185214"/>
                  <a:pt x="3699689" y="2219325"/>
                  <a:pt x="3657611" y="2219325"/>
                </a:cubicBezTo>
                <a:lnTo>
                  <a:pt x="76189" y="2219325"/>
                </a:lnTo>
                <a:cubicBezTo>
                  <a:pt x="34139" y="2219325"/>
                  <a:pt x="0" y="2185186"/>
                  <a:pt x="0" y="214313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8077200" y="1352550"/>
            <a:ext cx="3733800" cy="38100"/>
          </a:xfrm>
          <a:custGeom>
            <a:avLst/>
            <a:gdLst/>
            <a:ahLst/>
            <a:cxnLst/>
            <a:rect l="l" t="t" r="r" b="b"/>
            <a:pathLst>
              <a:path w="3733800" h="3810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8229600" y="1524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8196262" y="1524000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IV3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10600" y="1543050"/>
            <a:ext cx="119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Convenience (C)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0" y="1905000"/>
            <a:ext cx="34956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Time-saving, accessibility, search convenience, and transaction ease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29600" y="2414588"/>
            <a:ext cx="3429000" cy="457200"/>
          </a:xfrm>
          <a:custGeom>
            <a:avLst/>
            <a:gdLst/>
            <a:ahLst/>
            <a:cxnLst/>
            <a:rect l="l" t="t" r="r" b="b"/>
            <a:pathLst>
              <a:path w="3429000" h="457200">
                <a:moveTo>
                  <a:pt x="38098" y="0"/>
                </a:moveTo>
                <a:lnTo>
                  <a:pt x="3390902" y="0"/>
                </a:lnTo>
                <a:cubicBezTo>
                  <a:pt x="3411943" y="0"/>
                  <a:pt x="3429000" y="17057"/>
                  <a:pt x="3429000" y="38098"/>
                </a:cubicBezTo>
                <a:lnTo>
                  <a:pt x="3429000" y="419102"/>
                </a:lnTo>
                <a:cubicBezTo>
                  <a:pt x="3429000" y="440143"/>
                  <a:pt x="3411943" y="457200"/>
                  <a:pt x="33909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8305800" y="2490788"/>
            <a:ext cx="3333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5A7A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Elements:</a:t>
            </a:r>
            <a:r>
              <a:rPr lang="en-US" sz="900" dirty="0">
                <a:solidFill>
                  <a:srgbClr val="5A7A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Access convenience, transaction ease, possession, post-possession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1000" y="3708402"/>
            <a:ext cx="3733800" cy="2219325"/>
          </a:xfrm>
          <a:custGeom>
            <a:avLst/>
            <a:gdLst/>
            <a:ahLst/>
            <a:cxnLst/>
            <a:rect l="l" t="t" r="r" b="b"/>
            <a:pathLst>
              <a:path w="3733800" h="2219325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2143136"/>
                </a:lnTo>
                <a:cubicBezTo>
                  <a:pt x="3733800" y="2185214"/>
                  <a:pt x="3699689" y="2219325"/>
                  <a:pt x="3657611" y="2219325"/>
                </a:cubicBezTo>
                <a:lnTo>
                  <a:pt x="76189" y="2219325"/>
                </a:lnTo>
                <a:cubicBezTo>
                  <a:pt x="34139" y="2219325"/>
                  <a:pt x="0" y="2185186"/>
                  <a:pt x="0" y="214313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381000" y="3708402"/>
            <a:ext cx="3733800" cy="38100"/>
          </a:xfrm>
          <a:custGeom>
            <a:avLst/>
            <a:gdLst/>
            <a:ahLst/>
            <a:cxnLst/>
            <a:rect l="l" t="t" r="r" b="b"/>
            <a:pathLst>
              <a:path w="3733800" h="3810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533400" y="387985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500063" y="3879852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IV4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4400" y="3898902"/>
            <a:ext cx="1400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Perceived Risk (PR)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3400" y="4260852"/>
            <a:ext cx="34956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Consumer beliefs about potential negative outcomes in online purchasing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33400" y="4770439"/>
            <a:ext cx="3429000" cy="457200"/>
          </a:xfrm>
          <a:custGeom>
            <a:avLst/>
            <a:gdLst/>
            <a:ahLst/>
            <a:cxnLst/>
            <a:rect l="l" t="t" r="r" b="b"/>
            <a:pathLst>
              <a:path w="3429000" h="457200">
                <a:moveTo>
                  <a:pt x="38098" y="0"/>
                </a:moveTo>
                <a:lnTo>
                  <a:pt x="3390902" y="0"/>
                </a:lnTo>
                <a:cubicBezTo>
                  <a:pt x="3411943" y="0"/>
                  <a:pt x="3429000" y="17057"/>
                  <a:pt x="3429000" y="38098"/>
                </a:cubicBezTo>
                <a:lnTo>
                  <a:pt x="3429000" y="419102"/>
                </a:lnTo>
                <a:cubicBezTo>
                  <a:pt x="3429000" y="440143"/>
                  <a:pt x="3411943" y="457200"/>
                  <a:pt x="33909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609600" y="4846639"/>
            <a:ext cx="3333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5A7A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Types:</a:t>
            </a:r>
            <a:r>
              <a:rPr lang="en-US" sz="900" dirty="0">
                <a:solidFill>
                  <a:srgbClr val="5A7A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Financial, product, delivery, privacy, psychological, time, social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229100" y="3708402"/>
            <a:ext cx="3733800" cy="2219325"/>
          </a:xfrm>
          <a:custGeom>
            <a:avLst/>
            <a:gdLst/>
            <a:ahLst/>
            <a:cxnLst/>
            <a:rect l="l" t="t" r="r" b="b"/>
            <a:pathLst>
              <a:path w="3733800" h="2219325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2143136"/>
                </a:lnTo>
                <a:cubicBezTo>
                  <a:pt x="3733800" y="2185214"/>
                  <a:pt x="3699689" y="2219325"/>
                  <a:pt x="3657611" y="2219325"/>
                </a:cubicBezTo>
                <a:lnTo>
                  <a:pt x="76189" y="2219325"/>
                </a:lnTo>
                <a:cubicBezTo>
                  <a:pt x="34139" y="2219325"/>
                  <a:pt x="0" y="2185186"/>
                  <a:pt x="0" y="214313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4229100" y="3708402"/>
            <a:ext cx="3733800" cy="38100"/>
          </a:xfrm>
          <a:custGeom>
            <a:avLst/>
            <a:gdLst/>
            <a:ahLst/>
            <a:cxnLst/>
            <a:rect l="l" t="t" r="r" b="b"/>
            <a:pathLst>
              <a:path w="3733800" h="3810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4381500" y="387985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4348163" y="3879852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IV5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762500" y="3898902"/>
            <a:ext cx="173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Consumer Reviews (CR)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381500" y="4260852"/>
            <a:ext cx="34956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Electronic Word-of-Mouth (e-WOM) influencing purchase decisions through trust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381500" y="4770439"/>
            <a:ext cx="3429000" cy="457200"/>
          </a:xfrm>
          <a:custGeom>
            <a:avLst/>
            <a:gdLst/>
            <a:ahLst/>
            <a:cxnLst/>
            <a:rect l="l" t="t" r="r" b="b"/>
            <a:pathLst>
              <a:path w="3429000" h="457200">
                <a:moveTo>
                  <a:pt x="38098" y="0"/>
                </a:moveTo>
                <a:lnTo>
                  <a:pt x="3390902" y="0"/>
                </a:lnTo>
                <a:cubicBezTo>
                  <a:pt x="3411943" y="0"/>
                  <a:pt x="3429000" y="17057"/>
                  <a:pt x="3429000" y="38098"/>
                </a:cubicBezTo>
                <a:lnTo>
                  <a:pt x="3429000" y="419102"/>
                </a:lnTo>
                <a:cubicBezTo>
                  <a:pt x="3429000" y="440143"/>
                  <a:pt x="3411943" y="457200"/>
                  <a:pt x="33909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4457700" y="4846639"/>
            <a:ext cx="3333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5A7A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Review Types:</a:t>
            </a:r>
            <a:r>
              <a:rPr lang="en-US" sz="900" dirty="0">
                <a:solidFill>
                  <a:srgbClr val="5A7A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Relative reviews, anonymous reviews, professional reviews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077200" y="3689352"/>
            <a:ext cx="3733800" cy="2238375"/>
          </a:xfrm>
          <a:custGeom>
            <a:avLst/>
            <a:gdLst/>
            <a:ahLst/>
            <a:cxnLst/>
            <a:rect l="l" t="t" r="r" b="b"/>
            <a:pathLst>
              <a:path w="3733800" h="2238375">
                <a:moveTo>
                  <a:pt x="76194" y="0"/>
                </a:moveTo>
                <a:lnTo>
                  <a:pt x="3657606" y="0"/>
                </a:lnTo>
                <a:cubicBezTo>
                  <a:pt x="3699658" y="0"/>
                  <a:pt x="3733800" y="34142"/>
                  <a:pt x="3733800" y="76194"/>
                </a:cubicBezTo>
                <a:lnTo>
                  <a:pt x="3733800" y="2162181"/>
                </a:lnTo>
                <a:cubicBezTo>
                  <a:pt x="3733800" y="2204262"/>
                  <a:pt x="3699687" y="2238375"/>
                  <a:pt x="3657606" y="2238375"/>
                </a:cubicBezTo>
                <a:lnTo>
                  <a:pt x="76194" y="2238375"/>
                </a:lnTo>
                <a:cubicBezTo>
                  <a:pt x="34142" y="2238375"/>
                  <a:pt x="0" y="2204233"/>
                  <a:pt x="0" y="2162181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1A3A5C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8229600" y="384175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8196262" y="3841752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DV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610600" y="3860802"/>
            <a:ext cx="165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Purchase Intention (PI)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229600" y="4222752"/>
            <a:ext cx="34956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Consumer expectation and possibility of purchasing groceries online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29600" y="4732339"/>
            <a:ext cx="3429000" cy="457200"/>
          </a:xfrm>
          <a:custGeom>
            <a:avLst/>
            <a:gdLst/>
            <a:ahLst/>
            <a:cxnLst/>
            <a:rect l="l" t="t" r="r" b="b"/>
            <a:pathLst>
              <a:path w="3429000" h="457200">
                <a:moveTo>
                  <a:pt x="38098" y="0"/>
                </a:moveTo>
                <a:lnTo>
                  <a:pt x="3390902" y="0"/>
                </a:lnTo>
                <a:cubicBezTo>
                  <a:pt x="3411943" y="0"/>
                  <a:pt x="3429000" y="17057"/>
                  <a:pt x="3429000" y="38098"/>
                </a:cubicBezTo>
                <a:lnTo>
                  <a:pt x="3429000" y="419102"/>
                </a:lnTo>
                <a:cubicBezTo>
                  <a:pt x="3429000" y="440143"/>
                  <a:pt x="3411943" y="457200"/>
                  <a:pt x="33909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8305800" y="4808539"/>
            <a:ext cx="3333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Definition:</a:t>
            </a: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Expectance of purchasing with reference cost in specific time framework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C5A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Conceptual Framework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3A5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Conceptual Framework &amp; Hypothesis Mapping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81000" y="1333500"/>
            <a:ext cx="6886575" cy="5143500"/>
          </a:xfrm>
          <a:custGeom>
            <a:avLst/>
            <a:gdLst/>
            <a:ahLst/>
            <a:cxnLst/>
            <a:rect l="l" t="t" r="r" b="b"/>
            <a:pathLst>
              <a:path w="6886575" h="5143500">
                <a:moveTo>
                  <a:pt x="76175" y="0"/>
                </a:moveTo>
                <a:lnTo>
                  <a:pt x="6810400" y="0"/>
                </a:lnTo>
                <a:cubicBezTo>
                  <a:pt x="6852470" y="0"/>
                  <a:pt x="6886575" y="34105"/>
                  <a:pt x="6886575" y="76175"/>
                </a:cubicBezTo>
                <a:lnTo>
                  <a:pt x="6886575" y="5067325"/>
                </a:lnTo>
                <a:cubicBezTo>
                  <a:pt x="6886575" y="5109395"/>
                  <a:pt x="6852470" y="5143500"/>
                  <a:pt x="6810400" y="5143500"/>
                </a:cubicBezTo>
                <a:lnTo>
                  <a:pt x="76175" y="5143500"/>
                </a:lnTo>
                <a:cubicBezTo>
                  <a:pt x="34105" y="5143500"/>
                  <a:pt x="0" y="5109395"/>
                  <a:pt x="0" y="5067325"/>
                </a:cubicBezTo>
                <a:lnTo>
                  <a:pt x="0" y="76175"/>
                </a:lnTo>
                <a:cubicBezTo>
                  <a:pt x="0" y="34133"/>
                  <a:pt x="34133" y="0"/>
                  <a:pt x="7617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85775" y="1485900"/>
            <a:ext cx="6677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Research Model: Variable Relationships</a:t>
            </a:r>
            <a:endParaRPr lang="en-US" sz="1600" dirty="0"/>
          </a:p>
        </p:txBody>
      </p:sp>
      <p:pic>
        <p:nvPicPr>
          <p:cNvPr id="7" name="Image 0" descr="https://kimi-img.moonshot.cn/pub/slides/26-03-18-19:15:54-d6t8iqhn4ejmrigrp1i0.png"/>
          <p:cNvPicPr>
            <a:picLocks noChangeAspect="1"/>
          </p:cNvPicPr>
          <p:nvPr/>
        </p:nvPicPr>
        <p:blipFill>
          <a:blip r:embed="rId3"/>
          <a:srcRect t="24" b="24"/>
          <a:stretch/>
        </p:blipFill>
        <p:spPr>
          <a:xfrm>
            <a:off x="533400" y="1866900"/>
            <a:ext cx="6581775" cy="4457700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421860" y="1333500"/>
            <a:ext cx="4391025" cy="2514600"/>
          </a:xfrm>
          <a:custGeom>
            <a:avLst/>
            <a:gdLst/>
            <a:ahLst/>
            <a:cxnLst/>
            <a:rect l="l" t="t" r="r" b="b"/>
            <a:pathLst>
              <a:path w="4391025" h="2514600">
                <a:moveTo>
                  <a:pt x="76192" y="0"/>
                </a:moveTo>
                <a:lnTo>
                  <a:pt x="4314833" y="0"/>
                </a:lnTo>
                <a:cubicBezTo>
                  <a:pt x="4356913" y="0"/>
                  <a:pt x="4391025" y="34112"/>
                  <a:pt x="4391025" y="76192"/>
                </a:cubicBezTo>
                <a:lnTo>
                  <a:pt x="4391025" y="2438408"/>
                </a:lnTo>
                <a:cubicBezTo>
                  <a:pt x="4391025" y="2480488"/>
                  <a:pt x="4356913" y="2514600"/>
                  <a:pt x="4314833" y="2514600"/>
                </a:cubicBezTo>
                <a:lnTo>
                  <a:pt x="76192" y="2514600"/>
                </a:lnTo>
                <a:cubicBezTo>
                  <a:pt x="34112" y="2514600"/>
                  <a:pt x="0" y="2480488"/>
                  <a:pt x="0" y="24384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1A3A5C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7536160" y="1447800"/>
            <a:ext cx="4248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Five Research Hypotheses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536160" y="1790700"/>
            <a:ext cx="4162425" cy="342900"/>
          </a:xfrm>
          <a:custGeom>
            <a:avLst/>
            <a:gdLst/>
            <a:ahLst/>
            <a:cxnLst/>
            <a:rect l="l" t="t" r="r" b="b"/>
            <a:pathLst>
              <a:path w="4162425" h="342900">
                <a:moveTo>
                  <a:pt x="38100" y="0"/>
                </a:moveTo>
                <a:lnTo>
                  <a:pt x="4124325" y="0"/>
                </a:lnTo>
                <a:cubicBezTo>
                  <a:pt x="4145367" y="0"/>
                  <a:pt x="4162425" y="17058"/>
                  <a:pt x="4162425" y="38100"/>
                </a:cubicBezTo>
                <a:lnTo>
                  <a:pt x="4162425" y="304800"/>
                </a:lnTo>
                <a:cubicBezTo>
                  <a:pt x="4162425" y="325842"/>
                  <a:pt x="4145367" y="342900"/>
                  <a:pt x="412432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7612360" y="1866900"/>
            <a:ext cx="4076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H1:</a:t>
            </a: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Consumer behaviour → PI (+)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536160" y="2190750"/>
            <a:ext cx="4162425" cy="342900"/>
          </a:xfrm>
          <a:custGeom>
            <a:avLst/>
            <a:gdLst/>
            <a:ahLst/>
            <a:cxnLst/>
            <a:rect l="l" t="t" r="r" b="b"/>
            <a:pathLst>
              <a:path w="4162425" h="342900">
                <a:moveTo>
                  <a:pt x="38100" y="0"/>
                </a:moveTo>
                <a:lnTo>
                  <a:pt x="4124325" y="0"/>
                </a:lnTo>
                <a:cubicBezTo>
                  <a:pt x="4145367" y="0"/>
                  <a:pt x="4162425" y="17058"/>
                  <a:pt x="4162425" y="38100"/>
                </a:cubicBezTo>
                <a:lnTo>
                  <a:pt x="4162425" y="304800"/>
                </a:lnTo>
                <a:cubicBezTo>
                  <a:pt x="4162425" y="325842"/>
                  <a:pt x="4145367" y="342900"/>
                  <a:pt x="412432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7612360" y="2266950"/>
            <a:ext cx="4076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H2:</a:t>
            </a: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Shopping experience → PI (+)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536160" y="2590800"/>
            <a:ext cx="4162425" cy="342900"/>
          </a:xfrm>
          <a:custGeom>
            <a:avLst/>
            <a:gdLst/>
            <a:ahLst/>
            <a:cxnLst/>
            <a:rect l="l" t="t" r="r" b="b"/>
            <a:pathLst>
              <a:path w="4162425" h="342900">
                <a:moveTo>
                  <a:pt x="38100" y="0"/>
                </a:moveTo>
                <a:lnTo>
                  <a:pt x="4124325" y="0"/>
                </a:lnTo>
                <a:cubicBezTo>
                  <a:pt x="4145367" y="0"/>
                  <a:pt x="4162425" y="17058"/>
                  <a:pt x="4162425" y="38100"/>
                </a:cubicBezTo>
                <a:lnTo>
                  <a:pt x="4162425" y="304800"/>
                </a:lnTo>
                <a:cubicBezTo>
                  <a:pt x="4162425" y="325842"/>
                  <a:pt x="4145367" y="342900"/>
                  <a:pt x="412432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7612360" y="2667000"/>
            <a:ext cx="4076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H3:</a:t>
            </a: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Convenience → PI (+)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536160" y="2990850"/>
            <a:ext cx="4162425" cy="342900"/>
          </a:xfrm>
          <a:custGeom>
            <a:avLst/>
            <a:gdLst/>
            <a:ahLst/>
            <a:cxnLst/>
            <a:rect l="l" t="t" r="r" b="b"/>
            <a:pathLst>
              <a:path w="4162425" h="342900">
                <a:moveTo>
                  <a:pt x="38100" y="0"/>
                </a:moveTo>
                <a:lnTo>
                  <a:pt x="4124325" y="0"/>
                </a:lnTo>
                <a:cubicBezTo>
                  <a:pt x="4145367" y="0"/>
                  <a:pt x="4162425" y="17058"/>
                  <a:pt x="4162425" y="38100"/>
                </a:cubicBezTo>
                <a:lnTo>
                  <a:pt x="4162425" y="304800"/>
                </a:lnTo>
                <a:cubicBezTo>
                  <a:pt x="4162425" y="325842"/>
                  <a:pt x="4145367" y="342900"/>
                  <a:pt x="412432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7612360" y="3067050"/>
            <a:ext cx="4076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H4:</a:t>
            </a: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Perceived risk → PI (+)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536160" y="3390900"/>
            <a:ext cx="4162425" cy="342900"/>
          </a:xfrm>
          <a:custGeom>
            <a:avLst/>
            <a:gdLst/>
            <a:ahLst/>
            <a:cxnLst/>
            <a:rect l="l" t="t" r="r" b="b"/>
            <a:pathLst>
              <a:path w="4162425" h="342900">
                <a:moveTo>
                  <a:pt x="38100" y="0"/>
                </a:moveTo>
                <a:lnTo>
                  <a:pt x="4124325" y="0"/>
                </a:lnTo>
                <a:cubicBezTo>
                  <a:pt x="4145367" y="0"/>
                  <a:pt x="4162425" y="17058"/>
                  <a:pt x="4162425" y="38100"/>
                </a:cubicBezTo>
                <a:lnTo>
                  <a:pt x="4162425" y="304800"/>
                </a:lnTo>
                <a:cubicBezTo>
                  <a:pt x="4162425" y="325842"/>
                  <a:pt x="4145367" y="342900"/>
                  <a:pt x="412432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7612360" y="3467100"/>
            <a:ext cx="4076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H5:</a:t>
            </a: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Consumer reviews → PI (+)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421860" y="3924300"/>
            <a:ext cx="4391025" cy="1200150"/>
          </a:xfrm>
          <a:custGeom>
            <a:avLst/>
            <a:gdLst/>
            <a:ahLst/>
            <a:cxnLst/>
            <a:rect l="l" t="t" r="r" b="b"/>
            <a:pathLst>
              <a:path w="4391025" h="1200150">
                <a:moveTo>
                  <a:pt x="76198" y="0"/>
                </a:moveTo>
                <a:lnTo>
                  <a:pt x="4314827" y="0"/>
                </a:lnTo>
                <a:cubicBezTo>
                  <a:pt x="4356910" y="0"/>
                  <a:pt x="4391025" y="34115"/>
                  <a:pt x="4391025" y="76198"/>
                </a:cubicBezTo>
                <a:lnTo>
                  <a:pt x="4391025" y="1123952"/>
                </a:lnTo>
                <a:cubicBezTo>
                  <a:pt x="4391025" y="1166035"/>
                  <a:pt x="4356910" y="1200150"/>
                  <a:pt x="4314827" y="1200150"/>
                </a:cubicBezTo>
                <a:lnTo>
                  <a:pt x="76198" y="1200150"/>
                </a:lnTo>
                <a:cubicBezTo>
                  <a:pt x="34115" y="1200150"/>
                  <a:pt x="0" y="1166035"/>
                  <a:pt x="0" y="11239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7536160" y="4038600"/>
            <a:ext cx="423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Variable Classification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536160" y="4343400"/>
            <a:ext cx="4162425" cy="304800"/>
          </a:xfrm>
          <a:custGeom>
            <a:avLst/>
            <a:gdLst/>
            <a:ahLst/>
            <a:cxnLst/>
            <a:rect l="l" t="t" r="r" b="b"/>
            <a:pathLst>
              <a:path w="4162425" h="304800">
                <a:moveTo>
                  <a:pt x="38100" y="0"/>
                </a:moveTo>
                <a:lnTo>
                  <a:pt x="4124325" y="0"/>
                </a:lnTo>
                <a:cubicBezTo>
                  <a:pt x="4145353" y="0"/>
                  <a:pt x="4162425" y="17072"/>
                  <a:pt x="4162425" y="38100"/>
                </a:cubicBezTo>
                <a:lnTo>
                  <a:pt x="4162425" y="266700"/>
                </a:lnTo>
                <a:cubicBezTo>
                  <a:pt x="4162425" y="287728"/>
                  <a:pt x="4145353" y="304800"/>
                  <a:pt x="412432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5C">
              <a:alpha val="1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7593310" y="44386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7783810" y="4400550"/>
            <a:ext cx="2438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Independent Variables:</a:t>
            </a:r>
            <a:r>
              <a:rPr lang="en-US" sz="105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CB, SE, C, PR, CR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536160" y="4705350"/>
            <a:ext cx="4162425" cy="304800"/>
          </a:xfrm>
          <a:custGeom>
            <a:avLst/>
            <a:gdLst/>
            <a:ahLst/>
            <a:cxnLst/>
            <a:rect l="l" t="t" r="r" b="b"/>
            <a:pathLst>
              <a:path w="4162425" h="304800">
                <a:moveTo>
                  <a:pt x="38100" y="0"/>
                </a:moveTo>
                <a:lnTo>
                  <a:pt x="4124325" y="0"/>
                </a:lnTo>
                <a:cubicBezTo>
                  <a:pt x="4145353" y="0"/>
                  <a:pt x="4162425" y="17072"/>
                  <a:pt x="4162425" y="38100"/>
                </a:cubicBezTo>
                <a:lnTo>
                  <a:pt x="4162425" y="266700"/>
                </a:lnTo>
                <a:cubicBezTo>
                  <a:pt x="4162425" y="287728"/>
                  <a:pt x="4145353" y="304800"/>
                  <a:pt x="412432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5A56A">
              <a:alpha val="1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7593310" y="48006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7783810" y="4762500"/>
            <a:ext cx="2628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Dependent Variable:</a:t>
            </a:r>
            <a:r>
              <a:rPr lang="en-US" sz="105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Purchase Intention (PI)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C5A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3A5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Research Methodology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00050" y="1333500"/>
            <a:ext cx="5619750" cy="2628900"/>
          </a:xfrm>
          <a:custGeom>
            <a:avLst/>
            <a:gdLst/>
            <a:ahLst/>
            <a:cxnLst/>
            <a:rect l="l" t="t" r="r" b="b"/>
            <a:pathLst>
              <a:path w="5619750" h="2628900">
                <a:moveTo>
                  <a:pt x="38100" y="0"/>
                </a:moveTo>
                <a:lnTo>
                  <a:pt x="5543538" y="0"/>
                </a:lnTo>
                <a:cubicBezTo>
                  <a:pt x="5585629" y="0"/>
                  <a:pt x="5619750" y="34121"/>
                  <a:pt x="5619750" y="76212"/>
                </a:cubicBezTo>
                <a:lnTo>
                  <a:pt x="5619750" y="2552688"/>
                </a:lnTo>
                <a:cubicBezTo>
                  <a:pt x="5619750" y="2594779"/>
                  <a:pt x="5585629" y="2628900"/>
                  <a:pt x="5543538" y="2628900"/>
                </a:cubicBezTo>
                <a:lnTo>
                  <a:pt x="38100" y="2628900"/>
                </a:lnTo>
                <a:cubicBezTo>
                  <a:pt x="17072" y="2628900"/>
                  <a:pt x="0" y="2611828"/>
                  <a:pt x="0" y="2590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00050" y="1333500"/>
            <a:ext cx="38100" cy="2628900"/>
          </a:xfrm>
          <a:custGeom>
            <a:avLst/>
            <a:gdLst/>
            <a:ahLst/>
            <a:cxnLst/>
            <a:rect l="l" t="t" r="r" b="b"/>
            <a:pathLst>
              <a:path w="38100" h="2628900">
                <a:moveTo>
                  <a:pt x="38100" y="0"/>
                </a:moveTo>
                <a:lnTo>
                  <a:pt x="38100" y="0"/>
                </a:lnTo>
                <a:lnTo>
                  <a:pt x="38100" y="2628900"/>
                </a:lnTo>
                <a:lnTo>
                  <a:pt x="38100" y="2628900"/>
                </a:lnTo>
                <a:cubicBezTo>
                  <a:pt x="17072" y="2628900"/>
                  <a:pt x="0" y="2611828"/>
                  <a:pt x="0" y="2590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71500" y="1485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716756" y="16192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07156" y="0"/>
                </a:moveTo>
                <a:lnTo>
                  <a:pt x="47625" y="0"/>
                </a:lnTo>
                <a:cubicBezTo>
                  <a:pt x="41039" y="0"/>
                  <a:pt x="35719" y="5321"/>
                  <a:pt x="35719" y="11906"/>
                </a:cubicBezTo>
                <a:cubicBezTo>
                  <a:pt x="35719" y="18492"/>
                  <a:pt x="41039" y="23812"/>
                  <a:pt x="47625" y="23812"/>
                </a:cubicBezTo>
                <a:lnTo>
                  <a:pt x="47625" y="80181"/>
                </a:lnTo>
                <a:lnTo>
                  <a:pt x="2791" y="158614"/>
                </a:lnTo>
                <a:cubicBezTo>
                  <a:pt x="967" y="161851"/>
                  <a:pt x="0" y="165460"/>
                  <a:pt x="0" y="169180"/>
                </a:cubicBezTo>
                <a:cubicBezTo>
                  <a:pt x="0" y="180975"/>
                  <a:pt x="9525" y="190500"/>
                  <a:pt x="21320" y="190500"/>
                </a:cubicBezTo>
                <a:lnTo>
                  <a:pt x="145368" y="190500"/>
                </a:lnTo>
                <a:cubicBezTo>
                  <a:pt x="157125" y="190500"/>
                  <a:pt x="166688" y="180975"/>
                  <a:pt x="166688" y="169180"/>
                </a:cubicBezTo>
                <a:cubicBezTo>
                  <a:pt x="166688" y="165460"/>
                  <a:pt x="165720" y="161813"/>
                  <a:pt x="163897" y="158614"/>
                </a:cubicBezTo>
                <a:lnTo>
                  <a:pt x="119063" y="80181"/>
                </a:lnTo>
                <a:lnTo>
                  <a:pt x="119063" y="23812"/>
                </a:lnTo>
                <a:cubicBezTo>
                  <a:pt x="125648" y="23812"/>
                  <a:pt x="130969" y="18492"/>
                  <a:pt x="130969" y="11906"/>
                </a:cubicBezTo>
                <a:cubicBezTo>
                  <a:pt x="130969" y="5321"/>
                  <a:pt x="125648" y="0"/>
                  <a:pt x="119063" y="0"/>
                </a:cubicBezTo>
                <a:lnTo>
                  <a:pt x="107156" y="0"/>
                </a:lnTo>
                <a:close/>
                <a:moveTo>
                  <a:pt x="71438" y="80181"/>
                </a:moveTo>
                <a:lnTo>
                  <a:pt x="71438" y="23812"/>
                </a:lnTo>
                <a:lnTo>
                  <a:pt x="95250" y="23812"/>
                </a:lnTo>
                <a:lnTo>
                  <a:pt x="95250" y="80181"/>
                </a:lnTo>
                <a:cubicBezTo>
                  <a:pt x="95250" y="84311"/>
                  <a:pt x="96329" y="88404"/>
                  <a:pt x="98375" y="92013"/>
                </a:cubicBezTo>
                <a:lnTo>
                  <a:pt x="113854" y="119063"/>
                </a:lnTo>
                <a:lnTo>
                  <a:pt x="52834" y="119063"/>
                </a:lnTo>
                <a:lnTo>
                  <a:pt x="68312" y="92013"/>
                </a:lnTo>
                <a:cubicBezTo>
                  <a:pt x="70358" y="88404"/>
                  <a:pt x="71438" y="84348"/>
                  <a:pt x="71438" y="8018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143000" y="1581150"/>
            <a:ext cx="135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Research Design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2057400"/>
            <a:ext cx="5372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Quantitative approach</a:t>
            </a: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using web-based self-completion survey for hypothesis testing. This method provides: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" y="2667000"/>
            <a:ext cx="2609850" cy="533400"/>
          </a:xfrm>
          <a:custGeom>
            <a:avLst/>
            <a:gdLst/>
            <a:ahLst/>
            <a:cxnLst/>
            <a:rect l="l" t="t" r="r" b="b"/>
            <a:pathLst>
              <a:path w="2609850" h="533400">
                <a:moveTo>
                  <a:pt x="38101" y="0"/>
                </a:moveTo>
                <a:lnTo>
                  <a:pt x="2571749" y="0"/>
                </a:lnTo>
                <a:cubicBezTo>
                  <a:pt x="2592792" y="0"/>
                  <a:pt x="2609850" y="17058"/>
                  <a:pt x="2609850" y="38101"/>
                </a:cubicBezTo>
                <a:lnTo>
                  <a:pt x="2609850" y="495299"/>
                </a:lnTo>
                <a:cubicBezTo>
                  <a:pt x="2609850" y="516342"/>
                  <a:pt x="2592792" y="533400"/>
                  <a:pt x="257174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800225" y="277495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19125" y="2971800"/>
            <a:ext cx="2514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Time-effective data collection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57550" y="2667000"/>
            <a:ext cx="2609850" cy="533400"/>
          </a:xfrm>
          <a:custGeom>
            <a:avLst/>
            <a:gdLst/>
            <a:ahLst/>
            <a:cxnLst/>
            <a:rect l="l" t="t" r="r" b="b"/>
            <a:pathLst>
              <a:path w="2609850" h="533400">
                <a:moveTo>
                  <a:pt x="38101" y="0"/>
                </a:moveTo>
                <a:lnTo>
                  <a:pt x="2571749" y="0"/>
                </a:lnTo>
                <a:cubicBezTo>
                  <a:pt x="2592792" y="0"/>
                  <a:pt x="2609850" y="17058"/>
                  <a:pt x="2609850" y="38101"/>
                </a:cubicBezTo>
                <a:lnTo>
                  <a:pt x="2609850" y="495299"/>
                </a:lnTo>
                <a:cubicBezTo>
                  <a:pt x="2609850" y="516342"/>
                  <a:pt x="2592792" y="533400"/>
                  <a:pt x="257174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486275" y="277495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305175" y="2971800"/>
            <a:ext cx="2514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Generalizable findings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1500" y="3276600"/>
            <a:ext cx="2609850" cy="533400"/>
          </a:xfrm>
          <a:custGeom>
            <a:avLst/>
            <a:gdLst/>
            <a:ahLst/>
            <a:cxnLst/>
            <a:rect l="l" t="t" r="r" b="b"/>
            <a:pathLst>
              <a:path w="2609850" h="533400">
                <a:moveTo>
                  <a:pt x="38101" y="0"/>
                </a:moveTo>
                <a:lnTo>
                  <a:pt x="2571749" y="0"/>
                </a:lnTo>
                <a:cubicBezTo>
                  <a:pt x="2592792" y="0"/>
                  <a:pt x="2609850" y="17058"/>
                  <a:pt x="2609850" y="38101"/>
                </a:cubicBezTo>
                <a:lnTo>
                  <a:pt x="2609850" y="495299"/>
                </a:lnTo>
                <a:cubicBezTo>
                  <a:pt x="2609850" y="516342"/>
                  <a:pt x="2592792" y="533400"/>
                  <a:pt x="257174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1800225" y="338455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19125" y="3581400"/>
            <a:ext cx="2514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perceived anonymity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57550" y="3276600"/>
            <a:ext cx="2609850" cy="533400"/>
          </a:xfrm>
          <a:custGeom>
            <a:avLst/>
            <a:gdLst/>
            <a:ahLst/>
            <a:cxnLst/>
            <a:rect l="l" t="t" r="r" b="b"/>
            <a:pathLst>
              <a:path w="2609850" h="533400">
                <a:moveTo>
                  <a:pt x="38101" y="0"/>
                </a:moveTo>
                <a:lnTo>
                  <a:pt x="2571749" y="0"/>
                </a:lnTo>
                <a:cubicBezTo>
                  <a:pt x="2592792" y="0"/>
                  <a:pt x="2609850" y="17058"/>
                  <a:pt x="2609850" y="38101"/>
                </a:cubicBezTo>
                <a:lnTo>
                  <a:pt x="2609850" y="495299"/>
                </a:lnTo>
                <a:cubicBezTo>
                  <a:pt x="2609850" y="516342"/>
                  <a:pt x="2592792" y="533400"/>
                  <a:pt x="257174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486275" y="338455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305175" y="3581400"/>
            <a:ext cx="2514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Reduced social desirability bias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00050" y="4076700"/>
            <a:ext cx="5619750" cy="2438400"/>
          </a:xfrm>
          <a:custGeom>
            <a:avLst/>
            <a:gdLst/>
            <a:ahLst/>
            <a:cxnLst/>
            <a:rect l="l" t="t" r="r" b="b"/>
            <a:pathLst>
              <a:path w="5619750" h="2438400">
                <a:moveTo>
                  <a:pt x="38100" y="0"/>
                </a:moveTo>
                <a:lnTo>
                  <a:pt x="5543550" y="0"/>
                </a:lnTo>
                <a:cubicBezTo>
                  <a:pt x="5585606" y="0"/>
                  <a:pt x="5619750" y="34144"/>
                  <a:pt x="5619750" y="76200"/>
                </a:cubicBezTo>
                <a:lnTo>
                  <a:pt x="5619750" y="2362200"/>
                </a:lnTo>
                <a:cubicBezTo>
                  <a:pt x="5619750" y="2404256"/>
                  <a:pt x="5585606" y="2438400"/>
                  <a:pt x="5543550" y="2438400"/>
                </a:cubicBezTo>
                <a:lnTo>
                  <a:pt x="38100" y="2438400"/>
                </a:lnTo>
                <a:cubicBezTo>
                  <a:pt x="17072" y="2438400"/>
                  <a:pt x="0" y="2421328"/>
                  <a:pt x="0" y="2400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400050" y="4076700"/>
            <a:ext cx="38100" cy="2438400"/>
          </a:xfrm>
          <a:custGeom>
            <a:avLst/>
            <a:gdLst/>
            <a:ahLst/>
            <a:cxnLst/>
            <a:rect l="l" t="t" r="r" b="b"/>
            <a:pathLst>
              <a:path w="38100" h="2438400">
                <a:moveTo>
                  <a:pt x="38100" y="0"/>
                </a:moveTo>
                <a:lnTo>
                  <a:pt x="38100" y="0"/>
                </a:lnTo>
                <a:lnTo>
                  <a:pt x="38100" y="2438400"/>
                </a:lnTo>
                <a:lnTo>
                  <a:pt x="38100" y="2438400"/>
                </a:lnTo>
                <a:cubicBezTo>
                  <a:pt x="17072" y="2438400"/>
                  <a:pt x="0" y="2421328"/>
                  <a:pt x="0" y="2400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571500" y="4229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681038" y="43624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1143000" y="4324350"/>
            <a:ext cx="148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Sampling Strategy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1500" y="4800600"/>
            <a:ext cx="5295900" cy="381000"/>
          </a:xfrm>
          <a:custGeom>
            <a:avLst/>
            <a:gdLst/>
            <a:ahLst/>
            <a:cxnLst/>
            <a:rect l="l" t="t" r="r" b="b"/>
            <a:pathLst>
              <a:path w="5295900" h="381000">
                <a:moveTo>
                  <a:pt x="38100" y="0"/>
                </a:moveTo>
                <a:lnTo>
                  <a:pt x="5257800" y="0"/>
                </a:lnTo>
                <a:cubicBezTo>
                  <a:pt x="5278828" y="0"/>
                  <a:pt x="5295900" y="17072"/>
                  <a:pt x="5295900" y="38100"/>
                </a:cubicBezTo>
                <a:lnTo>
                  <a:pt x="5295900" y="342900"/>
                </a:lnTo>
                <a:cubicBezTo>
                  <a:pt x="5295900" y="363928"/>
                  <a:pt x="5278828" y="381000"/>
                  <a:pt x="52578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647700" y="4895850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Survey Invitations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545138" y="4876800"/>
            <a:ext cx="323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150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1500" y="5257800"/>
            <a:ext cx="5295900" cy="381000"/>
          </a:xfrm>
          <a:custGeom>
            <a:avLst/>
            <a:gdLst/>
            <a:ahLst/>
            <a:cxnLst/>
            <a:rect l="l" t="t" r="r" b="b"/>
            <a:pathLst>
              <a:path w="5295900" h="381000">
                <a:moveTo>
                  <a:pt x="38100" y="0"/>
                </a:moveTo>
                <a:lnTo>
                  <a:pt x="5257800" y="0"/>
                </a:lnTo>
                <a:cubicBezTo>
                  <a:pt x="5278828" y="0"/>
                  <a:pt x="5295900" y="17072"/>
                  <a:pt x="5295900" y="38100"/>
                </a:cubicBezTo>
                <a:lnTo>
                  <a:pt x="5295900" y="342900"/>
                </a:lnTo>
                <a:cubicBezTo>
                  <a:pt x="5295900" y="363928"/>
                  <a:pt x="5278828" y="381000"/>
                  <a:pt x="52578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647700" y="5353050"/>
            <a:ext cx="103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 Responses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550496" y="5334000"/>
            <a:ext cx="314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A7A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129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71500" y="5715000"/>
            <a:ext cx="5295900" cy="381000"/>
          </a:xfrm>
          <a:custGeom>
            <a:avLst/>
            <a:gdLst/>
            <a:ahLst/>
            <a:cxnLst/>
            <a:rect l="l" t="t" r="r" b="b"/>
            <a:pathLst>
              <a:path w="5295900" h="381000">
                <a:moveTo>
                  <a:pt x="38100" y="0"/>
                </a:moveTo>
                <a:lnTo>
                  <a:pt x="5257800" y="0"/>
                </a:lnTo>
                <a:cubicBezTo>
                  <a:pt x="5278828" y="0"/>
                  <a:pt x="5295900" y="17072"/>
                  <a:pt x="5295900" y="38100"/>
                </a:cubicBezTo>
                <a:lnTo>
                  <a:pt x="5295900" y="342900"/>
                </a:lnTo>
                <a:cubicBezTo>
                  <a:pt x="5295900" y="363928"/>
                  <a:pt x="5278828" y="381000"/>
                  <a:pt x="52578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647700" y="5810250"/>
            <a:ext cx="942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Rate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485606" y="57912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5A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86%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90550" y="620395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771525" y="6172200"/>
            <a:ext cx="5162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A7A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Distributed via email and social media (Facebook, Twitter, Instagram)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72200" y="1333500"/>
            <a:ext cx="5638800" cy="1619250"/>
          </a:xfrm>
          <a:custGeom>
            <a:avLst/>
            <a:gdLst/>
            <a:ahLst/>
            <a:cxnLst/>
            <a:rect l="l" t="t" r="r" b="b"/>
            <a:pathLst>
              <a:path w="5638800" h="1619250">
                <a:moveTo>
                  <a:pt x="76202" y="0"/>
                </a:moveTo>
                <a:lnTo>
                  <a:pt x="5562598" y="0"/>
                </a:lnTo>
                <a:cubicBezTo>
                  <a:pt x="5604683" y="0"/>
                  <a:pt x="5638800" y="34117"/>
                  <a:pt x="5638800" y="76202"/>
                </a:cubicBezTo>
                <a:lnTo>
                  <a:pt x="5638800" y="1543048"/>
                </a:lnTo>
                <a:cubicBezTo>
                  <a:pt x="5638800" y="1585133"/>
                  <a:pt x="5604683" y="1619250"/>
                  <a:pt x="5562598" y="1619250"/>
                </a:cubicBezTo>
                <a:lnTo>
                  <a:pt x="76202" y="1619250"/>
                </a:lnTo>
                <a:cubicBezTo>
                  <a:pt x="34117" y="1619250"/>
                  <a:pt x="0" y="1585133"/>
                  <a:pt x="0" y="154304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3A5C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6381750" y="15049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9035" y="14288"/>
                </a:moveTo>
                <a:lnTo>
                  <a:pt x="142875" y="14288"/>
                </a:lnTo>
                <a:cubicBezTo>
                  <a:pt x="158636" y="14288"/>
                  <a:pt x="171450" y="27102"/>
                  <a:pt x="171450" y="4286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32415" y="14288"/>
                </a:lnTo>
                <a:cubicBezTo>
                  <a:pt x="37326" y="5760"/>
                  <a:pt x="46568" y="0"/>
                  <a:pt x="57150" y="0"/>
                </a:cubicBezTo>
                <a:lnTo>
                  <a:pt x="114300" y="0"/>
                </a:lnTo>
                <a:cubicBezTo>
                  <a:pt x="124882" y="0"/>
                  <a:pt x="134124" y="5760"/>
                  <a:pt x="139035" y="14288"/>
                </a:cubicBezTo>
                <a:close/>
                <a:moveTo>
                  <a:pt x="110728" y="50006"/>
                </a:moveTo>
                <a:cubicBezTo>
                  <a:pt x="116666" y="50006"/>
                  <a:pt x="121444" y="45229"/>
                  <a:pt x="121444" y="39291"/>
                </a:cubicBezTo>
                <a:cubicBezTo>
                  <a:pt x="121444" y="33352"/>
                  <a:pt x="116666" y="28575"/>
                  <a:pt x="110728" y="28575"/>
                </a:cubicBezTo>
                <a:lnTo>
                  <a:pt x="60722" y="28575"/>
                </a:lnTo>
                <a:cubicBezTo>
                  <a:pt x="54784" y="28575"/>
                  <a:pt x="50006" y="33352"/>
                  <a:pt x="50006" y="39291"/>
                </a:cubicBezTo>
                <a:cubicBezTo>
                  <a:pt x="50006" y="45229"/>
                  <a:pt x="54784" y="50006"/>
                  <a:pt x="60722" y="50006"/>
                </a:cubicBezTo>
                <a:lnTo>
                  <a:pt x="110728" y="50006"/>
                </a:lnTo>
                <a:close/>
                <a:moveTo>
                  <a:pt x="57150" y="114300"/>
                </a:move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ubicBezTo>
                  <a:pt x="50748" y="128588"/>
                  <a:pt x="57150" y="122185"/>
                  <a:pt x="57150" y="114300"/>
                </a:cubicBezTo>
                <a:close/>
                <a:moveTo>
                  <a:pt x="71438" y="114300"/>
                </a:moveTo>
                <a:cubicBezTo>
                  <a:pt x="71438" y="120238"/>
                  <a:pt x="76215" y="125016"/>
                  <a:pt x="82153" y="125016"/>
                </a:cubicBezTo>
                <a:lnTo>
                  <a:pt x="132159" y="125016"/>
                </a:lnTo>
                <a:cubicBezTo>
                  <a:pt x="138098" y="125016"/>
                  <a:pt x="142875" y="120238"/>
                  <a:pt x="142875" y="114300"/>
                </a:cubicBezTo>
                <a:cubicBezTo>
                  <a:pt x="142875" y="108362"/>
                  <a:pt x="138098" y="103584"/>
                  <a:pt x="132159" y="103584"/>
                </a:cubicBezTo>
                <a:lnTo>
                  <a:pt x="82153" y="103584"/>
                </a:lnTo>
                <a:cubicBezTo>
                  <a:pt x="76215" y="103584"/>
                  <a:pt x="71438" y="108362"/>
                  <a:pt x="71438" y="114300"/>
                </a:cubicBezTo>
                <a:close/>
                <a:moveTo>
                  <a:pt x="71438" y="171450"/>
                </a:moveTo>
                <a:cubicBezTo>
                  <a:pt x="71438" y="177388"/>
                  <a:pt x="76215" y="182166"/>
                  <a:pt x="82153" y="182166"/>
                </a:cubicBezTo>
                <a:lnTo>
                  <a:pt x="132159" y="182166"/>
                </a:lnTo>
                <a:cubicBezTo>
                  <a:pt x="138098" y="182166"/>
                  <a:pt x="142875" y="177388"/>
                  <a:pt x="142875" y="171450"/>
                </a:cubicBezTo>
                <a:cubicBezTo>
                  <a:pt x="142875" y="165512"/>
                  <a:pt x="138098" y="160734"/>
                  <a:pt x="132159" y="160734"/>
                </a:cubicBezTo>
                <a:lnTo>
                  <a:pt x="82153" y="160734"/>
                </a:lnTo>
                <a:cubicBezTo>
                  <a:pt x="76215" y="160734"/>
                  <a:pt x="71438" y="165512"/>
                  <a:pt x="71438" y="171450"/>
                </a:cubicBezTo>
                <a:close/>
                <a:moveTo>
                  <a:pt x="42863" y="185738"/>
                </a:moveTo>
                <a:cubicBezTo>
                  <a:pt x="50748" y="185738"/>
                  <a:pt x="57150" y="179335"/>
                  <a:pt x="57150" y="171450"/>
                </a:cubicBezTo>
                <a:cubicBezTo>
                  <a:pt x="57150" y="163565"/>
                  <a:pt x="50748" y="157163"/>
                  <a:pt x="42863" y="157163"/>
                </a:cubicBezTo>
                <a:cubicBezTo>
                  <a:pt x="34977" y="157163"/>
                  <a:pt x="28575" y="163565"/>
                  <a:pt x="28575" y="171450"/>
                </a:cubicBezTo>
                <a:cubicBezTo>
                  <a:pt x="28575" y="179335"/>
                  <a:pt x="34977" y="185738"/>
                  <a:pt x="42863" y="185738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6724650" y="1485900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Measurement Scale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324600" y="1866900"/>
            <a:ext cx="5410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Five-point Likert Scale</a:t>
            </a: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adapted from established literature: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24600" y="2228850"/>
            <a:ext cx="5334000" cy="571500"/>
          </a:xfrm>
          <a:custGeom>
            <a:avLst/>
            <a:gdLst/>
            <a:ahLst/>
            <a:cxnLst/>
            <a:rect l="l" t="t" r="r" b="b"/>
            <a:pathLst>
              <a:path w="5334000" h="571500">
                <a:moveTo>
                  <a:pt x="38102" y="0"/>
                </a:moveTo>
                <a:lnTo>
                  <a:pt x="5295898" y="0"/>
                </a:lnTo>
                <a:cubicBezTo>
                  <a:pt x="5316941" y="0"/>
                  <a:pt x="5334000" y="17059"/>
                  <a:pt x="5334000" y="38102"/>
                </a:cubicBezTo>
                <a:lnTo>
                  <a:pt x="5334000" y="533398"/>
                </a:lnTo>
                <a:cubicBezTo>
                  <a:pt x="5334000" y="554441"/>
                  <a:pt x="5316941" y="571500"/>
                  <a:pt x="52958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6438900" y="2343150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 = Strongly Disagree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461328" y="2343150"/>
            <a:ext cx="115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 = Strongly Agree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38900" y="2609850"/>
            <a:ext cx="5105400" cy="76200"/>
          </a:xfrm>
          <a:custGeom>
            <a:avLst/>
            <a:gdLst/>
            <a:ahLst/>
            <a:cxnLst/>
            <a:rect l="l" t="t" r="r" b="b"/>
            <a:pathLst>
              <a:path w="5105400" h="76200">
                <a:moveTo>
                  <a:pt x="38100" y="0"/>
                </a:moveTo>
                <a:lnTo>
                  <a:pt x="5067300" y="0"/>
                </a:lnTo>
                <a:cubicBezTo>
                  <a:pt x="5088328" y="0"/>
                  <a:pt x="5105400" y="17072"/>
                  <a:pt x="5105400" y="38100"/>
                </a:cubicBezTo>
                <a:lnTo>
                  <a:pt x="5105400" y="38100"/>
                </a:lnTo>
                <a:cubicBezTo>
                  <a:pt x="5105400" y="59128"/>
                  <a:pt x="5088328" y="76200"/>
                  <a:pt x="50673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6438900" y="2609850"/>
            <a:ext cx="5105400" cy="76200"/>
          </a:xfrm>
          <a:custGeom>
            <a:avLst/>
            <a:gdLst/>
            <a:ahLst/>
            <a:cxnLst/>
            <a:rect l="l" t="t" r="r" b="b"/>
            <a:pathLst>
              <a:path w="5105400" h="76200">
                <a:moveTo>
                  <a:pt x="38100" y="0"/>
                </a:moveTo>
                <a:lnTo>
                  <a:pt x="5067300" y="0"/>
                </a:lnTo>
                <a:cubicBezTo>
                  <a:pt x="5088328" y="0"/>
                  <a:pt x="5105400" y="17072"/>
                  <a:pt x="5105400" y="38100"/>
                </a:cubicBezTo>
                <a:lnTo>
                  <a:pt x="5105400" y="38100"/>
                </a:lnTo>
                <a:cubicBezTo>
                  <a:pt x="5105400" y="59128"/>
                  <a:pt x="5088328" y="76200"/>
                  <a:pt x="50673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6172200" y="3067050"/>
            <a:ext cx="5638800" cy="2590800"/>
          </a:xfrm>
          <a:custGeom>
            <a:avLst/>
            <a:gdLst/>
            <a:ahLst/>
            <a:cxnLst/>
            <a:rect l="l" t="t" r="r" b="b"/>
            <a:pathLst>
              <a:path w="5638800" h="2590800">
                <a:moveTo>
                  <a:pt x="76195" y="0"/>
                </a:moveTo>
                <a:lnTo>
                  <a:pt x="5562605" y="0"/>
                </a:lnTo>
                <a:cubicBezTo>
                  <a:pt x="5604658" y="0"/>
                  <a:pt x="5638800" y="34142"/>
                  <a:pt x="5638800" y="76195"/>
                </a:cubicBezTo>
                <a:lnTo>
                  <a:pt x="5638800" y="2514605"/>
                </a:lnTo>
                <a:cubicBezTo>
                  <a:pt x="5638800" y="2556686"/>
                  <a:pt x="5604686" y="2590800"/>
                  <a:pt x="5562605" y="2590800"/>
                </a:cubicBezTo>
                <a:lnTo>
                  <a:pt x="76195" y="2590800"/>
                </a:lnTo>
                <a:cubicBezTo>
                  <a:pt x="34142" y="2590800"/>
                  <a:pt x="0" y="2556658"/>
                  <a:pt x="0" y="25146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6353175" y="3238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214313" y="185738"/>
                </a:lnTo>
                <a:cubicBezTo>
                  <a:pt x="222215" y="185738"/>
                  <a:pt x="228600" y="192122"/>
                  <a:pt x="228600" y="200025"/>
                </a:cubicBezTo>
                <a:cubicBezTo>
                  <a:pt x="228600" y="207928"/>
                  <a:pt x="222215" y="214313"/>
                  <a:pt x="214313" y="214313"/>
                </a:cubicBezTo>
                <a:lnTo>
                  <a:pt x="35719" y="214313"/>
                </a:lnTo>
                <a:cubicBezTo>
                  <a:pt x="15984" y="214313"/>
                  <a:pt x="0" y="198328"/>
                  <a:pt x="0" y="178594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57150" y="42863"/>
                </a:moveTo>
                <a:cubicBezTo>
                  <a:pt x="57150" y="34960"/>
                  <a:pt x="63535" y="28575"/>
                  <a:pt x="71438" y="28575"/>
                </a:cubicBezTo>
                <a:lnTo>
                  <a:pt x="157163" y="28575"/>
                </a:lnTo>
                <a:cubicBezTo>
                  <a:pt x="165065" y="28575"/>
                  <a:pt x="171450" y="34960"/>
                  <a:pt x="171450" y="42863"/>
                </a:cubicBezTo>
                <a:cubicBezTo>
                  <a:pt x="171450" y="50765"/>
                  <a:pt x="165065" y="57150"/>
                  <a:pt x="157163" y="57150"/>
                </a:cubicBezTo>
                <a:lnTo>
                  <a:pt x="71438" y="57150"/>
                </a:lnTo>
                <a:cubicBezTo>
                  <a:pt x="63535" y="57150"/>
                  <a:pt x="57150" y="50765"/>
                  <a:pt x="57150" y="42863"/>
                </a:cubicBezTo>
                <a:close/>
                <a:moveTo>
                  <a:pt x="71438" y="78581"/>
                </a:moveTo>
                <a:lnTo>
                  <a:pt x="128588" y="78581"/>
                </a:lnTo>
                <a:cubicBezTo>
                  <a:pt x="136490" y="78581"/>
                  <a:pt x="142875" y="84966"/>
                  <a:pt x="142875" y="92869"/>
                </a:cubicBezTo>
                <a:cubicBezTo>
                  <a:pt x="142875" y="100772"/>
                  <a:pt x="136490" y="107156"/>
                  <a:pt x="128588" y="107156"/>
                </a:cubicBezTo>
                <a:lnTo>
                  <a:pt x="71438" y="107156"/>
                </a:lnTo>
                <a:cubicBezTo>
                  <a:pt x="63535" y="107156"/>
                  <a:pt x="57150" y="100772"/>
                  <a:pt x="57150" y="92869"/>
                </a:cubicBezTo>
                <a:cubicBezTo>
                  <a:pt x="57150" y="84966"/>
                  <a:pt x="63535" y="78581"/>
                  <a:pt x="71438" y="78581"/>
                </a:cubicBezTo>
                <a:close/>
                <a:moveTo>
                  <a:pt x="71438" y="128588"/>
                </a:moveTo>
                <a:lnTo>
                  <a:pt x="185738" y="128588"/>
                </a:lnTo>
                <a:cubicBezTo>
                  <a:pt x="193640" y="128588"/>
                  <a:pt x="200025" y="134972"/>
                  <a:pt x="200025" y="142875"/>
                </a:cubicBezTo>
                <a:cubicBezTo>
                  <a:pt x="200025" y="150778"/>
                  <a:pt x="193640" y="157163"/>
                  <a:pt x="185738" y="157163"/>
                </a:cubicBezTo>
                <a:lnTo>
                  <a:pt x="71438" y="157163"/>
                </a:lnTo>
                <a:cubicBezTo>
                  <a:pt x="63535" y="157163"/>
                  <a:pt x="57150" y="150778"/>
                  <a:pt x="57150" y="142875"/>
                </a:cubicBezTo>
                <a:cubicBezTo>
                  <a:pt x="57150" y="134972"/>
                  <a:pt x="63535" y="128588"/>
                  <a:pt x="71438" y="128588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6724650" y="3219450"/>
            <a:ext cx="1133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Data Analysis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24600" y="3600450"/>
            <a:ext cx="5410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SPSS Software</a:t>
            </a: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comprehensive statistical analysis: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24600" y="3962400"/>
            <a:ext cx="5334000" cy="342900"/>
          </a:xfrm>
          <a:custGeom>
            <a:avLst/>
            <a:gdLst/>
            <a:ahLst/>
            <a:cxnLst/>
            <a:rect l="l" t="t" r="r" b="b"/>
            <a:pathLst>
              <a:path w="5334000" h="34290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04800"/>
                </a:lnTo>
                <a:cubicBezTo>
                  <a:pt x="5334000" y="325842"/>
                  <a:pt x="5316942" y="342900"/>
                  <a:pt x="5295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6457950" y="40576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6667500" y="4038600"/>
            <a:ext cx="131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Descriptive Statistics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24600" y="4362450"/>
            <a:ext cx="5334000" cy="342900"/>
          </a:xfrm>
          <a:custGeom>
            <a:avLst/>
            <a:gdLst/>
            <a:ahLst/>
            <a:cxnLst/>
            <a:rect l="l" t="t" r="r" b="b"/>
            <a:pathLst>
              <a:path w="5334000" h="34290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04800"/>
                </a:lnTo>
                <a:cubicBezTo>
                  <a:pt x="5334000" y="325842"/>
                  <a:pt x="5316942" y="342900"/>
                  <a:pt x="5295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6457950" y="44577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Text 55"/>
          <p:cNvSpPr/>
          <p:nvPr/>
        </p:nvSpPr>
        <p:spPr>
          <a:xfrm>
            <a:off x="6667500" y="4438650"/>
            <a:ext cx="2038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Exploratory Factor Analysis (EFA)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24600" y="4762500"/>
            <a:ext cx="5334000" cy="342900"/>
          </a:xfrm>
          <a:custGeom>
            <a:avLst/>
            <a:gdLst/>
            <a:ahLst/>
            <a:cxnLst/>
            <a:rect l="l" t="t" r="r" b="b"/>
            <a:pathLst>
              <a:path w="5334000" h="34290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04800"/>
                </a:lnTo>
                <a:cubicBezTo>
                  <a:pt x="5334000" y="325842"/>
                  <a:pt x="5316942" y="342900"/>
                  <a:pt x="5295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9" name="Shape 57"/>
          <p:cNvSpPr/>
          <p:nvPr/>
        </p:nvSpPr>
        <p:spPr>
          <a:xfrm>
            <a:off x="6457950" y="48577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" name="Text 58"/>
          <p:cNvSpPr/>
          <p:nvPr/>
        </p:nvSpPr>
        <p:spPr>
          <a:xfrm>
            <a:off x="6667500" y="4838700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Pearson Correlation Analysis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324600" y="5162550"/>
            <a:ext cx="5334000" cy="342900"/>
          </a:xfrm>
          <a:custGeom>
            <a:avLst/>
            <a:gdLst/>
            <a:ahLst/>
            <a:cxnLst/>
            <a:rect l="l" t="t" r="r" b="b"/>
            <a:pathLst>
              <a:path w="5334000" h="34290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04800"/>
                </a:lnTo>
                <a:cubicBezTo>
                  <a:pt x="5334000" y="325842"/>
                  <a:pt x="5316942" y="342900"/>
                  <a:pt x="5295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2" name="Shape 60"/>
          <p:cNvSpPr/>
          <p:nvPr/>
        </p:nvSpPr>
        <p:spPr>
          <a:xfrm>
            <a:off x="6457950" y="52578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3" name="Text 61"/>
          <p:cNvSpPr/>
          <p:nvPr/>
        </p:nvSpPr>
        <p:spPr>
          <a:xfrm>
            <a:off x="6667500" y="5238750"/>
            <a:ext cx="2028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Linear Regression (MLR)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C5A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3A5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Sample Demographics &amp; Profile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81000" y="1333500"/>
            <a:ext cx="5638800" cy="2362200"/>
          </a:xfrm>
          <a:custGeom>
            <a:avLst/>
            <a:gdLst/>
            <a:ahLst/>
            <a:cxnLst/>
            <a:rect l="l" t="t" r="r" b="b"/>
            <a:pathLst>
              <a:path w="5638800" h="2362200">
                <a:moveTo>
                  <a:pt x="76205" y="0"/>
                </a:moveTo>
                <a:lnTo>
                  <a:pt x="5562595" y="0"/>
                </a:lnTo>
                <a:cubicBezTo>
                  <a:pt x="5604654" y="0"/>
                  <a:pt x="5638800" y="34146"/>
                  <a:pt x="5638800" y="76205"/>
                </a:cubicBezTo>
                <a:lnTo>
                  <a:pt x="5638800" y="2285995"/>
                </a:lnTo>
                <a:cubicBezTo>
                  <a:pt x="5638800" y="2328082"/>
                  <a:pt x="5604682" y="2362200"/>
                  <a:pt x="5562595" y="2362200"/>
                </a:cubicBezTo>
                <a:lnTo>
                  <a:pt x="76205" y="2362200"/>
                </a:lnTo>
                <a:cubicBezTo>
                  <a:pt x="34146" y="2362200"/>
                  <a:pt x="0" y="2328054"/>
                  <a:pt x="0" y="22859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90538" y="1485900"/>
            <a:ext cx="541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Gender Distribution (n=129)</a:t>
            </a:r>
            <a:endParaRPr lang="en-US" sz="1600" dirty="0"/>
          </a:p>
        </p:txBody>
      </p:sp>
      <p:pic>
        <p:nvPicPr>
          <p:cNvPr id="7" name="Image 0" descr="https://kimi-img.moonshot.cn/pub/slides/26-03-18-19:15:54-d6t8iqnvg7e2499o0qi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3400" y="1828800"/>
            <a:ext cx="5334000" cy="1714500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381000" y="3810000"/>
            <a:ext cx="5638800" cy="2362200"/>
          </a:xfrm>
          <a:custGeom>
            <a:avLst/>
            <a:gdLst/>
            <a:ahLst/>
            <a:cxnLst/>
            <a:rect l="l" t="t" r="r" b="b"/>
            <a:pathLst>
              <a:path w="5638800" h="2362200">
                <a:moveTo>
                  <a:pt x="76205" y="0"/>
                </a:moveTo>
                <a:lnTo>
                  <a:pt x="5562595" y="0"/>
                </a:lnTo>
                <a:cubicBezTo>
                  <a:pt x="5604654" y="0"/>
                  <a:pt x="5638800" y="34146"/>
                  <a:pt x="5638800" y="76205"/>
                </a:cubicBezTo>
                <a:lnTo>
                  <a:pt x="5638800" y="2285995"/>
                </a:lnTo>
                <a:cubicBezTo>
                  <a:pt x="5638800" y="2328082"/>
                  <a:pt x="5604682" y="2362200"/>
                  <a:pt x="5562595" y="2362200"/>
                </a:cubicBezTo>
                <a:lnTo>
                  <a:pt x="76205" y="2362200"/>
                </a:lnTo>
                <a:cubicBezTo>
                  <a:pt x="34146" y="2362200"/>
                  <a:pt x="0" y="2328054"/>
                  <a:pt x="0" y="22859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490538" y="3962400"/>
            <a:ext cx="541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Age Composition</a:t>
            </a:r>
            <a:endParaRPr lang="en-US" sz="1600" dirty="0"/>
          </a:p>
        </p:txBody>
      </p:sp>
      <p:pic>
        <p:nvPicPr>
          <p:cNvPr id="10" name="Image 1" descr="https://kimi-img.moonshot.cn/pub/slides/26-03-18-19:15:54-d6t8iqkchmthi8joclr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3400" y="4305300"/>
            <a:ext cx="5334000" cy="1714500"/>
          </a:xfrm>
          <a:prstGeom prst="roundRect">
            <a:avLst>
              <a:gd name="adj" fmla="val 0"/>
            </a:avLst>
          </a:prstGeom>
        </p:spPr>
      </p:pic>
      <p:sp>
        <p:nvSpPr>
          <p:cNvPr id="11" name="Shape 7"/>
          <p:cNvSpPr/>
          <p:nvPr/>
        </p:nvSpPr>
        <p:spPr>
          <a:xfrm>
            <a:off x="6172200" y="1333500"/>
            <a:ext cx="5638800" cy="2781300"/>
          </a:xfrm>
          <a:custGeom>
            <a:avLst/>
            <a:gdLst/>
            <a:ahLst/>
            <a:cxnLst/>
            <a:rect l="l" t="t" r="r" b="b"/>
            <a:pathLst>
              <a:path w="5638800" h="2781300">
                <a:moveTo>
                  <a:pt x="76208" y="0"/>
                </a:moveTo>
                <a:lnTo>
                  <a:pt x="5562592" y="0"/>
                </a:lnTo>
                <a:cubicBezTo>
                  <a:pt x="5604681" y="0"/>
                  <a:pt x="5638800" y="34119"/>
                  <a:pt x="5638800" y="76208"/>
                </a:cubicBezTo>
                <a:lnTo>
                  <a:pt x="5638800" y="2705092"/>
                </a:lnTo>
                <a:cubicBezTo>
                  <a:pt x="5638800" y="2747181"/>
                  <a:pt x="5604681" y="2781300"/>
                  <a:pt x="5562592" y="2781300"/>
                </a:cubicBezTo>
                <a:lnTo>
                  <a:pt x="76208" y="2781300"/>
                </a:lnTo>
                <a:cubicBezTo>
                  <a:pt x="34119" y="2781300"/>
                  <a:pt x="0" y="2747181"/>
                  <a:pt x="0" y="2705092"/>
                </a:cubicBezTo>
                <a:lnTo>
                  <a:pt x="0" y="76208"/>
                </a:lnTo>
                <a:cubicBezTo>
                  <a:pt x="0" y="34119"/>
                  <a:pt x="34119" y="0"/>
                  <a:pt x="76208" y="0"/>
                </a:cubicBezTo>
                <a:close/>
              </a:path>
            </a:pathLst>
          </a:custGeom>
          <a:solidFill>
            <a:srgbClr val="1A3A5C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/>
          <p:nvPr/>
        </p:nvSpPr>
        <p:spPr>
          <a:xfrm>
            <a:off x="6324600" y="1485900"/>
            <a:ext cx="541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Key Demographic Insights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365081" y="190500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45541" y="8037"/>
                </a:moveTo>
                <a:cubicBezTo>
                  <a:pt x="45541" y="-2313"/>
                  <a:pt x="53944" y="-10716"/>
                  <a:pt x="64294" y="-10716"/>
                </a:cubicBezTo>
                <a:cubicBezTo>
                  <a:pt x="74643" y="-10716"/>
                  <a:pt x="83046" y="-2313"/>
                  <a:pt x="83046" y="8037"/>
                </a:cubicBezTo>
                <a:cubicBezTo>
                  <a:pt x="83046" y="18386"/>
                  <a:pt x="74643" y="26789"/>
                  <a:pt x="64294" y="26789"/>
                </a:cubicBezTo>
                <a:cubicBezTo>
                  <a:pt x="53944" y="26789"/>
                  <a:pt x="45541" y="18386"/>
                  <a:pt x="45541" y="8037"/>
                </a:cubicBezTo>
                <a:close/>
                <a:moveTo>
                  <a:pt x="37505" y="128588"/>
                </a:moveTo>
                <a:lnTo>
                  <a:pt x="28865" y="128588"/>
                </a:lnTo>
                <a:cubicBezTo>
                  <a:pt x="25215" y="128588"/>
                  <a:pt x="22637" y="125004"/>
                  <a:pt x="23775" y="121522"/>
                </a:cubicBezTo>
                <a:lnTo>
                  <a:pt x="38174" y="78325"/>
                </a:lnTo>
                <a:lnTo>
                  <a:pt x="22001" y="100124"/>
                </a:lnTo>
                <a:cubicBezTo>
                  <a:pt x="18484" y="104879"/>
                  <a:pt x="11754" y="105884"/>
                  <a:pt x="6999" y="102334"/>
                </a:cubicBezTo>
                <a:cubicBezTo>
                  <a:pt x="2244" y="98785"/>
                  <a:pt x="1239" y="92087"/>
                  <a:pt x="4789" y="87332"/>
                </a:cubicBezTo>
                <a:lnTo>
                  <a:pt x="28396" y="55520"/>
                </a:lnTo>
                <a:cubicBezTo>
                  <a:pt x="36835" y="44202"/>
                  <a:pt x="50129" y="37505"/>
                  <a:pt x="64294" y="37505"/>
                </a:cubicBezTo>
                <a:cubicBezTo>
                  <a:pt x="78458" y="37505"/>
                  <a:pt x="91753" y="44202"/>
                  <a:pt x="100191" y="55554"/>
                </a:cubicBezTo>
                <a:lnTo>
                  <a:pt x="123799" y="87366"/>
                </a:lnTo>
                <a:cubicBezTo>
                  <a:pt x="127315" y="92121"/>
                  <a:pt x="126344" y="98818"/>
                  <a:pt x="121589" y="102368"/>
                </a:cubicBezTo>
                <a:cubicBezTo>
                  <a:pt x="116834" y="105917"/>
                  <a:pt x="110137" y="104913"/>
                  <a:pt x="106587" y="100158"/>
                </a:cubicBezTo>
                <a:lnTo>
                  <a:pt x="90413" y="78358"/>
                </a:lnTo>
                <a:lnTo>
                  <a:pt x="104812" y="121522"/>
                </a:lnTo>
                <a:cubicBezTo>
                  <a:pt x="105984" y="125004"/>
                  <a:pt x="103372" y="128588"/>
                  <a:pt x="99722" y="128588"/>
                </a:cubicBezTo>
                <a:lnTo>
                  <a:pt x="91083" y="128588"/>
                </a:lnTo>
                <a:lnTo>
                  <a:pt x="91083" y="171450"/>
                </a:lnTo>
                <a:cubicBezTo>
                  <a:pt x="91083" y="177377"/>
                  <a:pt x="86294" y="182166"/>
                  <a:pt x="80367" y="182166"/>
                </a:cubicBezTo>
                <a:cubicBezTo>
                  <a:pt x="74440" y="182166"/>
                  <a:pt x="69652" y="177377"/>
                  <a:pt x="69652" y="171450"/>
                </a:cubicBezTo>
                <a:lnTo>
                  <a:pt x="69652" y="128588"/>
                </a:lnTo>
                <a:lnTo>
                  <a:pt x="58936" y="128588"/>
                </a:lnTo>
                <a:lnTo>
                  <a:pt x="58936" y="171450"/>
                </a:lnTo>
                <a:cubicBezTo>
                  <a:pt x="58936" y="177377"/>
                  <a:pt x="54147" y="182166"/>
                  <a:pt x="48220" y="182166"/>
                </a:cubicBezTo>
                <a:cubicBezTo>
                  <a:pt x="42293" y="182166"/>
                  <a:pt x="37505" y="177377"/>
                  <a:pt x="37505" y="171450"/>
                </a:cubicBezTo>
                <a:lnTo>
                  <a:pt x="37505" y="128588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/>
          <p:nvPr/>
        </p:nvSpPr>
        <p:spPr>
          <a:xfrm>
            <a:off x="6646168" y="1866900"/>
            <a:ext cx="508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Female Dominance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646168" y="2095500"/>
            <a:ext cx="5076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66.7% of respondents are female, indicating higher online grocery interest among women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359128" y="259080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80803" y="-4353"/>
                </a:moveTo>
                <a:cubicBezTo>
                  <a:pt x="76985" y="-5123"/>
                  <a:pt x="73067" y="-5123"/>
                  <a:pt x="69250" y="-4353"/>
                </a:cubicBezTo>
                <a:lnTo>
                  <a:pt x="6463" y="8204"/>
                </a:lnTo>
                <a:cubicBezTo>
                  <a:pt x="2712" y="8941"/>
                  <a:pt x="0" y="12256"/>
                  <a:pt x="0" y="16073"/>
                </a:cubicBezTo>
                <a:cubicBezTo>
                  <a:pt x="0" y="19523"/>
                  <a:pt x="2177" y="22536"/>
                  <a:pt x="5358" y="23641"/>
                </a:cubicBezTo>
                <a:lnTo>
                  <a:pt x="5358" y="48220"/>
                </a:lnTo>
                <a:lnTo>
                  <a:pt x="100" y="74541"/>
                </a:lnTo>
                <a:cubicBezTo>
                  <a:pt x="33" y="74842"/>
                  <a:pt x="0" y="75177"/>
                  <a:pt x="0" y="75512"/>
                </a:cubicBezTo>
                <a:cubicBezTo>
                  <a:pt x="0" y="78191"/>
                  <a:pt x="2177" y="80401"/>
                  <a:pt x="4889" y="80401"/>
                </a:cubicBezTo>
                <a:lnTo>
                  <a:pt x="16576" y="80401"/>
                </a:lnTo>
                <a:cubicBezTo>
                  <a:pt x="19255" y="80401"/>
                  <a:pt x="21465" y="78224"/>
                  <a:pt x="21465" y="75512"/>
                </a:cubicBezTo>
                <a:cubicBezTo>
                  <a:pt x="21465" y="75177"/>
                  <a:pt x="21431" y="74875"/>
                  <a:pt x="21364" y="74541"/>
                </a:cubicBezTo>
                <a:lnTo>
                  <a:pt x="16073" y="48220"/>
                </a:lnTo>
                <a:lnTo>
                  <a:pt x="16073" y="25885"/>
                </a:lnTo>
                <a:lnTo>
                  <a:pt x="32147" y="29100"/>
                </a:lnTo>
                <a:lnTo>
                  <a:pt x="32147" y="48220"/>
                </a:lnTo>
                <a:cubicBezTo>
                  <a:pt x="32147" y="71895"/>
                  <a:pt x="51335" y="91083"/>
                  <a:pt x="75009" y="91083"/>
                </a:cubicBezTo>
                <a:cubicBezTo>
                  <a:pt x="98684" y="91083"/>
                  <a:pt x="117872" y="71895"/>
                  <a:pt x="117872" y="48220"/>
                </a:cubicBezTo>
                <a:lnTo>
                  <a:pt x="117872" y="29100"/>
                </a:lnTo>
                <a:lnTo>
                  <a:pt x="143556" y="23976"/>
                </a:lnTo>
                <a:cubicBezTo>
                  <a:pt x="147306" y="23206"/>
                  <a:pt x="150019" y="19891"/>
                  <a:pt x="150019" y="16073"/>
                </a:cubicBezTo>
                <a:cubicBezTo>
                  <a:pt x="150019" y="12256"/>
                  <a:pt x="147306" y="8941"/>
                  <a:pt x="143556" y="8204"/>
                </a:cubicBezTo>
                <a:lnTo>
                  <a:pt x="80803" y="-4353"/>
                </a:lnTo>
                <a:close/>
                <a:moveTo>
                  <a:pt x="75009" y="75009"/>
                </a:moveTo>
                <a:cubicBezTo>
                  <a:pt x="60208" y="75009"/>
                  <a:pt x="48220" y="63021"/>
                  <a:pt x="48220" y="48220"/>
                </a:cubicBezTo>
                <a:lnTo>
                  <a:pt x="101798" y="48220"/>
                </a:lnTo>
                <a:cubicBezTo>
                  <a:pt x="101798" y="63021"/>
                  <a:pt x="89810" y="75009"/>
                  <a:pt x="75009" y="75009"/>
                </a:cubicBezTo>
                <a:close/>
                <a:moveTo>
                  <a:pt x="40217" y="107190"/>
                </a:moveTo>
                <a:cubicBezTo>
                  <a:pt x="19656" y="116633"/>
                  <a:pt x="5358" y="137394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66973" y="171450"/>
                </a:lnTo>
                <a:lnTo>
                  <a:pt x="66973" y="122560"/>
                </a:lnTo>
                <a:lnTo>
                  <a:pt x="47752" y="108161"/>
                </a:lnTo>
                <a:cubicBezTo>
                  <a:pt x="45575" y="106520"/>
                  <a:pt x="42662" y="106085"/>
                  <a:pt x="40184" y="107223"/>
                </a:cubicBezTo>
                <a:close/>
                <a:moveTo>
                  <a:pt x="83046" y="171450"/>
                </a:moveTo>
                <a:lnTo>
                  <a:pt x="134715" y="171450"/>
                </a:lnTo>
                <a:cubicBezTo>
                  <a:pt x="140207" y="171450"/>
                  <a:pt x="144661" y="166996"/>
                  <a:pt x="144661" y="161505"/>
                </a:cubicBezTo>
                <a:cubicBezTo>
                  <a:pt x="144661" y="137394"/>
                  <a:pt x="130362" y="116633"/>
                  <a:pt x="109802" y="107223"/>
                </a:cubicBezTo>
                <a:cubicBezTo>
                  <a:pt x="107324" y="106085"/>
                  <a:pt x="104410" y="106520"/>
                  <a:pt x="102234" y="108161"/>
                </a:cubicBezTo>
                <a:lnTo>
                  <a:pt x="83013" y="122560"/>
                </a:lnTo>
                <a:lnTo>
                  <a:pt x="83013" y="171450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3"/>
          <p:cNvSpPr/>
          <p:nvPr/>
        </p:nvSpPr>
        <p:spPr>
          <a:xfrm>
            <a:off x="6653213" y="2552700"/>
            <a:ext cx="3648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Generation Y Focus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653213" y="2781300"/>
            <a:ext cx="3638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54.6% aged 21-29 years, representing tech-savvy consumers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369844" y="308610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5358" y="21431"/>
                </a:moveTo>
                <a:cubicBezTo>
                  <a:pt x="5358" y="9611"/>
                  <a:pt x="14968" y="0"/>
                  <a:pt x="26789" y="0"/>
                </a:cubicBezTo>
                <a:lnTo>
                  <a:pt x="101798" y="0"/>
                </a:lnTo>
                <a:cubicBezTo>
                  <a:pt x="113619" y="0"/>
                  <a:pt x="123230" y="9611"/>
                  <a:pt x="123230" y="21431"/>
                </a:cubicBezTo>
                <a:lnTo>
                  <a:pt x="123230" y="150019"/>
                </a:lnTo>
                <a:cubicBezTo>
                  <a:pt x="123230" y="161839"/>
                  <a:pt x="113619" y="171450"/>
                  <a:pt x="101798" y="171450"/>
                </a:cubicBezTo>
                <a:lnTo>
                  <a:pt x="26789" y="171450"/>
                </a:lnTo>
                <a:cubicBezTo>
                  <a:pt x="14968" y="171450"/>
                  <a:pt x="5358" y="161839"/>
                  <a:pt x="5358" y="150019"/>
                </a:cubicBezTo>
                <a:lnTo>
                  <a:pt x="5358" y="21431"/>
                </a:lnTo>
                <a:close/>
                <a:moveTo>
                  <a:pt x="26789" y="21431"/>
                </a:moveTo>
                <a:lnTo>
                  <a:pt x="26789" y="123230"/>
                </a:lnTo>
                <a:lnTo>
                  <a:pt x="101798" y="123230"/>
                </a:lnTo>
                <a:lnTo>
                  <a:pt x="101798" y="21431"/>
                </a:lnTo>
                <a:lnTo>
                  <a:pt x="26789" y="21431"/>
                </a:lnTo>
                <a:close/>
                <a:moveTo>
                  <a:pt x="64294" y="158055"/>
                </a:moveTo>
                <a:cubicBezTo>
                  <a:pt x="70221" y="158055"/>
                  <a:pt x="75009" y="153267"/>
                  <a:pt x="75009" y="147340"/>
                </a:cubicBezTo>
                <a:cubicBezTo>
                  <a:pt x="75009" y="141413"/>
                  <a:pt x="70221" y="136624"/>
                  <a:pt x="64294" y="136624"/>
                </a:cubicBezTo>
                <a:cubicBezTo>
                  <a:pt x="58367" y="136624"/>
                  <a:pt x="53578" y="141413"/>
                  <a:pt x="53578" y="147340"/>
                </a:cubicBezTo>
                <a:cubicBezTo>
                  <a:pt x="53578" y="153267"/>
                  <a:pt x="58367" y="158055"/>
                  <a:pt x="64294" y="158055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6"/>
          <p:cNvSpPr/>
          <p:nvPr/>
        </p:nvSpPr>
        <p:spPr>
          <a:xfrm>
            <a:off x="6653213" y="3048000"/>
            <a:ext cx="2676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Smartphone Preference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653213" y="327660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67.7% use smartphones for online purchases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6359128" y="358140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53578" y="26789"/>
                </a:moveTo>
                <a:cubicBezTo>
                  <a:pt x="53578" y="14968"/>
                  <a:pt x="63189" y="5358"/>
                  <a:pt x="75009" y="5358"/>
                </a:cubicBezTo>
                <a:cubicBezTo>
                  <a:pt x="86830" y="5358"/>
                  <a:pt x="96441" y="14968"/>
                  <a:pt x="96441" y="26789"/>
                </a:cubicBezTo>
                <a:lnTo>
                  <a:pt x="96441" y="42863"/>
                </a:lnTo>
                <a:lnTo>
                  <a:pt x="53578" y="42863"/>
                </a:lnTo>
                <a:lnTo>
                  <a:pt x="53578" y="26789"/>
                </a:lnTo>
                <a:close/>
                <a:moveTo>
                  <a:pt x="37505" y="42863"/>
                </a:moveTo>
                <a:lnTo>
                  <a:pt x="16073" y="42863"/>
                </a:lnTo>
                <a:cubicBezTo>
                  <a:pt x="7200" y="42863"/>
                  <a:pt x="0" y="50062"/>
                  <a:pt x="0" y="58936"/>
                </a:cubicBezTo>
                <a:lnTo>
                  <a:pt x="0" y="128588"/>
                </a:lnTo>
                <a:cubicBezTo>
                  <a:pt x="0" y="146335"/>
                  <a:pt x="14399" y="160734"/>
                  <a:pt x="32147" y="160734"/>
                </a:cubicBezTo>
                <a:lnTo>
                  <a:pt x="117872" y="160734"/>
                </a:lnTo>
                <a:cubicBezTo>
                  <a:pt x="135620" y="160734"/>
                  <a:pt x="150019" y="146335"/>
                  <a:pt x="150019" y="128588"/>
                </a:cubicBezTo>
                <a:lnTo>
                  <a:pt x="150019" y="58936"/>
                </a:lnTo>
                <a:cubicBezTo>
                  <a:pt x="150019" y="50062"/>
                  <a:pt x="142819" y="42863"/>
                  <a:pt x="133945" y="42863"/>
                </a:cubicBezTo>
                <a:lnTo>
                  <a:pt x="112514" y="42863"/>
                </a:lnTo>
                <a:lnTo>
                  <a:pt x="112514" y="26789"/>
                </a:lnTo>
                <a:cubicBezTo>
                  <a:pt x="112514" y="6061"/>
                  <a:pt x="95737" y="-10716"/>
                  <a:pt x="75009" y="-10716"/>
                </a:cubicBezTo>
                <a:cubicBezTo>
                  <a:pt x="54281" y="-10716"/>
                  <a:pt x="37505" y="6061"/>
                  <a:pt x="37505" y="26789"/>
                </a:cubicBezTo>
                <a:lnTo>
                  <a:pt x="37505" y="42863"/>
                </a:lnTo>
                <a:close/>
                <a:moveTo>
                  <a:pt x="45541" y="58936"/>
                </a:moveTo>
                <a:cubicBezTo>
                  <a:pt x="49977" y="58936"/>
                  <a:pt x="53578" y="62537"/>
                  <a:pt x="53578" y="66973"/>
                </a:cubicBezTo>
                <a:cubicBezTo>
                  <a:pt x="53578" y="71408"/>
                  <a:pt x="49977" y="75009"/>
                  <a:pt x="45541" y="75009"/>
                </a:cubicBezTo>
                <a:cubicBezTo>
                  <a:pt x="41106" y="75009"/>
                  <a:pt x="37505" y="71408"/>
                  <a:pt x="37505" y="66973"/>
                </a:cubicBezTo>
                <a:cubicBezTo>
                  <a:pt x="37505" y="62537"/>
                  <a:pt x="41106" y="58936"/>
                  <a:pt x="45541" y="58936"/>
                </a:cubicBezTo>
                <a:close/>
                <a:moveTo>
                  <a:pt x="96441" y="66973"/>
                </a:moveTo>
                <a:cubicBezTo>
                  <a:pt x="96441" y="62537"/>
                  <a:pt x="100042" y="58936"/>
                  <a:pt x="104477" y="58936"/>
                </a:cubicBezTo>
                <a:cubicBezTo>
                  <a:pt x="108913" y="58936"/>
                  <a:pt x="112514" y="62537"/>
                  <a:pt x="112514" y="66973"/>
                </a:cubicBezTo>
                <a:cubicBezTo>
                  <a:pt x="112514" y="71408"/>
                  <a:pt x="108913" y="75009"/>
                  <a:pt x="104477" y="75009"/>
                </a:cubicBezTo>
                <a:cubicBezTo>
                  <a:pt x="100042" y="75009"/>
                  <a:pt x="96441" y="71408"/>
                  <a:pt x="96441" y="66973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19"/>
          <p:cNvSpPr/>
          <p:nvPr/>
        </p:nvSpPr>
        <p:spPr>
          <a:xfrm>
            <a:off x="6653213" y="3543300"/>
            <a:ext cx="3305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Moderate Engagement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6653213" y="3771900"/>
            <a:ext cx="3295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54.6% shop 1-3 times monthly; 63.8% spend &lt;500 SGD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6172200" y="4229100"/>
            <a:ext cx="5638800" cy="1943100"/>
          </a:xfrm>
          <a:custGeom>
            <a:avLst/>
            <a:gdLst/>
            <a:ahLst/>
            <a:cxnLst/>
            <a:rect l="l" t="t" r="r" b="b"/>
            <a:pathLst>
              <a:path w="5638800" h="1943100">
                <a:moveTo>
                  <a:pt x="76208" y="0"/>
                </a:moveTo>
                <a:lnTo>
                  <a:pt x="5562592" y="0"/>
                </a:lnTo>
                <a:cubicBezTo>
                  <a:pt x="5604680" y="0"/>
                  <a:pt x="5638800" y="34120"/>
                  <a:pt x="5638800" y="76208"/>
                </a:cubicBezTo>
                <a:lnTo>
                  <a:pt x="5638800" y="1866892"/>
                </a:lnTo>
                <a:cubicBezTo>
                  <a:pt x="5638800" y="1908980"/>
                  <a:pt x="5604680" y="1943100"/>
                  <a:pt x="5562592" y="1943100"/>
                </a:cubicBezTo>
                <a:lnTo>
                  <a:pt x="76208" y="1943100"/>
                </a:lnTo>
                <a:cubicBezTo>
                  <a:pt x="34120" y="1943100"/>
                  <a:pt x="0" y="1908980"/>
                  <a:pt x="0" y="18668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Text 22"/>
          <p:cNvSpPr/>
          <p:nvPr/>
        </p:nvSpPr>
        <p:spPr>
          <a:xfrm>
            <a:off x="6324600" y="4381500"/>
            <a:ext cx="541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Occupation &amp; Internet Usage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6324600" y="4724400"/>
            <a:ext cx="5334000" cy="381000"/>
          </a:xfrm>
          <a:custGeom>
            <a:avLst/>
            <a:gdLst/>
            <a:ahLst/>
            <a:cxnLst/>
            <a:rect l="l" t="t" r="r" b="b"/>
            <a:pathLst>
              <a:path w="5334000" h="381000">
                <a:moveTo>
                  <a:pt x="38100" y="0"/>
                </a:moveTo>
                <a:lnTo>
                  <a:pt x="5295900" y="0"/>
                </a:lnTo>
                <a:cubicBezTo>
                  <a:pt x="5316928" y="0"/>
                  <a:pt x="5334000" y="17072"/>
                  <a:pt x="5334000" y="38100"/>
                </a:cubicBezTo>
                <a:lnTo>
                  <a:pt x="5334000" y="342900"/>
                </a:lnTo>
                <a:cubicBezTo>
                  <a:pt x="5334000" y="363928"/>
                  <a:pt x="5316928" y="381000"/>
                  <a:pt x="5295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4"/>
          <p:cNvSpPr/>
          <p:nvPr/>
        </p:nvSpPr>
        <p:spPr>
          <a:xfrm>
            <a:off x="6400800" y="4819650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Students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11189891" y="4800600"/>
            <a:ext cx="466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51.5%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6324600" y="5181600"/>
            <a:ext cx="5334000" cy="381000"/>
          </a:xfrm>
          <a:custGeom>
            <a:avLst/>
            <a:gdLst/>
            <a:ahLst/>
            <a:cxnLst/>
            <a:rect l="l" t="t" r="r" b="b"/>
            <a:pathLst>
              <a:path w="5334000" h="381000">
                <a:moveTo>
                  <a:pt x="38100" y="0"/>
                </a:moveTo>
                <a:lnTo>
                  <a:pt x="5295900" y="0"/>
                </a:lnTo>
                <a:cubicBezTo>
                  <a:pt x="5316928" y="0"/>
                  <a:pt x="5334000" y="17072"/>
                  <a:pt x="5334000" y="38100"/>
                </a:cubicBezTo>
                <a:lnTo>
                  <a:pt x="5334000" y="342900"/>
                </a:lnTo>
                <a:cubicBezTo>
                  <a:pt x="5334000" y="363928"/>
                  <a:pt x="5316928" y="381000"/>
                  <a:pt x="5295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7"/>
          <p:cNvSpPr/>
          <p:nvPr/>
        </p:nvSpPr>
        <p:spPr>
          <a:xfrm>
            <a:off x="6400800" y="5276850"/>
            <a:ext cx="657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Employed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11180465" y="5257800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A7A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37.7%</a:t>
            </a:r>
            <a:endParaRPr lang="en-US" sz="1600" dirty="0"/>
          </a:p>
        </p:txBody>
      </p:sp>
      <p:sp>
        <p:nvSpPr>
          <p:cNvPr id="33" name="Shape 29"/>
          <p:cNvSpPr/>
          <p:nvPr/>
        </p:nvSpPr>
        <p:spPr>
          <a:xfrm>
            <a:off x="6324600" y="5638800"/>
            <a:ext cx="5334000" cy="381000"/>
          </a:xfrm>
          <a:custGeom>
            <a:avLst/>
            <a:gdLst/>
            <a:ahLst/>
            <a:cxnLst/>
            <a:rect l="l" t="t" r="r" b="b"/>
            <a:pathLst>
              <a:path w="5334000" h="381000">
                <a:moveTo>
                  <a:pt x="38100" y="0"/>
                </a:moveTo>
                <a:lnTo>
                  <a:pt x="5295900" y="0"/>
                </a:lnTo>
                <a:cubicBezTo>
                  <a:pt x="5316928" y="0"/>
                  <a:pt x="5334000" y="17072"/>
                  <a:pt x="5334000" y="38100"/>
                </a:cubicBezTo>
                <a:lnTo>
                  <a:pt x="5334000" y="342900"/>
                </a:lnTo>
                <a:cubicBezTo>
                  <a:pt x="5334000" y="363928"/>
                  <a:pt x="5316928" y="381000"/>
                  <a:pt x="5295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0"/>
          <p:cNvSpPr/>
          <p:nvPr/>
        </p:nvSpPr>
        <p:spPr>
          <a:xfrm>
            <a:off x="6400800" y="5734050"/>
            <a:ext cx="132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&gt;2 Years Internet Use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11159133" y="5715000"/>
            <a:ext cx="495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5A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45.4%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C5A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3A5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Reliability Analysis &amp; Factor Validation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81000" y="1333500"/>
            <a:ext cx="6800850" cy="3009900"/>
          </a:xfrm>
          <a:custGeom>
            <a:avLst/>
            <a:gdLst/>
            <a:ahLst/>
            <a:cxnLst/>
            <a:rect l="l" t="t" r="r" b="b"/>
            <a:pathLst>
              <a:path w="6800850" h="3009900">
                <a:moveTo>
                  <a:pt x="76211" y="0"/>
                </a:moveTo>
                <a:lnTo>
                  <a:pt x="6724639" y="0"/>
                </a:lnTo>
                <a:cubicBezTo>
                  <a:pt x="6766729" y="0"/>
                  <a:pt x="6800850" y="34121"/>
                  <a:pt x="6800850" y="76211"/>
                </a:cubicBezTo>
                <a:lnTo>
                  <a:pt x="6800850" y="2933689"/>
                </a:lnTo>
                <a:cubicBezTo>
                  <a:pt x="6800850" y="2975779"/>
                  <a:pt x="6766729" y="3009900"/>
                  <a:pt x="6724639" y="3009900"/>
                </a:cubicBezTo>
                <a:lnTo>
                  <a:pt x="76211" y="3009900"/>
                </a:lnTo>
                <a:cubicBezTo>
                  <a:pt x="34121" y="3009900"/>
                  <a:pt x="0" y="2975779"/>
                  <a:pt x="0" y="2933689"/>
                </a:cubicBezTo>
                <a:lnTo>
                  <a:pt x="0" y="76211"/>
                </a:lnTo>
                <a:cubicBezTo>
                  <a:pt x="0" y="34149"/>
                  <a:pt x="34149" y="0"/>
                  <a:pt x="7621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33400" y="1485900"/>
            <a:ext cx="6581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Cronbach's Alpha Reliability Results</a:t>
            </a:r>
            <a:endParaRPr lang="en-US" sz="1600" dirty="0"/>
          </a:p>
        </p:txBody>
      </p:sp>
      <p:pic>
        <p:nvPicPr>
          <p:cNvPr id="7" name="Image 0" descr="https://kimi-img.moonshot.cn/pub/slides/26-03-18-19:15:54-d6t8iqle09napeh2t9s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3400" y="1866900"/>
            <a:ext cx="6496050" cy="1905000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533400" y="3886200"/>
            <a:ext cx="3209925" cy="304800"/>
          </a:xfrm>
          <a:custGeom>
            <a:avLst/>
            <a:gdLst/>
            <a:ahLst/>
            <a:cxnLst/>
            <a:rect l="l" t="t" r="r" b="b"/>
            <a:pathLst>
              <a:path w="3209925" h="304800">
                <a:moveTo>
                  <a:pt x="38100" y="0"/>
                </a:moveTo>
                <a:lnTo>
                  <a:pt x="3171825" y="0"/>
                </a:lnTo>
                <a:cubicBezTo>
                  <a:pt x="3192853" y="0"/>
                  <a:pt x="3209925" y="17072"/>
                  <a:pt x="3209925" y="38100"/>
                </a:cubicBezTo>
                <a:lnTo>
                  <a:pt x="3209925" y="266700"/>
                </a:lnTo>
                <a:cubicBezTo>
                  <a:pt x="3209925" y="287728"/>
                  <a:pt x="3192853" y="304800"/>
                  <a:pt x="317182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5C">
              <a:alpha val="1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609600" y="3962400"/>
            <a:ext cx="3114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5A7A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Acceptable Range:</a:t>
            </a:r>
            <a:r>
              <a:rPr lang="en-US" sz="900" dirty="0">
                <a:solidFill>
                  <a:srgbClr val="5A7A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0.60 - 0.95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17541" y="3886200"/>
            <a:ext cx="3209925" cy="304800"/>
          </a:xfrm>
          <a:custGeom>
            <a:avLst/>
            <a:gdLst/>
            <a:ahLst/>
            <a:cxnLst/>
            <a:rect l="l" t="t" r="r" b="b"/>
            <a:pathLst>
              <a:path w="3209925" h="304800">
                <a:moveTo>
                  <a:pt x="38100" y="0"/>
                </a:moveTo>
                <a:lnTo>
                  <a:pt x="3171825" y="0"/>
                </a:lnTo>
                <a:cubicBezTo>
                  <a:pt x="3192853" y="0"/>
                  <a:pt x="3209925" y="17072"/>
                  <a:pt x="3209925" y="38100"/>
                </a:cubicBezTo>
                <a:lnTo>
                  <a:pt x="3209925" y="266700"/>
                </a:lnTo>
                <a:cubicBezTo>
                  <a:pt x="3209925" y="287728"/>
                  <a:pt x="3192853" y="304800"/>
                  <a:pt x="317182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5A56A">
              <a:alpha val="1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3893741" y="3962400"/>
            <a:ext cx="3114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5A7A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Ideal Threshold:</a:t>
            </a:r>
            <a:r>
              <a:rPr lang="en-US" sz="900" dirty="0">
                <a:solidFill>
                  <a:srgbClr val="5A7A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&gt; 0.70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81000" y="4457700"/>
            <a:ext cx="6800850" cy="2400300"/>
          </a:xfrm>
          <a:custGeom>
            <a:avLst/>
            <a:gdLst/>
            <a:ahLst/>
            <a:cxnLst/>
            <a:rect l="l" t="t" r="r" b="b"/>
            <a:pathLst>
              <a:path w="6800850" h="2400300">
                <a:moveTo>
                  <a:pt x="76210" y="0"/>
                </a:moveTo>
                <a:lnTo>
                  <a:pt x="6724640" y="0"/>
                </a:lnTo>
                <a:cubicBezTo>
                  <a:pt x="6766730" y="0"/>
                  <a:pt x="6800850" y="34120"/>
                  <a:pt x="6800850" y="76210"/>
                </a:cubicBezTo>
                <a:lnTo>
                  <a:pt x="6800850" y="2324090"/>
                </a:lnTo>
                <a:cubicBezTo>
                  <a:pt x="6800850" y="2366180"/>
                  <a:pt x="6766730" y="2400300"/>
                  <a:pt x="6724640" y="2400300"/>
                </a:cubicBezTo>
                <a:lnTo>
                  <a:pt x="76210" y="2400300"/>
                </a:lnTo>
                <a:cubicBezTo>
                  <a:pt x="34120" y="2400300"/>
                  <a:pt x="0" y="2366180"/>
                  <a:pt x="0" y="23240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533400" y="4610100"/>
            <a:ext cx="6581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Factor Analysis Validity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52450" y="4991100"/>
            <a:ext cx="3171825" cy="990600"/>
          </a:xfrm>
          <a:custGeom>
            <a:avLst/>
            <a:gdLst/>
            <a:ahLst/>
            <a:cxnLst/>
            <a:rect l="l" t="t" r="r" b="b"/>
            <a:pathLst>
              <a:path w="3171825" h="990600">
                <a:moveTo>
                  <a:pt x="38100" y="0"/>
                </a:moveTo>
                <a:lnTo>
                  <a:pt x="3095628" y="0"/>
                </a:lnTo>
                <a:cubicBezTo>
                  <a:pt x="3137710" y="0"/>
                  <a:pt x="3171825" y="34115"/>
                  <a:pt x="3171825" y="76197"/>
                </a:cubicBezTo>
                <a:lnTo>
                  <a:pt x="3171825" y="914403"/>
                </a:lnTo>
                <a:cubicBezTo>
                  <a:pt x="3171825" y="956485"/>
                  <a:pt x="3137710" y="990600"/>
                  <a:pt x="3095628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552450" y="4991100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685800" y="5105400"/>
            <a:ext cx="2990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A7A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KMO Measure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85800" y="5334000"/>
            <a:ext cx="3067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0.723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00088" y="57340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00A63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857250" y="5715000"/>
            <a:ext cx="2809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 0.50 (Acceptable)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855641" y="4991100"/>
            <a:ext cx="3171825" cy="990600"/>
          </a:xfrm>
          <a:custGeom>
            <a:avLst/>
            <a:gdLst/>
            <a:ahLst/>
            <a:cxnLst/>
            <a:rect l="l" t="t" r="r" b="b"/>
            <a:pathLst>
              <a:path w="3171825" h="990600">
                <a:moveTo>
                  <a:pt x="38100" y="0"/>
                </a:moveTo>
                <a:lnTo>
                  <a:pt x="3095628" y="0"/>
                </a:lnTo>
                <a:cubicBezTo>
                  <a:pt x="3137710" y="0"/>
                  <a:pt x="3171825" y="34115"/>
                  <a:pt x="3171825" y="76197"/>
                </a:cubicBezTo>
                <a:lnTo>
                  <a:pt x="3171825" y="914403"/>
                </a:lnTo>
                <a:cubicBezTo>
                  <a:pt x="3171825" y="956485"/>
                  <a:pt x="3137710" y="990600"/>
                  <a:pt x="3095628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3855641" y="4991100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3988991" y="5105400"/>
            <a:ext cx="2990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A7A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Bartlett's Test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988991" y="5334000"/>
            <a:ext cx="3067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C5A56A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p &lt; 0.001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003278" y="57340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00A63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4160441" y="5715000"/>
            <a:ext cx="2809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Significant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33400" y="6096000"/>
            <a:ext cx="6496050" cy="609600"/>
          </a:xfrm>
          <a:custGeom>
            <a:avLst/>
            <a:gdLst/>
            <a:ahLst/>
            <a:cxnLst/>
            <a:rect l="l" t="t" r="r" b="b"/>
            <a:pathLst>
              <a:path w="6496050" h="609600">
                <a:moveTo>
                  <a:pt x="38100" y="0"/>
                </a:moveTo>
                <a:lnTo>
                  <a:pt x="6457950" y="0"/>
                </a:lnTo>
                <a:cubicBezTo>
                  <a:pt x="6478978" y="0"/>
                  <a:pt x="6496050" y="17072"/>
                  <a:pt x="6496050" y="38100"/>
                </a:cubicBezTo>
                <a:lnTo>
                  <a:pt x="6496050" y="571500"/>
                </a:lnTo>
                <a:cubicBezTo>
                  <a:pt x="6496050" y="592528"/>
                  <a:pt x="6478978" y="609600"/>
                  <a:pt x="645795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647700" y="6210300"/>
            <a:ext cx="6334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Variance Explained:</a:t>
            </a:r>
            <a:r>
              <a:rPr lang="en-US" sz="105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Component 1 explains </a:t>
            </a:r>
            <a:r>
              <a:rPr lang="en-US" sz="1050" b="1" dirty="0">
                <a:solidFill>
                  <a:srgbClr val="C5A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75.389%</a:t>
            </a:r>
            <a:r>
              <a:rPr lang="en-US" sz="105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total variance, indicating strong construct validity for Purchase Intention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330380" y="1333500"/>
            <a:ext cx="4476750" cy="3962400"/>
          </a:xfrm>
          <a:custGeom>
            <a:avLst/>
            <a:gdLst/>
            <a:ahLst/>
            <a:cxnLst/>
            <a:rect l="l" t="t" r="r" b="b"/>
            <a:pathLst>
              <a:path w="4476750" h="3962400">
                <a:moveTo>
                  <a:pt x="76197" y="0"/>
                </a:moveTo>
                <a:lnTo>
                  <a:pt x="4400553" y="0"/>
                </a:lnTo>
                <a:cubicBezTo>
                  <a:pt x="4442635" y="0"/>
                  <a:pt x="4476750" y="34115"/>
                  <a:pt x="4476750" y="76197"/>
                </a:cubicBezTo>
                <a:lnTo>
                  <a:pt x="4476750" y="3886203"/>
                </a:lnTo>
                <a:cubicBezTo>
                  <a:pt x="4476750" y="3928285"/>
                  <a:pt x="4442635" y="3962400"/>
                  <a:pt x="4400553" y="3962400"/>
                </a:cubicBezTo>
                <a:lnTo>
                  <a:pt x="76197" y="3962400"/>
                </a:lnTo>
                <a:cubicBezTo>
                  <a:pt x="34115" y="3962400"/>
                  <a:pt x="0" y="3928285"/>
                  <a:pt x="0" y="3886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3A5C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7482780" y="1485900"/>
            <a:ext cx="4257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Reliability Assessment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482780" y="1866900"/>
            <a:ext cx="4171950" cy="762000"/>
          </a:xfrm>
          <a:custGeom>
            <a:avLst/>
            <a:gdLst/>
            <a:ahLst/>
            <a:cxnLst/>
            <a:rect l="l" t="t" r="r" b="b"/>
            <a:pathLst>
              <a:path w="4171950" h="762000">
                <a:moveTo>
                  <a:pt x="38100" y="0"/>
                </a:moveTo>
                <a:lnTo>
                  <a:pt x="4133850" y="0"/>
                </a:lnTo>
                <a:cubicBezTo>
                  <a:pt x="4154878" y="0"/>
                  <a:pt x="4171950" y="17072"/>
                  <a:pt x="4171950" y="38100"/>
                </a:cubicBezTo>
                <a:lnTo>
                  <a:pt x="4171950" y="723900"/>
                </a:lnTo>
                <a:cubicBezTo>
                  <a:pt x="4171950" y="744928"/>
                  <a:pt x="4154878" y="762000"/>
                  <a:pt x="413385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/>
          <p:nvPr/>
        </p:nvSpPr>
        <p:spPr>
          <a:xfrm>
            <a:off x="7597080" y="2000250"/>
            <a:ext cx="105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Convenience (C)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1140579" y="1981200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5A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0.835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597080" y="2247900"/>
            <a:ext cx="3943350" cy="76200"/>
          </a:xfrm>
          <a:custGeom>
            <a:avLst/>
            <a:gdLst/>
            <a:ahLst/>
            <a:cxnLst/>
            <a:rect l="l" t="t" r="r" b="b"/>
            <a:pathLst>
              <a:path w="3943350" h="76200">
                <a:moveTo>
                  <a:pt x="38100" y="0"/>
                </a:moveTo>
                <a:lnTo>
                  <a:pt x="3905250" y="0"/>
                </a:lnTo>
                <a:cubicBezTo>
                  <a:pt x="3926278" y="0"/>
                  <a:pt x="3943350" y="17072"/>
                  <a:pt x="3943350" y="38100"/>
                </a:cubicBezTo>
                <a:lnTo>
                  <a:pt x="3943350" y="38100"/>
                </a:lnTo>
                <a:cubicBezTo>
                  <a:pt x="3943350" y="59128"/>
                  <a:pt x="3926278" y="76200"/>
                  <a:pt x="39052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Shape 31"/>
          <p:cNvSpPr/>
          <p:nvPr/>
        </p:nvSpPr>
        <p:spPr>
          <a:xfrm>
            <a:off x="7597080" y="2247900"/>
            <a:ext cx="3667125" cy="76200"/>
          </a:xfrm>
          <a:custGeom>
            <a:avLst/>
            <a:gdLst/>
            <a:ahLst/>
            <a:cxnLst/>
            <a:rect l="l" t="t" r="r" b="b"/>
            <a:pathLst>
              <a:path w="3667125" h="76200">
                <a:moveTo>
                  <a:pt x="38100" y="0"/>
                </a:moveTo>
                <a:lnTo>
                  <a:pt x="3629025" y="0"/>
                </a:lnTo>
                <a:cubicBezTo>
                  <a:pt x="3650053" y="0"/>
                  <a:pt x="3667125" y="17072"/>
                  <a:pt x="3667125" y="38100"/>
                </a:cubicBezTo>
                <a:lnTo>
                  <a:pt x="3667125" y="38100"/>
                </a:lnTo>
                <a:cubicBezTo>
                  <a:pt x="3667125" y="59128"/>
                  <a:pt x="3650053" y="76200"/>
                  <a:pt x="36290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32"/>
          <p:cNvSpPr/>
          <p:nvPr/>
        </p:nvSpPr>
        <p:spPr>
          <a:xfrm>
            <a:off x="7611368" y="23812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3"/>
          <p:cNvSpPr/>
          <p:nvPr/>
        </p:nvSpPr>
        <p:spPr>
          <a:xfrm>
            <a:off x="7768530" y="2362200"/>
            <a:ext cx="3829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Excellent reliability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7482780" y="2705100"/>
            <a:ext cx="4171950" cy="762000"/>
          </a:xfrm>
          <a:custGeom>
            <a:avLst/>
            <a:gdLst/>
            <a:ahLst/>
            <a:cxnLst/>
            <a:rect l="l" t="t" r="r" b="b"/>
            <a:pathLst>
              <a:path w="4171950" h="762000">
                <a:moveTo>
                  <a:pt x="38100" y="0"/>
                </a:moveTo>
                <a:lnTo>
                  <a:pt x="4133850" y="0"/>
                </a:lnTo>
                <a:cubicBezTo>
                  <a:pt x="4154878" y="0"/>
                  <a:pt x="4171950" y="17072"/>
                  <a:pt x="4171950" y="38100"/>
                </a:cubicBezTo>
                <a:lnTo>
                  <a:pt x="4171950" y="723900"/>
                </a:lnTo>
                <a:cubicBezTo>
                  <a:pt x="4171950" y="744928"/>
                  <a:pt x="4154878" y="762000"/>
                  <a:pt x="413385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5"/>
          <p:cNvSpPr/>
          <p:nvPr/>
        </p:nvSpPr>
        <p:spPr>
          <a:xfrm>
            <a:off x="7597080" y="2838450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Purchase Intention (PI)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11137206" y="2819400"/>
            <a:ext cx="48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5A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0.836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7597080" y="3086100"/>
            <a:ext cx="3943350" cy="76200"/>
          </a:xfrm>
          <a:custGeom>
            <a:avLst/>
            <a:gdLst/>
            <a:ahLst/>
            <a:cxnLst/>
            <a:rect l="l" t="t" r="r" b="b"/>
            <a:pathLst>
              <a:path w="3943350" h="76200">
                <a:moveTo>
                  <a:pt x="38100" y="0"/>
                </a:moveTo>
                <a:lnTo>
                  <a:pt x="3905250" y="0"/>
                </a:lnTo>
                <a:cubicBezTo>
                  <a:pt x="3926278" y="0"/>
                  <a:pt x="3943350" y="17072"/>
                  <a:pt x="3943350" y="38100"/>
                </a:cubicBezTo>
                <a:lnTo>
                  <a:pt x="3943350" y="38100"/>
                </a:lnTo>
                <a:cubicBezTo>
                  <a:pt x="3943350" y="59128"/>
                  <a:pt x="3926278" y="76200"/>
                  <a:pt x="39052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Shape 38"/>
          <p:cNvSpPr/>
          <p:nvPr/>
        </p:nvSpPr>
        <p:spPr>
          <a:xfrm>
            <a:off x="7597080" y="3086100"/>
            <a:ext cx="3667125" cy="76200"/>
          </a:xfrm>
          <a:custGeom>
            <a:avLst/>
            <a:gdLst/>
            <a:ahLst/>
            <a:cxnLst/>
            <a:rect l="l" t="t" r="r" b="b"/>
            <a:pathLst>
              <a:path w="3667125" h="76200">
                <a:moveTo>
                  <a:pt x="38100" y="0"/>
                </a:moveTo>
                <a:lnTo>
                  <a:pt x="3629025" y="0"/>
                </a:lnTo>
                <a:cubicBezTo>
                  <a:pt x="3650053" y="0"/>
                  <a:pt x="3667125" y="17072"/>
                  <a:pt x="3667125" y="38100"/>
                </a:cubicBezTo>
                <a:lnTo>
                  <a:pt x="3667125" y="38100"/>
                </a:lnTo>
                <a:cubicBezTo>
                  <a:pt x="3667125" y="59128"/>
                  <a:pt x="3650053" y="76200"/>
                  <a:pt x="36290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Shape 39"/>
          <p:cNvSpPr/>
          <p:nvPr/>
        </p:nvSpPr>
        <p:spPr>
          <a:xfrm>
            <a:off x="7611368" y="32194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Text 40"/>
          <p:cNvSpPr/>
          <p:nvPr/>
        </p:nvSpPr>
        <p:spPr>
          <a:xfrm>
            <a:off x="7768530" y="3200400"/>
            <a:ext cx="3829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Excellent reliability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7482780" y="3543300"/>
            <a:ext cx="4171950" cy="762000"/>
          </a:xfrm>
          <a:custGeom>
            <a:avLst/>
            <a:gdLst/>
            <a:ahLst/>
            <a:cxnLst/>
            <a:rect l="l" t="t" r="r" b="b"/>
            <a:pathLst>
              <a:path w="4171950" h="762000">
                <a:moveTo>
                  <a:pt x="38100" y="0"/>
                </a:moveTo>
                <a:lnTo>
                  <a:pt x="4133850" y="0"/>
                </a:lnTo>
                <a:cubicBezTo>
                  <a:pt x="4154878" y="0"/>
                  <a:pt x="4171950" y="17072"/>
                  <a:pt x="4171950" y="38100"/>
                </a:cubicBezTo>
                <a:lnTo>
                  <a:pt x="4171950" y="723900"/>
                </a:lnTo>
                <a:cubicBezTo>
                  <a:pt x="4171950" y="744928"/>
                  <a:pt x="4154878" y="762000"/>
                  <a:pt x="413385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42"/>
          <p:cNvSpPr/>
          <p:nvPr/>
        </p:nvSpPr>
        <p:spPr>
          <a:xfrm>
            <a:off x="7597080" y="3676650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Perceived Risk (PR)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11145441" y="3657600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5A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0.760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7597080" y="3924300"/>
            <a:ext cx="3943350" cy="76200"/>
          </a:xfrm>
          <a:custGeom>
            <a:avLst/>
            <a:gdLst/>
            <a:ahLst/>
            <a:cxnLst/>
            <a:rect l="l" t="t" r="r" b="b"/>
            <a:pathLst>
              <a:path w="3943350" h="76200">
                <a:moveTo>
                  <a:pt x="38100" y="0"/>
                </a:moveTo>
                <a:lnTo>
                  <a:pt x="3905250" y="0"/>
                </a:lnTo>
                <a:cubicBezTo>
                  <a:pt x="3926278" y="0"/>
                  <a:pt x="3943350" y="17072"/>
                  <a:pt x="3943350" y="38100"/>
                </a:cubicBezTo>
                <a:lnTo>
                  <a:pt x="3943350" y="38100"/>
                </a:lnTo>
                <a:cubicBezTo>
                  <a:pt x="3943350" y="59128"/>
                  <a:pt x="3926278" y="76200"/>
                  <a:pt x="39052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" name="Shape 45"/>
          <p:cNvSpPr/>
          <p:nvPr/>
        </p:nvSpPr>
        <p:spPr>
          <a:xfrm>
            <a:off x="7597080" y="3924300"/>
            <a:ext cx="3314700" cy="76200"/>
          </a:xfrm>
          <a:custGeom>
            <a:avLst/>
            <a:gdLst/>
            <a:ahLst/>
            <a:cxnLst/>
            <a:rect l="l" t="t" r="r" b="b"/>
            <a:pathLst>
              <a:path w="3314700" h="76200">
                <a:moveTo>
                  <a:pt x="38100" y="0"/>
                </a:moveTo>
                <a:lnTo>
                  <a:pt x="3276600" y="0"/>
                </a:lnTo>
                <a:cubicBezTo>
                  <a:pt x="3297628" y="0"/>
                  <a:pt x="3314700" y="17072"/>
                  <a:pt x="3314700" y="38100"/>
                </a:cubicBezTo>
                <a:lnTo>
                  <a:pt x="3314700" y="38100"/>
                </a:lnTo>
                <a:cubicBezTo>
                  <a:pt x="3314700" y="59128"/>
                  <a:pt x="3297628" y="76200"/>
                  <a:pt x="32766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Shape 46"/>
          <p:cNvSpPr/>
          <p:nvPr/>
        </p:nvSpPr>
        <p:spPr>
          <a:xfrm>
            <a:off x="7611368" y="40576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" name="Text 47"/>
          <p:cNvSpPr/>
          <p:nvPr/>
        </p:nvSpPr>
        <p:spPr>
          <a:xfrm>
            <a:off x="7768530" y="4038600"/>
            <a:ext cx="3829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Good reliability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7482780" y="4381500"/>
            <a:ext cx="4171950" cy="762000"/>
          </a:xfrm>
          <a:custGeom>
            <a:avLst/>
            <a:gdLst/>
            <a:ahLst/>
            <a:cxnLst/>
            <a:rect l="l" t="t" r="r" b="b"/>
            <a:pathLst>
              <a:path w="4171950" h="762000">
                <a:moveTo>
                  <a:pt x="38100" y="0"/>
                </a:moveTo>
                <a:lnTo>
                  <a:pt x="4133850" y="0"/>
                </a:lnTo>
                <a:cubicBezTo>
                  <a:pt x="4154878" y="0"/>
                  <a:pt x="4171950" y="17072"/>
                  <a:pt x="4171950" y="38100"/>
                </a:cubicBezTo>
                <a:lnTo>
                  <a:pt x="4171950" y="723900"/>
                </a:lnTo>
                <a:cubicBezTo>
                  <a:pt x="4171950" y="744928"/>
                  <a:pt x="4154878" y="762000"/>
                  <a:pt x="413385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2" name="Text 49"/>
          <p:cNvSpPr/>
          <p:nvPr/>
        </p:nvSpPr>
        <p:spPr>
          <a:xfrm>
            <a:off x="7597080" y="4514850"/>
            <a:ext cx="149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Consumer Reviews (CR)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11156156" y="4495800"/>
            <a:ext cx="466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5A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0.735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7597080" y="4762500"/>
            <a:ext cx="3943350" cy="76200"/>
          </a:xfrm>
          <a:custGeom>
            <a:avLst/>
            <a:gdLst/>
            <a:ahLst/>
            <a:cxnLst/>
            <a:rect l="l" t="t" r="r" b="b"/>
            <a:pathLst>
              <a:path w="3943350" h="76200">
                <a:moveTo>
                  <a:pt x="38100" y="0"/>
                </a:moveTo>
                <a:lnTo>
                  <a:pt x="3905250" y="0"/>
                </a:lnTo>
                <a:cubicBezTo>
                  <a:pt x="3926278" y="0"/>
                  <a:pt x="3943350" y="17072"/>
                  <a:pt x="3943350" y="38100"/>
                </a:cubicBezTo>
                <a:lnTo>
                  <a:pt x="3943350" y="38100"/>
                </a:lnTo>
                <a:cubicBezTo>
                  <a:pt x="3943350" y="59128"/>
                  <a:pt x="3926278" y="76200"/>
                  <a:pt x="39052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5" name="Shape 52"/>
          <p:cNvSpPr/>
          <p:nvPr/>
        </p:nvSpPr>
        <p:spPr>
          <a:xfrm>
            <a:off x="7597080" y="4762500"/>
            <a:ext cx="3238500" cy="76200"/>
          </a:xfrm>
          <a:custGeom>
            <a:avLst/>
            <a:gdLst/>
            <a:ahLst/>
            <a:cxnLst/>
            <a:rect l="l" t="t" r="r" b="b"/>
            <a:pathLst>
              <a:path w="3238500" h="76200">
                <a:moveTo>
                  <a:pt x="38100" y="0"/>
                </a:moveTo>
                <a:lnTo>
                  <a:pt x="3200400" y="0"/>
                </a:lnTo>
                <a:cubicBezTo>
                  <a:pt x="3221428" y="0"/>
                  <a:pt x="3238500" y="17072"/>
                  <a:pt x="3238500" y="38100"/>
                </a:cubicBezTo>
                <a:lnTo>
                  <a:pt x="3238500" y="38100"/>
                </a:lnTo>
                <a:cubicBezTo>
                  <a:pt x="3238500" y="59128"/>
                  <a:pt x="3221428" y="76200"/>
                  <a:pt x="32004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Shape 53"/>
          <p:cNvSpPr/>
          <p:nvPr/>
        </p:nvSpPr>
        <p:spPr>
          <a:xfrm>
            <a:off x="7611368" y="48958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Text 54"/>
          <p:cNvSpPr/>
          <p:nvPr/>
        </p:nvSpPr>
        <p:spPr>
          <a:xfrm>
            <a:off x="7768530" y="4876800"/>
            <a:ext cx="3829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Acceptable reliability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318" y="362318"/>
            <a:ext cx="11530770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9" b="1" kern="0" spc="50" dirty="0">
                <a:solidFill>
                  <a:srgbClr val="C5A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2318" y="615941"/>
            <a:ext cx="11630407" cy="362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68" b="1" dirty="0">
                <a:solidFill>
                  <a:srgbClr val="1A3A5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Hypothesis Testing Results: Multiple Linear Regression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2318" y="1086954"/>
            <a:ext cx="869563" cy="36232"/>
          </a:xfrm>
          <a:custGeom>
            <a:avLst/>
            <a:gdLst/>
            <a:ahLst/>
            <a:cxnLst/>
            <a:rect l="l" t="t" r="r" b="b"/>
            <a:pathLst>
              <a:path w="869563" h="36232">
                <a:moveTo>
                  <a:pt x="0" y="0"/>
                </a:moveTo>
                <a:lnTo>
                  <a:pt x="869563" y="0"/>
                </a:lnTo>
                <a:lnTo>
                  <a:pt x="869563" y="36232"/>
                </a:lnTo>
                <a:lnTo>
                  <a:pt x="0" y="36232"/>
                </a:lnTo>
                <a:lnTo>
                  <a:pt x="0" y="0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2318" y="1268113"/>
            <a:ext cx="6222811" cy="2282603"/>
          </a:xfrm>
          <a:custGeom>
            <a:avLst/>
            <a:gdLst/>
            <a:ahLst/>
            <a:cxnLst/>
            <a:rect l="l" t="t" r="r" b="b"/>
            <a:pathLst>
              <a:path w="6222811" h="2282603">
                <a:moveTo>
                  <a:pt x="72473" y="0"/>
                </a:moveTo>
                <a:lnTo>
                  <a:pt x="6150339" y="0"/>
                </a:lnTo>
                <a:cubicBezTo>
                  <a:pt x="6190364" y="0"/>
                  <a:pt x="6222811" y="32447"/>
                  <a:pt x="6222811" y="72473"/>
                </a:cubicBezTo>
                <a:lnTo>
                  <a:pt x="6222811" y="2210131"/>
                </a:lnTo>
                <a:cubicBezTo>
                  <a:pt x="6222811" y="2250156"/>
                  <a:pt x="6190364" y="2282603"/>
                  <a:pt x="6150339" y="2282603"/>
                </a:cubicBezTo>
                <a:lnTo>
                  <a:pt x="72473" y="2282603"/>
                </a:lnTo>
                <a:cubicBezTo>
                  <a:pt x="32447" y="2282603"/>
                  <a:pt x="0" y="2250156"/>
                  <a:pt x="0" y="2210131"/>
                </a:cubicBezTo>
                <a:lnTo>
                  <a:pt x="0" y="72473"/>
                </a:lnTo>
                <a:cubicBezTo>
                  <a:pt x="0" y="32474"/>
                  <a:pt x="32474" y="0"/>
                  <a:pt x="7247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4348" dist="3623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7245" y="1413040"/>
            <a:ext cx="6014478" cy="253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4" b="1" dirty="0">
                <a:solidFill>
                  <a:srgbClr val="1A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Model Fit Statistics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7245" y="1775358"/>
            <a:ext cx="1902169" cy="942027"/>
          </a:xfrm>
          <a:custGeom>
            <a:avLst/>
            <a:gdLst/>
            <a:ahLst/>
            <a:cxnLst/>
            <a:rect l="l" t="t" r="r" b="b"/>
            <a:pathLst>
              <a:path w="1902169" h="942027">
                <a:moveTo>
                  <a:pt x="72461" y="0"/>
                </a:moveTo>
                <a:lnTo>
                  <a:pt x="1829709" y="0"/>
                </a:lnTo>
                <a:cubicBezTo>
                  <a:pt x="1869728" y="0"/>
                  <a:pt x="1902169" y="32442"/>
                  <a:pt x="1902169" y="72461"/>
                </a:cubicBezTo>
                <a:lnTo>
                  <a:pt x="1902169" y="869566"/>
                </a:lnTo>
                <a:cubicBezTo>
                  <a:pt x="1902169" y="909558"/>
                  <a:pt x="1869701" y="942027"/>
                  <a:pt x="1829709" y="942027"/>
                </a:cubicBezTo>
                <a:lnTo>
                  <a:pt x="72461" y="942027"/>
                </a:lnTo>
                <a:cubicBezTo>
                  <a:pt x="32442" y="942027"/>
                  <a:pt x="0" y="909585"/>
                  <a:pt x="0" y="869566"/>
                </a:cubicBezTo>
                <a:lnTo>
                  <a:pt x="0" y="72461"/>
                </a:lnTo>
                <a:cubicBezTo>
                  <a:pt x="0" y="32469"/>
                  <a:pt x="32469" y="0"/>
                  <a:pt x="72461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84238" y="1884053"/>
            <a:ext cx="1748184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9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Adjusted R²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006" y="2101444"/>
            <a:ext cx="1820648" cy="326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40" b="1" dirty="0">
                <a:solidFill>
                  <a:srgbClr val="C5A56A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0.689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8767" y="2463762"/>
            <a:ext cx="1739126" cy="144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6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68.9% variance explained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22262" y="1775358"/>
            <a:ext cx="1902169" cy="942027"/>
          </a:xfrm>
          <a:custGeom>
            <a:avLst/>
            <a:gdLst/>
            <a:ahLst/>
            <a:cxnLst/>
            <a:rect l="l" t="t" r="r" b="b"/>
            <a:pathLst>
              <a:path w="1902169" h="942027">
                <a:moveTo>
                  <a:pt x="72461" y="0"/>
                </a:moveTo>
                <a:lnTo>
                  <a:pt x="1829709" y="0"/>
                </a:lnTo>
                <a:cubicBezTo>
                  <a:pt x="1869728" y="0"/>
                  <a:pt x="1902169" y="32442"/>
                  <a:pt x="1902169" y="72461"/>
                </a:cubicBezTo>
                <a:lnTo>
                  <a:pt x="1902169" y="869566"/>
                </a:lnTo>
                <a:cubicBezTo>
                  <a:pt x="1902169" y="909558"/>
                  <a:pt x="1869701" y="942027"/>
                  <a:pt x="1829709" y="942027"/>
                </a:cubicBezTo>
                <a:lnTo>
                  <a:pt x="72461" y="942027"/>
                </a:lnTo>
                <a:cubicBezTo>
                  <a:pt x="32442" y="942027"/>
                  <a:pt x="0" y="909585"/>
                  <a:pt x="0" y="869566"/>
                </a:cubicBezTo>
                <a:lnTo>
                  <a:pt x="0" y="72461"/>
                </a:lnTo>
                <a:cubicBezTo>
                  <a:pt x="0" y="32469"/>
                  <a:pt x="32469" y="0"/>
                  <a:pt x="72461" y="0"/>
                </a:cubicBez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599254" y="1884053"/>
            <a:ext cx="1748184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9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F-Statistic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63022" y="2101444"/>
            <a:ext cx="1820648" cy="326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40" b="1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57.656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03783" y="2463762"/>
            <a:ext cx="1739126" cy="144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6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 &lt; 0.001 ***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37278" y="1775358"/>
            <a:ext cx="1902169" cy="942027"/>
          </a:xfrm>
          <a:custGeom>
            <a:avLst/>
            <a:gdLst/>
            <a:ahLst/>
            <a:cxnLst/>
            <a:rect l="l" t="t" r="r" b="b"/>
            <a:pathLst>
              <a:path w="1902169" h="942027">
                <a:moveTo>
                  <a:pt x="72461" y="0"/>
                </a:moveTo>
                <a:lnTo>
                  <a:pt x="1829709" y="0"/>
                </a:lnTo>
                <a:cubicBezTo>
                  <a:pt x="1869728" y="0"/>
                  <a:pt x="1902169" y="32442"/>
                  <a:pt x="1902169" y="72461"/>
                </a:cubicBezTo>
                <a:lnTo>
                  <a:pt x="1902169" y="869566"/>
                </a:lnTo>
                <a:cubicBezTo>
                  <a:pt x="1902169" y="909558"/>
                  <a:pt x="1869701" y="942027"/>
                  <a:pt x="1829709" y="942027"/>
                </a:cubicBezTo>
                <a:lnTo>
                  <a:pt x="72461" y="942027"/>
                </a:lnTo>
                <a:cubicBezTo>
                  <a:pt x="32442" y="942027"/>
                  <a:pt x="0" y="909585"/>
                  <a:pt x="0" y="869566"/>
                </a:cubicBezTo>
                <a:lnTo>
                  <a:pt x="0" y="72461"/>
                </a:lnTo>
                <a:cubicBezTo>
                  <a:pt x="0" y="32469"/>
                  <a:pt x="32469" y="0"/>
                  <a:pt x="72461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614271" y="1884053"/>
            <a:ext cx="1748184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9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Durbin-Watson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8039" y="2101444"/>
            <a:ext cx="1820648" cy="326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40" b="1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1.952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18800" y="2463762"/>
            <a:ext cx="1739126" cy="144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6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autocorrelation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7245" y="2826080"/>
            <a:ext cx="5932957" cy="579709"/>
          </a:xfrm>
          <a:custGeom>
            <a:avLst/>
            <a:gdLst/>
            <a:ahLst/>
            <a:cxnLst/>
            <a:rect l="l" t="t" r="r" b="b"/>
            <a:pathLst>
              <a:path w="5932957" h="579709">
                <a:moveTo>
                  <a:pt x="36232" y="0"/>
                </a:moveTo>
                <a:lnTo>
                  <a:pt x="5896725" y="0"/>
                </a:lnTo>
                <a:cubicBezTo>
                  <a:pt x="5916735" y="0"/>
                  <a:pt x="5932957" y="16222"/>
                  <a:pt x="5932957" y="36232"/>
                </a:cubicBezTo>
                <a:lnTo>
                  <a:pt x="5932957" y="543477"/>
                </a:lnTo>
                <a:cubicBezTo>
                  <a:pt x="5932957" y="563487"/>
                  <a:pt x="5916735" y="579709"/>
                  <a:pt x="5896725" y="579709"/>
                </a:cubicBezTo>
                <a:lnTo>
                  <a:pt x="36232" y="579709"/>
                </a:lnTo>
                <a:cubicBezTo>
                  <a:pt x="16222" y="579709"/>
                  <a:pt x="0" y="563487"/>
                  <a:pt x="0" y="543477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15941" y="2934776"/>
            <a:ext cx="5778972" cy="362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9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Interpretation:</a:t>
            </a:r>
            <a:r>
              <a:rPr lang="en-US" sz="999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model explains </a:t>
            </a:r>
            <a:r>
              <a:rPr lang="en-US" sz="999" b="1" dirty="0">
                <a:solidFill>
                  <a:srgbClr val="C5A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68.9%</a:t>
            </a:r>
            <a:r>
              <a:rPr lang="en-US" sz="999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variance in Purchase Intention, indicating strong predictive power. ANOVA F-test confirms significant relationship (p &lt; 0.001).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2318" y="3659412"/>
            <a:ext cx="6222811" cy="2862312"/>
          </a:xfrm>
          <a:custGeom>
            <a:avLst/>
            <a:gdLst/>
            <a:ahLst/>
            <a:cxnLst/>
            <a:rect l="l" t="t" r="r" b="b"/>
            <a:pathLst>
              <a:path w="6222811" h="2862312">
                <a:moveTo>
                  <a:pt x="72474" y="0"/>
                </a:moveTo>
                <a:lnTo>
                  <a:pt x="6150338" y="0"/>
                </a:lnTo>
                <a:cubicBezTo>
                  <a:pt x="6190364" y="0"/>
                  <a:pt x="6222811" y="32448"/>
                  <a:pt x="6222811" y="72474"/>
                </a:cubicBezTo>
                <a:lnTo>
                  <a:pt x="6222811" y="2789838"/>
                </a:lnTo>
                <a:cubicBezTo>
                  <a:pt x="6222811" y="2829864"/>
                  <a:pt x="6190364" y="2862312"/>
                  <a:pt x="6150338" y="2862312"/>
                </a:cubicBezTo>
                <a:lnTo>
                  <a:pt x="72474" y="2862312"/>
                </a:lnTo>
                <a:cubicBezTo>
                  <a:pt x="32448" y="2862312"/>
                  <a:pt x="0" y="2829864"/>
                  <a:pt x="0" y="2789838"/>
                </a:cubicBezTo>
                <a:lnTo>
                  <a:pt x="0" y="72474"/>
                </a:lnTo>
                <a:cubicBezTo>
                  <a:pt x="0" y="32474"/>
                  <a:pt x="32474" y="0"/>
                  <a:pt x="7247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4348" dist="3623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07245" y="3804339"/>
            <a:ext cx="6014478" cy="253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4" b="1" dirty="0">
                <a:solidFill>
                  <a:srgbClr val="1A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Hypothesis Testing Summary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0264" y="4169676"/>
            <a:ext cx="5929938" cy="1989730"/>
          </a:xfrm>
          <a:custGeom>
            <a:avLst/>
            <a:gdLst/>
            <a:ahLst/>
            <a:cxnLst/>
            <a:rect l="l" t="t" r="r" b="b"/>
            <a:pathLst>
              <a:path w="5929938" h="1989730">
                <a:moveTo>
                  <a:pt x="72466" y="0"/>
                </a:moveTo>
                <a:lnTo>
                  <a:pt x="5857472" y="0"/>
                </a:lnTo>
                <a:cubicBezTo>
                  <a:pt x="5897493" y="0"/>
                  <a:pt x="5929938" y="32444"/>
                  <a:pt x="5929938" y="72466"/>
                </a:cubicBezTo>
                <a:lnTo>
                  <a:pt x="5929938" y="1917264"/>
                </a:lnTo>
                <a:cubicBezTo>
                  <a:pt x="5929938" y="1957285"/>
                  <a:pt x="5897493" y="1989730"/>
                  <a:pt x="5857472" y="1989730"/>
                </a:cubicBezTo>
                <a:lnTo>
                  <a:pt x="72466" y="1989730"/>
                </a:lnTo>
                <a:cubicBezTo>
                  <a:pt x="32444" y="1989730"/>
                  <a:pt x="0" y="1957285"/>
                  <a:pt x="0" y="1917264"/>
                </a:cubicBezTo>
                <a:lnTo>
                  <a:pt x="0" y="72466"/>
                </a:lnTo>
                <a:cubicBezTo>
                  <a:pt x="0" y="32471"/>
                  <a:pt x="32471" y="0"/>
                  <a:pt x="72466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8467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3284" y="4172698"/>
          <a:ext cx="5923900" cy="1983690"/>
        </p:xfrm>
        <a:graphic>
          <a:graphicData uri="http://schemas.openxmlformats.org/drawingml/2006/table">
            <a:tbl>
              <a:tblPr/>
              <a:tblGrid>
                <a:gridCol w="1521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6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05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0615">
                <a:tc>
                  <a:txBody>
                    <a:bodyPr/>
                    <a:lstStyle/>
                    <a:p>
                      <a:pPr algn="l"/>
                      <a:r>
                        <a:rPr lang="en-US" sz="9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Hypothesis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464" marR="72464" marT="72464" marB="724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β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464" marR="72464" marT="72464" marB="724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p-value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464" marR="72464" marT="72464" marB="724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Result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464" marR="72464" marT="72464" marB="724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615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H1: CB → PI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464" marR="72464" marT="72464" marB="724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0.547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464" marR="72464" marT="72464" marB="724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 0.001***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464" marR="72464" marT="72464" marB="724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SUPPORTED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464" marR="72464" marT="72464" marB="724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615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H2: SE → PI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464" marR="72464" marT="72464" marB="724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0.931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464" marR="72464" marT="72464" marB="724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 0.001***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464" marR="72464" marT="72464" marB="724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SUPPORTED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464" marR="72464" marT="72464" marB="724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615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H3: C → PI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464" marR="72464" marT="72464" marB="724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0.433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464" marR="72464" marT="72464" marB="724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 0.001***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464" marR="72464" marT="72464" marB="724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SUPPORTED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464" marR="72464" marT="72464" marB="724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615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H4: PR → PI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464" marR="72464" marT="72464" marB="724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0.678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464" marR="72464" marT="72464" marB="724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0.796 ns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464" marR="72464" marT="72464" marB="724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NOT SUPPORTED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464" marR="72464" marT="72464" marB="724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615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H5: CR → PI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464" marR="72464" marT="72464" marB="724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0.407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464" marR="72464" marT="72464" marB="724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 0.001***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464" marR="72464" marT="72464" marB="724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SUPPORTED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464" marR="72464" marT="72464" marB="724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507245" y="6231869"/>
            <a:ext cx="5987305" cy="144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6" dirty="0">
                <a:solidFill>
                  <a:srgbClr val="5A7A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*** p &lt; 0.001; ns = not significant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733453" y="1268113"/>
            <a:ext cx="5090568" cy="3188398"/>
          </a:xfrm>
          <a:custGeom>
            <a:avLst/>
            <a:gdLst/>
            <a:ahLst/>
            <a:cxnLst/>
            <a:rect l="l" t="t" r="r" b="b"/>
            <a:pathLst>
              <a:path w="5090568" h="3188398">
                <a:moveTo>
                  <a:pt x="72472" y="0"/>
                </a:moveTo>
                <a:lnTo>
                  <a:pt x="5018095" y="0"/>
                </a:lnTo>
                <a:cubicBezTo>
                  <a:pt x="5058121" y="0"/>
                  <a:pt x="5090568" y="32447"/>
                  <a:pt x="5090568" y="72472"/>
                </a:cubicBezTo>
                <a:lnTo>
                  <a:pt x="5090568" y="3115926"/>
                </a:lnTo>
                <a:cubicBezTo>
                  <a:pt x="5090568" y="3155951"/>
                  <a:pt x="5058121" y="3188398"/>
                  <a:pt x="5018095" y="3188398"/>
                </a:cubicBezTo>
                <a:lnTo>
                  <a:pt x="72472" y="3188398"/>
                </a:lnTo>
                <a:cubicBezTo>
                  <a:pt x="32447" y="3188398"/>
                  <a:pt x="0" y="3155951"/>
                  <a:pt x="0" y="3115926"/>
                </a:cubicBezTo>
                <a:lnTo>
                  <a:pt x="0" y="72472"/>
                </a:lnTo>
                <a:cubicBezTo>
                  <a:pt x="0" y="32474"/>
                  <a:pt x="32474" y="0"/>
                  <a:pt x="72472" y="0"/>
                </a:cubicBezTo>
                <a:close/>
              </a:path>
            </a:pathLst>
          </a:custGeom>
          <a:solidFill>
            <a:srgbClr val="CDDCEB"/>
          </a:solidFill>
          <a:ln/>
          <a:effectLst>
            <a:outerShdw blurRad="54348" dist="3623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6878380" y="1413040"/>
            <a:ext cx="4882235" cy="253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4" b="1" dirty="0">
                <a:solidFill>
                  <a:schemeClr val="tx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Path Coefficients Visualization</a:t>
            </a:r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28" name="Image 0" descr="https://kimi-img.moonshot.cn/pub/slides/26-03-18-19:15:55-d6t8iqqav1f2jkhsmdq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78380" y="1775358"/>
            <a:ext cx="4538033" cy="2536226"/>
          </a:xfrm>
          <a:prstGeom prst="roundRect">
            <a:avLst>
              <a:gd name="adj" fmla="val 0"/>
            </a:avLst>
          </a:prstGeom>
        </p:spPr>
      </p:pic>
      <p:sp>
        <p:nvSpPr>
          <p:cNvPr id="29" name="Shape 25"/>
          <p:cNvSpPr/>
          <p:nvPr/>
        </p:nvSpPr>
        <p:spPr>
          <a:xfrm>
            <a:off x="6733453" y="4565207"/>
            <a:ext cx="5090568" cy="1594199"/>
          </a:xfrm>
          <a:custGeom>
            <a:avLst/>
            <a:gdLst/>
            <a:ahLst/>
            <a:cxnLst/>
            <a:rect l="l" t="t" r="r" b="b"/>
            <a:pathLst>
              <a:path w="5090568" h="1594199">
                <a:moveTo>
                  <a:pt x="72456" y="0"/>
                </a:moveTo>
                <a:lnTo>
                  <a:pt x="5018111" y="0"/>
                </a:lnTo>
                <a:cubicBezTo>
                  <a:pt x="5058128" y="0"/>
                  <a:pt x="5090568" y="32440"/>
                  <a:pt x="5090568" y="72456"/>
                </a:cubicBezTo>
                <a:lnTo>
                  <a:pt x="5090568" y="1521743"/>
                </a:lnTo>
                <a:cubicBezTo>
                  <a:pt x="5090568" y="1561759"/>
                  <a:pt x="5058128" y="1594199"/>
                  <a:pt x="5018111" y="1594199"/>
                </a:cubicBezTo>
                <a:lnTo>
                  <a:pt x="72456" y="1594199"/>
                </a:lnTo>
                <a:cubicBezTo>
                  <a:pt x="32440" y="1594199"/>
                  <a:pt x="0" y="1561759"/>
                  <a:pt x="0" y="1521743"/>
                </a:cubicBezTo>
                <a:lnTo>
                  <a:pt x="0" y="72456"/>
                </a:lnTo>
                <a:cubicBezTo>
                  <a:pt x="0" y="32467"/>
                  <a:pt x="32467" y="0"/>
                  <a:pt x="7245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4348" dist="3623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Text 26"/>
          <p:cNvSpPr/>
          <p:nvPr/>
        </p:nvSpPr>
        <p:spPr>
          <a:xfrm>
            <a:off x="6878380" y="4710134"/>
            <a:ext cx="4882235" cy="253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4" b="1" dirty="0">
                <a:solidFill>
                  <a:srgbClr val="1A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Multicollinearity Check</a:t>
            </a:r>
            <a:endParaRPr lang="en-US" sz="1600" dirty="0"/>
          </a:p>
        </p:txBody>
      </p:sp>
      <p:sp>
        <p:nvSpPr>
          <p:cNvPr id="31" name="Shape 27"/>
          <p:cNvSpPr/>
          <p:nvPr/>
        </p:nvSpPr>
        <p:spPr>
          <a:xfrm>
            <a:off x="6878380" y="5072452"/>
            <a:ext cx="4800713" cy="362318"/>
          </a:xfrm>
          <a:custGeom>
            <a:avLst/>
            <a:gdLst/>
            <a:ahLst/>
            <a:cxnLst/>
            <a:rect l="l" t="t" r="r" b="b"/>
            <a:pathLst>
              <a:path w="4800713" h="362318">
                <a:moveTo>
                  <a:pt x="36232" y="0"/>
                </a:moveTo>
                <a:lnTo>
                  <a:pt x="4764481" y="0"/>
                </a:lnTo>
                <a:cubicBezTo>
                  <a:pt x="4784492" y="0"/>
                  <a:pt x="4800713" y="16222"/>
                  <a:pt x="4800713" y="36232"/>
                </a:cubicBezTo>
                <a:lnTo>
                  <a:pt x="4800713" y="326086"/>
                </a:lnTo>
                <a:cubicBezTo>
                  <a:pt x="4800713" y="346096"/>
                  <a:pt x="4784492" y="362318"/>
                  <a:pt x="4764481" y="362318"/>
                </a:cubicBezTo>
                <a:lnTo>
                  <a:pt x="36232" y="362318"/>
                </a:lnTo>
                <a:cubicBezTo>
                  <a:pt x="16222" y="362318"/>
                  <a:pt x="0" y="346096"/>
                  <a:pt x="0" y="326086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28"/>
          <p:cNvSpPr/>
          <p:nvPr/>
        </p:nvSpPr>
        <p:spPr>
          <a:xfrm>
            <a:off x="6950844" y="5163031"/>
            <a:ext cx="824273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9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VIF Values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11350460" y="5144915"/>
            <a:ext cx="335144" cy="21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1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 10</a:t>
            </a:r>
            <a:endParaRPr lang="en-US" sz="1600" dirty="0"/>
          </a:p>
        </p:txBody>
      </p:sp>
      <p:sp>
        <p:nvSpPr>
          <p:cNvPr id="34" name="Shape 30"/>
          <p:cNvSpPr/>
          <p:nvPr/>
        </p:nvSpPr>
        <p:spPr>
          <a:xfrm>
            <a:off x="6878380" y="5507233"/>
            <a:ext cx="4800713" cy="507245"/>
          </a:xfrm>
          <a:custGeom>
            <a:avLst/>
            <a:gdLst/>
            <a:ahLst/>
            <a:cxnLst/>
            <a:rect l="l" t="t" r="r" b="b"/>
            <a:pathLst>
              <a:path w="4800713" h="507245">
                <a:moveTo>
                  <a:pt x="36233" y="0"/>
                </a:moveTo>
                <a:lnTo>
                  <a:pt x="4764481" y="0"/>
                </a:lnTo>
                <a:cubicBezTo>
                  <a:pt x="4784491" y="0"/>
                  <a:pt x="4800713" y="16222"/>
                  <a:pt x="4800713" y="36233"/>
                </a:cubicBezTo>
                <a:lnTo>
                  <a:pt x="4800713" y="471013"/>
                </a:lnTo>
                <a:cubicBezTo>
                  <a:pt x="4800713" y="491023"/>
                  <a:pt x="4784491" y="507245"/>
                  <a:pt x="4764481" y="507245"/>
                </a:cubicBezTo>
                <a:lnTo>
                  <a:pt x="36233" y="507245"/>
                </a:lnTo>
                <a:cubicBezTo>
                  <a:pt x="16235" y="507245"/>
                  <a:pt x="0" y="491010"/>
                  <a:pt x="0" y="471013"/>
                </a:cubicBezTo>
                <a:lnTo>
                  <a:pt x="0" y="36233"/>
                </a:lnTo>
                <a:cubicBezTo>
                  <a:pt x="0" y="16235"/>
                  <a:pt x="16235" y="0"/>
                  <a:pt x="36233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1"/>
          <p:cNvSpPr/>
          <p:nvPr/>
        </p:nvSpPr>
        <p:spPr>
          <a:xfrm>
            <a:off x="6950844" y="5579697"/>
            <a:ext cx="4719192" cy="362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9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Interpretation:</a:t>
            </a:r>
            <a:r>
              <a:rPr lang="en-US" sz="999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VIF values range from 1.074 to 2.460, well below the threshold of 10, indicating </a:t>
            </a:r>
            <a:r>
              <a:rPr lang="en-US" sz="999" b="1" dirty="0">
                <a:solidFill>
                  <a:srgbClr val="C5A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multicollinearity</a:t>
            </a:r>
            <a:r>
              <a:rPr lang="en-US" sz="999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issues.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6099" y="336099"/>
            <a:ext cx="11578619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b="1" kern="0" spc="46" dirty="0">
                <a:solidFill>
                  <a:srgbClr val="C5A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Findings &amp; Discussion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6099" y="571369"/>
            <a:ext cx="11671046" cy="336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82" b="1" dirty="0">
                <a:solidFill>
                  <a:srgbClr val="1A3A5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Key Findings &amp; Discussion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6099" y="1008298"/>
            <a:ext cx="806638" cy="33610"/>
          </a:xfrm>
          <a:custGeom>
            <a:avLst/>
            <a:gdLst/>
            <a:ahLst/>
            <a:cxnLst/>
            <a:rect l="l" t="t" r="r" b="b"/>
            <a:pathLst>
              <a:path w="806638" h="33610">
                <a:moveTo>
                  <a:pt x="0" y="0"/>
                </a:moveTo>
                <a:lnTo>
                  <a:pt x="806638" y="0"/>
                </a:lnTo>
                <a:lnTo>
                  <a:pt x="806638" y="33610"/>
                </a:lnTo>
                <a:lnTo>
                  <a:pt x="0" y="33610"/>
                </a:lnTo>
                <a:lnTo>
                  <a:pt x="0" y="0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52904" y="1176347"/>
            <a:ext cx="5671675" cy="1898961"/>
          </a:xfrm>
          <a:custGeom>
            <a:avLst/>
            <a:gdLst/>
            <a:ahLst/>
            <a:cxnLst/>
            <a:rect l="l" t="t" r="r" b="b"/>
            <a:pathLst>
              <a:path w="5671675" h="1898961">
                <a:moveTo>
                  <a:pt x="33610" y="0"/>
                </a:moveTo>
                <a:lnTo>
                  <a:pt x="5604451" y="0"/>
                </a:lnTo>
                <a:cubicBezTo>
                  <a:pt x="5641578" y="0"/>
                  <a:pt x="5671675" y="30097"/>
                  <a:pt x="5671675" y="67223"/>
                </a:cubicBezTo>
                <a:lnTo>
                  <a:pt x="5671675" y="1831738"/>
                </a:lnTo>
                <a:cubicBezTo>
                  <a:pt x="5671675" y="1868864"/>
                  <a:pt x="5641578" y="1898961"/>
                  <a:pt x="5604451" y="1898961"/>
                </a:cubicBezTo>
                <a:lnTo>
                  <a:pt x="33610" y="1898961"/>
                </a:lnTo>
                <a:cubicBezTo>
                  <a:pt x="15048" y="1898961"/>
                  <a:pt x="0" y="1883913"/>
                  <a:pt x="0" y="1865351"/>
                </a:cubicBezTo>
                <a:lnTo>
                  <a:pt x="0" y="33610"/>
                </a:lnTo>
                <a:cubicBezTo>
                  <a:pt x="0" y="15060"/>
                  <a:pt x="15060" y="0"/>
                  <a:pt x="3361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0415" dist="3361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52904" y="1176347"/>
            <a:ext cx="33610" cy="1898961"/>
          </a:xfrm>
          <a:custGeom>
            <a:avLst/>
            <a:gdLst/>
            <a:ahLst/>
            <a:cxnLst/>
            <a:rect l="l" t="t" r="r" b="b"/>
            <a:pathLst>
              <a:path w="33610" h="1898961">
                <a:moveTo>
                  <a:pt x="33610" y="0"/>
                </a:moveTo>
                <a:lnTo>
                  <a:pt x="33610" y="0"/>
                </a:lnTo>
                <a:lnTo>
                  <a:pt x="33610" y="1898961"/>
                </a:lnTo>
                <a:lnTo>
                  <a:pt x="33610" y="1898961"/>
                </a:lnTo>
                <a:cubicBezTo>
                  <a:pt x="15048" y="1898961"/>
                  <a:pt x="0" y="1883913"/>
                  <a:pt x="0" y="1865351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04149" y="1310787"/>
            <a:ext cx="403319" cy="403319"/>
          </a:xfrm>
          <a:custGeom>
            <a:avLst/>
            <a:gdLst/>
            <a:ahLst/>
            <a:cxnLst/>
            <a:rect l="l" t="t" r="r" b="b"/>
            <a:pathLst>
              <a:path w="403319" h="403319">
                <a:moveTo>
                  <a:pt x="201660" y="0"/>
                </a:moveTo>
                <a:lnTo>
                  <a:pt x="201660" y="0"/>
                </a:lnTo>
                <a:cubicBezTo>
                  <a:pt x="312958" y="0"/>
                  <a:pt x="403319" y="90361"/>
                  <a:pt x="403319" y="201660"/>
                </a:cubicBezTo>
                <a:lnTo>
                  <a:pt x="403319" y="201660"/>
                </a:lnTo>
                <a:cubicBezTo>
                  <a:pt x="403319" y="312958"/>
                  <a:pt x="312958" y="403319"/>
                  <a:pt x="201660" y="403319"/>
                </a:cubicBezTo>
                <a:lnTo>
                  <a:pt x="201660" y="403319"/>
                </a:lnTo>
                <a:cubicBezTo>
                  <a:pt x="90361" y="403319"/>
                  <a:pt x="0" y="312958"/>
                  <a:pt x="0" y="201660"/>
                </a:cubicBezTo>
                <a:lnTo>
                  <a:pt x="0" y="201660"/>
                </a:lnTo>
                <a:cubicBezTo>
                  <a:pt x="0" y="90361"/>
                  <a:pt x="90361" y="0"/>
                  <a:pt x="201660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42790" y="1428422"/>
            <a:ext cx="126037" cy="168050"/>
          </a:xfrm>
          <a:custGeom>
            <a:avLst/>
            <a:gdLst/>
            <a:ahLst/>
            <a:cxnLst/>
            <a:rect l="l" t="t" r="r" b="b"/>
            <a:pathLst>
              <a:path w="126037" h="168050">
                <a:moveTo>
                  <a:pt x="82023" y="21925"/>
                </a:moveTo>
                <a:cubicBezTo>
                  <a:pt x="85436" y="17232"/>
                  <a:pt x="84386" y="10667"/>
                  <a:pt x="79692" y="7254"/>
                </a:cubicBezTo>
                <a:cubicBezTo>
                  <a:pt x="74999" y="3840"/>
                  <a:pt x="68434" y="4891"/>
                  <a:pt x="65021" y="9584"/>
                </a:cubicBezTo>
                <a:lnTo>
                  <a:pt x="30229" y="57406"/>
                </a:lnTo>
                <a:lnTo>
                  <a:pt x="17921" y="45098"/>
                </a:lnTo>
                <a:cubicBezTo>
                  <a:pt x="13818" y="40995"/>
                  <a:pt x="7155" y="40995"/>
                  <a:pt x="3052" y="45098"/>
                </a:cubicBezTo>
                <a:cubicBezTo>
                  <a:pt x="-1050" y="49200"/>
                  <a:pt x="-1050" y="55863"/>
                  <a:pt x="3052" y="59966"/>
                </a:cubicBezTo>
                <a:lnTo>
                  <a:pt x="24059" y="80972"/>
                </a:lnTo>
                <a:cubicBezTo>
                  <a:pt x="26225" y="83139"/>
                  <a:pt x="29245" y="84255"/>
                  <a:pt x="32297" y="84025"/>
                </a:cubicBezTo>
                <a:cubicBezTo>
                  <a:pt x="35350" y="83795"/>
                  <a:pt x="38172" y="82220"/>
                  <a:pt x="39977" y="79725"/>
                </a:cubicBezTo>
                <a:lnTo>
                  <a:pt x="81990" y="21958"/>
                </a:lnTo>
                <a:close/>
                <a:moveTo>
                  <a:pt x="124035" y="66563"/>
                </a:moveTo>
                <a:cubicBezTo>
                  <a:pt x="127449" y="61870"/>
                  <a:pt x="126398" y="55305"/>
                  <a:pt x="121705" y="51892"/>
                </a:cubicBezTo>
                <a:cubicBezTo>
                  <a:pt x="117011" y="48478"/>
                  <a:pt x="110447" y="49529"/>
                  <a:pt x="107033" y="54222"/>
                </a:cubicBezTo>
                <a:lnTo>
                  <a:pt x="51235" y="130928"/>
                </a:lnTo>
                <a:lnTo>
                  <a:pt x="28424" y="108116"/>
                </a:lnTo>
                <a:cubicBezTo>
                  <a:pt x="24321" y="104014"/>
                  <a:pt x="17658" y="104014"/>
                  <a:pt x="13556" y="108116"/>
                </a:cubicBezTo>
                <a:cubicBezTo>
                  <a:pt x="9453" y="112219"/>
                  <a:pt x="9453" y="118882"/>
                  <a:pt x="13556" y="122985"/>
                </a:cubicBezTo>
                <a:lnTo>
                  <a:pt x="45065" y="154494"/>
                </a:lnTo>
                <a:cubicBezTo>
                  <a:pt x="47231" y="156660"/>
                  <a:pt x="50251" y="157776"/>
                  <a:pt x="53303" y="157547"/>
                </a:cubicBezTo>
                <a:cubicBezTo>
                  <a:pt x="56356" y="157317"/>
                  <a:pt x="59178" y="155741"/>
                  <a:pt x="60984" y="153247"/>
                </a:cubicBezTo>
                <a:lnTo>
                  <a:pt x="124002" y="66596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008298" y="1394812"/>
            <a:ext cx="1697301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1A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Four Significant Factors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4149" y="1814936"/>
            <a:ext cx="5453210" cy="655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9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Consumer behaviour, online shopping experience, convenience, and consumer reviews</a:t>
            </a:r>
            <a:r>
              <a:rPr lang="en-US" sz="1059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significantly enhance online grocery purchase intention, supporting the extended TAM framework.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4149" y="2571159"/>
            <a:ext cx="5385990" cy="369709"/>
          </a:xfrm>
          <a:custGeom>
            <a:avLst/>
            <a:gdLst/>
            <a:ahLst/>
            <a:cxnLst/>
            <a:rect l="l" t="t" r="r" b="b"/>
            <a:pathLst>
              <a:path w="5385990" h="369709">
                <a:moveTo>
                  <a:pt x="33610" y="0"/>
                </a:moveTo>
                <a:lnTo>
                  <a:pt x="5352380" y="0"/>
                </a:lnTo>
                <a:cubicBezTo>
                  <a:pt x="5370943" y="0"/>
                  <a:pt x="5385990" y="15048"/>
                  <a:pt x="5385990" y="33610"/>
                </a:cubicBezTo>
                <a:lnTo>
                  <a:pt x="5385990" y="336099"/>
                </a:lnTo>
                <a:cubicBezTo>
                  <a:pt x="5385990" y="354661"/>
                  <a:pt x="5370943" y="369709"/>
                  <a:pt x="5352380" y="369709"/>
                </a:cubicBezTo>
                <a:lnTo>
                  <a:pt x="33610" y="369709"/>
                </a:lnTo>
                <a:cubicBezTo>
                  <a:pt x="15048" y="369709"/>
                  <a:pt x="0" y="354661"/>
                  <a:pt x="0" y="336099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614431" y="2699999"/>
            <a:ext cx="132339" cy="117635"/>
          </a:xfrm>
          <a:custGeom>
            <a:avLst/>
            <a:gdLst/>
            <a:ahLst/>
            <a:cxnLst/>
            <a:rect l="l" t="t" r="r" b="b"/>
            <a:pathLst>
              <a:path w="132339" h="117635">
                <a:moveTo>
                  <a:pt x="117727" y="55141"/>
                </a:moveTo>
                <a:lnTo>
                  <a:pt x="77290" y="55141"/>
                </a:lnTo>
                <a:cubicBezTo>
                  <a:pt x="73223" y="55141"/>
                  <a:pt x="69938" y="51856"/>
                  <a:pt x="69938" y="47789"/>
                </a:cubicBezTo>
                <a:lnTo>
                  <a:pt x="69938" y="7352"/>
                </a:lnTo>
                <a:cubicBezTo>
                  <a:pt x="69938" y="3286"/>
                  <a:pt x="73246" y="-46"/>
                  <a:pt x="77267" y="482"/>
                </a:cubicBezTo>
                <a:cubicBezTo>
                  <a:pt x="101851" y="3745"/>
                  <a:pt x="121334" y="23228"/>
                  <a:pt x="124596" y="47812"/>
                </a:cubicBezTo>
                <a:cubicBezTo>
                  <a:pt x="125125" y="51833"/>
                  <a:pt x="121793" y="55141"/>
                  <a:pt x="117727" y="55141"/>
                </a:cubicBezTo>
                <a:close/>
                <a:moveTo>
                  <a:pt x="51144" y="8547"/>
                </a:moveTo>
                <a:cubicBezTo>
                  <a:pt x="55302" y="7674"/>
                  <a:pt x="58909" y="11074"/>
                  <a:pt x="58909" y="15325"/>
                </a:cubicBezTo>
                <a:lnTo>
                  <a:pt x="58909" y="60655"/>
                </a:lnTo>
                <a:cubicBezTo>
                  <a:pt x="58909" y="61942"/>
                  <a:pt x="59369" y="63183"/>
                  <a:pt x="60173" y="64171"/>
                </a:cubicBezTo>
                <a:lnTo>
                  <a:pt x="90524" y="100794"/>
                </a:lnTo>
                <a:cubicBezTo>
                  <a:pt x="93212" y="104033"/>
                  <a:pt x="92637" y="108927"/>
                  <a:pt x="88938" y="110926"/>
                </a:cubicBezTo>
                <a:cubicBezTo>
                  <a:pt x="81104" y="115199"/>
                  <a:pt x="72120" y="117635"/>
                  <a:pt x="62585" y="117635"/>
                </a:cubicBezTo>
                <a:cubicBezTo>
                  <a:pt x="32143" y="117635"/>
                  <a:pt x="7444" y="92936"/>
                  <a:pt x="7444" y="62493"/>
                </a:cubicBezTo>
                <a:cubicBezTo>
                  <a:pt x="7444" y="35957"/>
                  <a:pt x="26169" y="13808"/>
                  <a:pt x="51144" y="8547"/>
                </a:cubicBezTo>
                <a:close/>
                <a:moveTo>
                  <a:pt x="109777" y="66170"/>
                </a:moveTo>
                <a:lnTo>
                  <a:pt x="124481" y="66170"/>
                </a:lnTo>
                <a:cubicBezTo>
                  <a:pt x="128732" y="66170"/>
                  <a:pt x="132132" y="69777"/>
                  <a:pt x="131259" y="73935"/>
                </a:cubicBezTo>
                <a:cubicBezTo>
                  <a:pt x="128916" y="85055"/>
                  <a:pt x="123218" y="94935"/>
                  <a:pt x="115268" y="102471"/>
                </a:cubicBezTo>
                <a:cubicBezTo>
                  <a:pt x="112442" y="105159"/>
                  <a:pt x="108008" y="104585"/>
                  <a:pt x="105527" y="101575"/>
                </a:cubicBezTo>
                <a:lnTo>
                  <a:pt x="86135" y="78209"/>
                </a:lnTo>
                <a:cubicBezTo>
                  <a:pt x="82161" y="73407"/>
                  <a:pt x="85584" y="66170"/>
                  <a:pt x="91787" y="66170"/>
                </a:cubicBezTo>
                <a:lnTo>
                  <a:pt x="109754" y="66170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800697" y="2671989"/>
            <a:ext cx="5047430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5A7A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explains </a:t>
            </a:r>
            <a:r>
              <a:rPr lang="en-US" sz="926" b="1" dirty="0">
                <a:solidFill>
                  <a:srgbClr val="5A7A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68.9%</a:t>
            </a:r>
            <a:r>
              <a:rPr lang="en-US" sz="926" dirty="0">
                <a:solidFill>
                  <a:srgbClr val="5A7A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variance in Purchase Intention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2904" y="3176138"/>
            <a:ext cx="5671675" cy="1966181"/>
          </a:xfrm>
          <a:custGeom>
            <a:avLst/>
            <a:gdLst/>
            <a:ahLst/>
            <a:cxnLst/>
            <a:rect l="l" t="t" r="r" b="b"/>
            <a:pathLst>
              <a:path w="5671675" h="1966181">
                <a:moveTo>
                  <a:pt x="33610" y="0"/>
                </a:moveTo>
                <a:lnTo>
                  <a:pt x="5604451" y="0"/>
                </a:lnTo>
                <a:cubicBezTo>
                  <a:pt x="5641578" y="0"/>
                  <a:pt x="5671675" y="30097"/>
                  <a:pt x="5671675" y="67224"/>
                </a:cubicBezTo>
                <a:lnTo>
                  <a:pt x="5671675" y="1898957"/>
                </a:lnTo>
                <a:cubicBezTo>
                  <a:pt x="5671675" y="1936083"/>
                  <a:pt x="5641578" y="1966181"/>
                  <a:pt x="5604451" y="1966181"/>
                </a:cubicBezTo>
                <a:lnTo>
                  <a:pt x="33610" y="1966181"/>
                </a:lnTo>
                <a:cubicBezTo>
                  <a:pt x="15048" y="1966181"/>
                  <a:pt x="0" y="1951133"/>
                  <a:pt x="0" y="1932571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0415" dist="3361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352904" y="3176138"/>
            <a:ext cx="33610" cy="1966181"/>
          </a:xfrm>
          <a:custGeom>
            <a:avLst/>
            <a:gdLst/>
            <a:ahLst/>
            <a:cxnLst/>
            <a:rect l="l" t="t" r="r" b="b"/>
            <a:pathLst>
              <a:path w="33610" h="1966181">
                <a:moveTo>
                  <a:pt x="33610" y="0"/>
                </a:moveTo>
                <a:lnTo>
                  <a:pt x="33610" y="0"/>
                </a:lnTo>
                <a:lnTo>
                  <a:pt x="33610" y="1966181"/>
                </a:lnTo>
                <a:lnTo>
                  <a:pt x="33610" y="1966181"/>
                </a:lnTo>
                <a:cubicBezTo>
                  <a:pt x="15048" y="1966181"/>
                  <a:pt x="0" y="1951133"/>
                  <a:pt x="0" y="1932571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504149" y="3310578"/>
            <a:ext cx="403319" cy="403319"/>
          </a:xfrm>
          <a:custGeom>
            <a:avLst/>
            <a:gdLst/>
            <a:ahLst/>
            <a:cxnLst/>
            <a:rect l="l" t="t" r="r" b="b"/>
            <a:pathLst>
              <a:path w="403319" h="403319">
                <a:moveTo>
                  <a:pt x="201660" y="0"/>
                </a:moveTo>
                <a:lnTo>
                  <a:pt x="201660" y="0"/>
                </a:lnTo>
                <a:cubicBezTo>
                  <a:pt x="312958" y="0"/>
                  <a:pt x="403319" y="90361"/>
                  <a:pt x="403319" y="201660"/>
                </a:cubicBezTo>
                <a:lnTo>
                  <a:pt x="403319" y="201660"/>
                </a:lnTo>
                <a:cubicBezTo>
                  <a:pt x="403319" y="312958"/>
                  <a:pt x="312958" y="403319"/>
                  <a:pt x="201660" y="403319"/>
                </a:cubicBezTo>
                <a:lnTo>
                  <a:pt x="201660" y="403319"/>
                </a:lnTo>
                <a:cubicBezTo>
                  <a:pt x="90361" y="403319"/>
                  <a:pt x="0" y="312958"/>
                  <a:pt x="0" y="201660"/>
                </a:cubicBezTo>
                <a:lnTo>
                  <a:pt x="0" y="201660"/>
                </a:lnTo>
                <a:cubicBezTo>
                  <a:pt x="0" y="90361"/>
                  <a:pt x="90361" y="0"/>
                  <a:pt x="201660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21784" y="3428212"/>
            <a:ext cx="168050" cy="168050"/>
          </a:xfrm>
          <a:custGeom>
            <a:avLst/>
            <a:gdLst/>
            <a:ahLst/>
            <a:cxnLst/>
            <a:rect l="l" t="t" r="r" b="b"/>
            <a:pathLst>
              <a:path w="168050" h="168050">
                <a:moveTo>
                  <a:pt x="47362" y="0"/>
                </a:moveTo>
                <a:lnTo>
                  <a:pt x="120884" y="0"/>
                </a:lnTo>
                <a:cubicBezTo>
                  <a:pt x="129582" y="0"/>
                  <a:pt x="136672" y="7155"/>
                  <a:pt x="136343" y="15820"/>
                </a:cubicBezTo>
                <a:cubicBezTo>
                  <a:pt x="136278" y="17560"/>
                  <a:pt x="136212" y="19299"/>
                  <a:pt x="136114" y="21006"/>
                </a:cubicBezTo>
                <a:lnTo>
                  <a:pt x="152393" y="21006"/>
                </a:lnTo>
                <a:cubicBezTo>
                  <a:pt x="160960" y="21006"/>
                  <a:pt x="168509" y="28096"/>
                  <a:pt x="167853" y="37352"/>
                </a:cubicBezTo>
                <a:cubicBezTo>
                  <a:pt x="165391" y="71388"/>
                  <a:pt x="147995" y="90097"/>
                  <a:pt x="129123" y="99878"/>
                </a:cubicBezTo>
                <a:cubicBezTo>
                  <a:pt x="123937" y="102569"/>
                  <a:pt x="118652" y="104572"/>
                  <a:pt x="113630" y="106049"/>
                </a:cubicBezTo>
                <a:cubicBezTo>
                  <a:pt x="107000" y="115436"/>
                  <a:pt x="100108" y="120392"/>
                  <a:pt x="94626" y="123050"/>
                </a:cubicBezTo>
                <a:lnTo>
                  <a:pt x="94626" y="147043"/>
                </a:lnTo>
                <a:lnTo>
                  <a:pt x="115633" y="147043"/>
                </a:lnTo>
                <a:cubicBezTo>
                  <a:pt x="121442" y="147043"/>
                  <a:pt x="126136" y="151737"/>
                  <a:pt x="126136" y="157547"/>
                </a:cubicBezTo>
                <a:cubicBezTo>
                  <a:pt x="126136" y="163356"/>
                  <a:pt x="121442" y="168050"/>
                  <a:pt x="115633" y="168050"/>
                </a:cubicBezTo>
                <a:lnTo>
                  <a:pt x="52614" y="168050"/>
                </a:lnTo>
                <a:cubicBezTo>
                  <a:pt x="46804" y="168050"/>
                  <a:pt x="42111" y="163356"/>
                  <a:pt x="42111" y="157547"/>
                </a:cubicBezTo>
                <a:cubicBezTo>
                  <a:pt x="42111" y="151737"/>
                  <a:pt x="46804" y="147043"/>
                  <a:pt x="52614" y="147043"/>
                </a:cubicBezTo>
                <a:lnTo>
                  <a:pt x="73620" y="147043"/>
                </a:lnTo>
                <a:lnTo>
                  <a:pt x="73620" y="123050"/>
                </a:lnTo>
                <a:cubicBezTo>
                  <a:pt x="68369" y="120523"/>
                  <a:pt x="61837" y="115830"/>
                  <a:pt x="55470" y="107197"/>
                </a:cubicBezTo>
                <a:cubicBezTo>
                  <a:pt x="49430" y="105622"/>
                  <a:pt x="42866" y="103226"/>
                  <a:pt x="36465" y="99615"/>
                </a:cubicBezTo>
                <a:cubicBezTo>
                  <a:pt x="18709" y="89670"/>
                  <a:pt x="2691" y="70929"/>
                  <a:pt x="394" y="37286"/>
                </a:cubicBezTo>
                <a:cubicBezTo>
                  <a:pt x="-230" y="28063"/>
                  <a:pt x="7287" y="20973"/>
                  <a:pt x="15853" y="20973"/>
                </a:cubicBezTo>
                <a:lnTo>
                  <a:pt x="32133" y="20973"/>
                </a:lnTo>
                <a:cubicBezTo>
                  <a:pt x="32034" y="19267"/>
                  <a:pt x="31969" y="17560"/>
                  <a:pt x="31903" y="15787"/>
                </a:cubicBezTo>
                <a:cubicBezTo>
                  <a:pt x="31575" y="7090"/>
                  <a:pt x="38665" y="-33"/>
                  <a:pt x="47362" y="-33"/>
                </a:cubicBezTo>
                <a:close/>
                <a:moveTo>
                  <a:pt x="33315" y="36761"/>
                </a:moveTo>
                <a:lnTo>
                  <a:pt x="16116" y="36761"/>
                </a:lnTo>
                <a:cubicBezTo>
                  <a:pt x="18151" y="64561"/>
                  <a:pt x="30919" y="78478"/>
                  <a:pt x="44080" y="85863"/>
                </a:cubicBezTo>
                <a:cubicBezTo>
                  <a:pt x="39354" y="73620"/>
                  <a:pt x="35448" y="57636"/>
                  <a:pt x="33315" y="36761"/>
                </a:cubicBezTo>
                <a:close/>
                <a:moveTo>
                  <a:pt x="124724" y="84287"/>
                </a:moveTo>
                <a:cubicBezTo>
                  <a:pt x="138017" y="76476"/>
                  <a:pt x="150030" y="62592"/>
                  <a:pt x="152065" y="36761"/>
                </a:cubicBezTo>
                <a:lnTo>
                  <a:pt x="134899" y="36761"/>
                </a:lnTo>
                <a:cubicBezTo>
                  <a:pt x="132864" y="56750"/>
                  <a:pt x="129188" y="72274"/>
                  <a:pt x="124724" y="84287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008298" y="3394602"/>
            <a:ext cx="1386409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1A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Strongest Predictor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4149" y="3814726"/>
            <a:ext cx="5453210" cy="436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9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Shopping Experience (β = 0.931)</a:t>
            </a:r>
            <a:r>
              <a:rPr lang="en-US" sz="1059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emerges as the most influential factor. High internet adoption among Generation Y drives positive online purchase intention.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4149" y="4352485"/>
            <a:ext cx="5385990" cy="302489"/>
          </a:xfrm>
          <a:custGeom>
            <a:avLst/>
            <a:gdLst/>
            <a:ahLst/>
            <a:cxnLst/>
            <a:rect l="l" t="t" r="r" b="b"/>
            <a:pathLst>
              <a:path w="5385990" h="302489">
                <a:moveTo>
                  <a:pt x="33610" y="0"/>
                </a:moveTo>
                <a:lnTo>
                  <a:pt x="5352381" y="0"/>
                </a:lnTo>
                <a:cubicBezTo>
                  <a:pt x="5370943" y="0"/>
                  <a:pt x="5385990" y="15048"/>
                  <a:pt x="5385990" y="33610"/>
                </a:cubicBezTo>
                <a:lnTo>
                  <a:pt x="5385990" y="268880"/>
                </a:lnTo>
                <a:cubicBezTo>
                  <a:pt x="5385990" y="287442"/>
                  <a:pt x="5370943" y="302489"/>
                  <a:pt x="5352381" y="302489"/>
                </a:cubicBezTo>
                <a:lnTo>
                  <a:pt x="33610" y="302489"/>
                </a:lnTo>
                <a:cubicBezTo>
                  <a:pt x="15048" y="302489"/>
                  <a:pt x="0" y="287442"/>
                  <a:pt x="0" y="268880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604979" y="4436510"/>
            <a:ext cx="100830" cy="134440"/>
          </a:xfrm>
          <a:custGeom>
            <a:avLst/>
            <a:gdLst/>
            <a:ahLst/>
            <a:cxnLst/>
            <a:rect l="l" t="t" r="r" b="b"/>
            <a:pathLst>
              <a:path w="100830" h="134440">
                <a:moveTo>
                  <a:pt x="56349" y="4569"/>
                </a:moveTo>
                <a:cubicBezTo>
                  <a:pt x="53067" y="1287"/>
                  <a:pt x="47737" y="1287"/>
                  <a:pt x="44454" y="4569"/>
                </a:cubicBezTo>
                <a:lnTo>
                  <a:pt x="2442" y="46581"/>
                </a:lnTo>
                <a:cubicBezTo>
                  <a:pt x="-840" y="49863"/>
                  <a:pt x="-840" y="55194"/>
                  <a:pt x="2442" y="58476"/>
                </a:cubicBezTo>
                <a:cubicBezTo>
                  <a:pt x="5724" y="61758"/>
                  <a:pt x="11055" y="61758"/>
                  <a:pt x="14337" y="58476"/>
                </a:cubicBezTo>
                <a:lnTo>
                  <a:pt x="42012" y="30800"/>
                </a:lnTo>
                <a:lnTo>
                  <a:pt x="42012" y="128138"/>
                </a:lnTo>
                <a:cubicBezTo>
                  <a:pt x="42012" y="132785"/>
                  <a:pt x="45767" y="136540"/>
                  <a:pt x="50415" y="136540"/>
                </a:cubicBezTo>
                <a:cubicBezTo>
                  <a:pt x="55063" y="136540"/>
                  <a:pt x="58817" y="132785"/>
                  <a:pt x="58817" y="128138"/>
                </a:cubicBezTo>
                <a:lnTo>
                  <a:pt x="58817" y="30800"/>
                </a:lnTo>
                <a:lnTo>
                  <a:pt x="86493" y="58476"/>
                </a:lnTo>
                <a:cubicBezTo>
                  <a:pt x="89775" y="61758"/>
                  <a:pt x="95106" y="61758"/>
                  <a:pt x="98388" y="58476"/>
                </a:cubicBezTo>
                <a:cubicBezTo>
                  <a:pt x="101670" y="55194"/>
                  <a:pt x="101670" y="49863"/>
                  <a:pt x="98388" y="46581"/>
                </a:cubicBezTo>
                <a:lnTo>
                  <a:pt x="56375" y="4569"/>
                </a:lnTo>
                <a:close/>
              </a:path>
            </a:pathLst>
          </a:custGeom>
          <a:solidFill>
            <a:srgbClr val="00A63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806638" y="4419705"/>
            <a:ext cx="2067010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Positive experience → Higher intention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4149" y="4705389"/>
            <a:ext cx="5385990" cy="302489"/>
          </a:xfrm>
          <a:custGeom>
            <a:avLst/>
            <a:gdLst/>
            <a:ahLst/>
            <a:cxnLst/>
            <a:rect l="l" t="t" r="r" b="b"/>
            <a:pathLst>
              <a:path w="5385990" h="302489">
                <a:moveTo>
                  <a:pt x="33610" y="0"/>
                </a:moveTo>
                <a:lnTo>
                  <a:pt x="5352381" y="0"/>
                </a:lnTo>
                <a:cubicBezTo>
                  <a:pt x="5370943" y="0"/>
                  <a:pt x="5385990" y="15048"/>
                  <a:pt x="5385990" y="33610"/>
                </a:cubicBezTo>
                <a:lnTo>
                  <a:pt x="5385990" y="268880"/>
                </a:lnTo>
                <a:cubicBezTo>
                  <a:pt x="5385990" y="287442"/>
                  <a:pt x="5370943" y="302489"/>
                  <a:pt x="5352381" y="302489"/>
                </a:cubicBezTo>
                <a:lnTo>
                  <a:pt x="33610" y="302489"/>
                </a:lnTo>
                <a:cubicBezTo>
                  <a:pt x="15048" y="302489"/>
                  <a:pt x="0" y="287442"/>
                  <a:pt x="0" y="268880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571369" y="4789414"/>
            <a:ext cx="168050" cy="134440"/>
          </a:xfrm>
          <a:custGeom>
            <a:avLst/>
            <a:gdLst/>
            <a:ahLst/>
            <a:cxnLst/>
            <a:rect l="l" t="t" r="r" b="b"/>
            <a:pathLst>
              <a:path w="168050" h="134440">
                <a:moveTo>
                  <a:pt x="84025" y="4201"/>
                </a:moveTo>
                <a:cubicBezTo>
                  <a:pt x="99097" y="4201"/>
                  <a:pt x="111333" y="16438"/>
                  <a:pt x="111333" y="31509"/>
                </a:cubicBezTo>
                <a:cubicBezTo>
                  <a:pt x="111333" y="46581"/>
                  <a:pt x="99097" y="58817"/>
                  <a:pt x="84025" y="58817"/>
                </a:cubicBezTo>
                <a:cubicBezTo>
                  <a:pt x="68953" y="58817"/>
                  <a:pt x="56717" y="46581"/>
                  <a:pt x="56717" y="31509"/>
                </a:cubicBezTo>
                <a:cubicBezTo>
                  <a:pt x="56717" y="16438"/>
                  <a:pt x="68953" y="4201"/>
                  <a:pt x="84025" y="4201"/>
                </a:cubicBezTo>
                <a:close/>
                <a:moveTo>
                  <a:pt x="25207" y="23107"/>
                </a:moveTo>
                <a:cubicBezTo>
                  <a:pt x="35642" y="23107"/>
                  <a:pt x="44113" y="31578"/>
                  <a:pt x="44113" y="42012"/>
                </a:cubicBezTo>
                <a:cubicBezTo>
                  <a:pt x="44113" y="52447"/>
                  <a:pt x="35642" y="60918"/>
                  <a:pt x="25207" y="60918"/>
                </a:cubicBezTo>
                <a:cubicBezTo>
                  <a:pt x="14773" y="60918"/>
                  <a:pt x="6302" y="52447"/>
                  <a:pt x="6302" y="42012"/>
                </a:cubicBezTo>
                <a:cubicBezTo>
                  <a:pt x="6302" y="31578"/>
                  <a:pt x="14773" y="23107"/>
                  <a:pt x="25207" y="23107"/>
                </a:cubicBezTo>
                <a:close/>
                <a:moveTo>
                  <a:pt x="0" y="109232"/>
                </a:moveTo>
                <a:cubicBezTo>
                  <a:pt x="0" y="90668"/>
                  <a:pt x="15046" y="75622"/>
                  <a:pt x="33610" y="75622"/>
                </a:cubicBezTo>
                <a:cubicBezTo>
                  <a:pt x="36971" y="75622"/>
                  <a:pt x="40227" y="76121"/>
                  <a:pt x="43299" y="77040"/>
                </a:cubicBezTo>
                <a:cubicBezTo>
                  <a:pt x="34660" y="86703"/>
                  <a:pt x="29409" y="99464"/>
                  <a:pt x="29409" y="113433"/>
                </a:cubicBezTo>
                <a:lnTo>
                  <a:pt x="29409" y="117635"/>
                </a:lnTo>
                <a:cubicBezTo>
                  <a:pt x="29409" y="120628"/>
                  <a:pt x="30039" y="123464"/>
                  <a:pt x="31168" y="126037"/>
                </a:cubicBezTo>
                <a:lnTo>
                  <a:pt x="8402" y="126037"/>
                </a:lnTo>
                <a:cubicBezTo>
                  <a:pt x="3755" y="126037"/>
                  <a:pt x="0" y="122282"/>
                  <a:pt x="0" y="117635"/>
                </a:cubicBezTo>
                <a:lnTo>
                  <a:pt x="0" y="109232"/>
                </a:lnTo>
                <a:close/>
                <a:moveTo>
                  <a:pt x="136882" y="126037"/>
                </a:moveTo>
                <a:cubicBezTo>
                  <a:pt x="138011" y="123464"/>
                  <a:pt x="138641" y="120628"/>
                  <a:pt x="138641" y="117635"/>
                </a:cubicBezTo>
                <a:lnTo>
                  <a:pt x="138641" y="113433"/>
                </a:lnTo>
                <a:cubicBezTo>
                  <a:pt x="138641" y="99464"/>
                  <a:pt x="133389" y="86703"/>
                  <a:pt x="124751" y="77040"/>
                </a:cubicBezTo>
                <a:cubicBezTo>
                  <a:pt x="127823" y="76121"/>
                  <a:pt x="131079" y="75622"/>
                  <a:pt x="134440" y="75622"/>
                </a:cubicBezTo>
                <a:cubicBezTo>
                  <a:pt x="153004" y="75622"/>
                  <a:pt x="168050" y="90668"/>
                  <a:pt x="168050" y="109232"/>
                </a:cubicBezTo>
                <a:lnTo>
                  <a:pt x="168050" y="117635"/>
                </a:lnTo>
                <a:cubicBezTo>
                  <a:pt x="168050" y="122282"/>
                  <a:pt x="164295" y="126037"/>
                  <a:pt x="159647" y="126037"/>
                </a:cubicBezTo>
                <a:lnTo>
                  <a:pt x="136882" y="126037"/>
                </a:lnTo>
                <a:close/>
                <a:moveTo>
                  <a:pt x="123937" y="42012"/>
                </a:moveTo>
                <a:cubicBezTo>
                  <a:pt x="123937" y="31578"/>
                  <a:pt x="132408" y="23107"/>
                  <a:pt x="142842" y="23107"/>
                </a:cubicBezTo>
                <a:cubicBezTo>
                  <a:pt x="153276" y="23107"/>
                  <a:pt x="161748" y="31578"/>
                  <a:pt x="161748" y="42012"/>
                </a:cubicBezTo>
                <a:cubicBezTo>
                  <a:pt x="161748" y="52447"/>
                  <a:pt x="153276" y="60918"/>
                  <a:pt x="142842" y="60918"/>
                </a:cubicBezTo>
                <a:cubicBezTo>
                  <a:pt x="132408" y="60918"/>
                  <a:pt x="123937" y="52447"/>
                  <a:pt x="123937" y="42012"/>
                </a:cubicBezTo>
                <a:close/>
                <a:moveTo>
                  <a:pt x="42012" y="113433"/>
                </a:moveTo>
                <a:cubicBezTo>
                  <a:pt x="42012" y="90222"/>
                  <a:pt x="60813" y="71421"/>
                  <a:pt x="84025" y="71421"/>
                </a:cubicBezTo>
                <a:cubicBezTo>
                  <a:pt x="107237" y="71421"/>
                  <a:pt x="126037" y="90222"/>
                  <a:pt x="126037" y="113433"/>
                </a:cubicBezTo>
                <a:lnTo>
                  <a:pt x="126037" y="117635"/>
                </a:lnTo>
                <a:cubicBezTo>
                  <a:pt x="126037" y="122282"/>
                  <a:pt x="122282" y="126037"/>
                  <a:pt x="117635" y="126037"/>
                </a:cubicBezTo>
                <a:lnTo>
                  <a:pt x="50415" y="126037"/>
                </a:lnTo>
                <a:cubicBezTo>
                  <a:pt x="45767" y="126037"/>
                  <a:pt x="42012" y="122282"/>
                  <a:pt x="42012" y="117635"/>
                </a:cubicBezTo>
                <a:lnTo>
                  <a:pt x="42012" y="113433"/>
                </a:ln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806638" y="4772609"/>
            <a:ext cx="1604874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Generation Y most responsive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78625" y="1176347"/>
            <a:ext cx="5671675" cy="2100620"/>
          </a:xfrm>
          <a:custGeom>
            <a:avLst/>
            <a:gdLst/>
            <a:ahLst/>
            <a:cxnLst/>
            <a:rect l="l" t="t" r="r" b="b"/>
            <a:pathLst>
              <a:path w="5671675" h="2100620">
                <a:moveTo>
                  <a:pt x="33610" y="0"/>
                </a:moveTo>
                <a:lnTo>
                  <a:pt x="5604455" y="0"/>
                </a:lnTo>
                <a:cubicBezTo>
                  <a:pt x="5641579" y="0"/>
                  <a:pt x="5671675" y="30095"/>
                  <a:pt x="5671675" y="67220"/>
                </a:cubicBezTo>
                <a:lnTo>
                  <a:pt x="5671675" y="2033400"/>
                </a:lnTo>
                <a:cubicBezTo>
                  <a:pt x="5671675" y="2070525"/>
                  <a:pt x="5641579" y="2100620"/>
                  <a:pt x="5604455" y="2100620"/>
                </a:cubicBezTo>
                <a:lnTo>
                  <a:pt x="33610" y="2100620"/>
                </a:lnTo>
                <a:cubicBezTo>
                  <a:pt x="15048" y="2100620"/>
                  <a:pt x="0" y="2085573"/>
                  <a:pt x="0" y="2067010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0415" dist="3361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6178625" y="1176347"/>
            <a:ext cx="33610" cy="2100620"/>
          </a:xfrm>
          <a:custGeom>
            <a:avLst/>
            <a:gdLst/>
            <a:ahLst/>
            <a:cxnLst/>
            <a:rect l="l" t="t" r="r" b="b"/>
            <a:pathLst>
              <a:path w="33610" h="2100620">
                <a:moveTo>
                  <a:pt x="33610" y="0"/>
                </a:moveTo>
                <a:lnTo>
                  <a:pt x="33610" y="0"/>
                </a:lnTo>
                <a:lnTo>
                  <a:pt x="33610" y="2100620"/>
                </a:lnTo>
                <a:lnTo>
                  <a:pt x="33610" y="2100620"/>
                </a:lnTo>
                <a:cubicBezTo>
                  <a:pt x="15048" y="2100620"/>
                  <a:pt x="0" y="2085573"/>
                  <a:pt x="0" y="2067010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6329869" y="1310787"/>
            <a:ext cx="403319" cy="403319"/>
          </a:xfrm>
          <a:custGeom>
            <a:avLst/>
            <a:gdLst/>
            <a:ahLst/>
            <a:cxnLst/>
            <a:rect l="l" t="t" r="r" b="b"/>
            <a:pathLst>
              <a:path w="403319" h="403319">
                <a:moveTo>
                  <a:pt x="201660" y="0"/>
                </a:moveTo>
                <a:lnTo>
                  <a:pt x="201660" y="0"/>
                </a:lnTo>
                <a:cubicBezTo>
                  <a:pt x="312958" y="0"/>
                  <a:pt x="403319" y="90361"/>
                  <a:pt x="403319" y="201660"/>
                </a:cubicBezTo>
                <a:lnTo>
                  <a:pt x="403319" y="201660"/>
                </a:lnTo>
                <a:cubicBezTo>
                  <a:pt x="403319" y="312958"/>
                  <a:pt x="312958" y="403319"/>
                  <a:pt x="201660" y="403319"/>
                </a:cubicBezTo>
                <a:lnTo>
                  <a:pt x="201660" y="403319"/>
                </a:lnTo>
                <a:cubicBezTo>
                  <a:pt x="90361" y="403319"/>
                  <a:pt x="0" y="312958"/>
                  <a:pt x="0" y="201660"/>
                </a:cubicBezTo>
                <a:lnTo>
                  <a:pt x="0" y="201660"/>
                </a:lnTo>
                <a:cubicBezTo>
                  <a:pt x="0" y="90361"/>
                  <a:pt x="90361" y="0"/>
                  <a:pt x="201660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6447504" y="1428422"/>
            <a:ext cx="168050" cy="168050"/>
          </a:xfrm>
          <a:custGeom>
            <a:avLst/>
            <a:gdLst/>
            <a:ahLst/>
            <a:cxnLst/>
            <a:rect l="l" t="t" r="r" b="b"/>
            <a:pathLst>
              <a:path w="168050" h="168050">
                <a:moveTo>
                  <a:pt x="84025" y="168050"/>
                </a:moveTo>
                <a:cubicBezTo>
                  <a:pt x="130399" y="168050"/>
                  <a:pt x="168050" y="130399"/>
                  <a:pt x="168050" y="84025"/>
                </a:cubicBezTo>
                <a:cubicBezTo>
                  <a:pt x="168050" y="37650"/>
                  <a:pt x="130399" y="0"/>
                  <a:pt x="84025" y="0"/>
                </a:cubicBezTo>
                <a:cubicBezTo>
                  <a:pt x="37650" y="0"/>
                  <a:pt x="0" y="37650"/>
                  <a:pt x="0" y="84025"/>
                </a:cubicBezTo>
                <a:cubicBezTo>
                  <a:pt x="0" y="130399"/>
                  <a:pt x="37650" y="168050"/>
                  <a:pt x="84025" y="168050"/>
                </a:cubicBezTo>
                <a:close/>
                <a:moveTo>
                  <a:pt x="54813" y="54813"/>
                </a:moveTo>
                <a:cubicBezTo>
                  <a:pt x="57898" y="51728"/>
                  <a:pt x="62887" y="51728"/>
                  <a:pt x="65940" y="54813"/>
                </a:cubicBezTo>
                <a:lnTo>
                  <a:pt x="83992" y="72865"/>
                </a:lnTo>
                <a:lnTo>
                  <a:pt x="102044" y="54813"/>
                </a:lnTo>
                <a:cubicBezTo>
                  <a:pt x="105129" y="51728"/>
                  <a:pt x="110118" y="51728"/>
                  <a:pt x="113171" y="54813"/>
                </a:cubicBezTo>
                <a:cubicBezTo>
                  <a:pt x="116223" y="57898"/>
                  <a:pt x="116256" y="62887"/>
                  <a:pt x="113171" y="65940"/>
                </a:cubicBezTo>
                <a:lnTo>
                  <a:pt x="95119" y="83992"/>
                </a:lnTo>
                <a:lnTo>
                  <a:pt x="113171" y="102044"/>
                </a:lnTo>
                <a:cubicBezTo>
                  <a:pt x="116256" y="105129"/>
                  <a:pt x="116256" y="110118"/>
                  <a:pt x="113171" y="113171"/>
                </a:cubicBezTo>
                <a:cubicBezTo>
                  <a:pt x="110086" y="116223"/>
                  <a:pt x="105097" y="116256"/>
                  <a:pt x="102044" y="113171"/>
                </a:cubicBezTo>
                <a:lnTo>
                  <a:pt x="83992" y="95119"/>
                </a:lnTo>
                <a:lnTo>
                  <a:pt x="65940" y="113171"/>
                </a:lnTo>
                <a:cubicBezTo>
                  <a:pt x="62854" y="116256"/>
                  <a:pt x="57866" y="116256"/>
                  <a:pt x="54813" y="113171"/>
                </a:cubicBezTo>
                <a:cubicBezTo>
                  <a:pt x="51761" y="110086"/>
                  <a:pt x="51728" y="105097"/>
                  <a:pt x="54813" y="102044"/>
                </a:cubicBezTo>
                <a:lnTo>
                  <a:pt x="72865" y="83992"/>
                </a:lnTo>
                <a:lnTo>
                  <a:pt x="54813" y="65940"/>
                </a:lnTo>
                <a:cubicBezTo>
                  <a:pt x="51728" y="62854"/>
                  <a:pt x="51728" y="57866"/>
                  <a:pt x="54813" y="5481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6834018" y="1394812"/>
            <a:ext cx="1991388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1A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Perceived Risk: Insignificant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29869" y="1814936"/>
            <a:ext cx="5453210" cy="2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9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H4 not supported (p = 0.796)</a:t>
            </a:r>
            <a:r>
              <a:rPr lang="en-US" sz="1059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contradicting previous literature. Potential explanations: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29869" y="2134230"/>
            <a:ext cx="5385990" cy="302489"/>
          </a:xfrm>
          <a:custGeom>
            <a:avLst/>
            <a:gdLst/>
            <a:ahLst/>
            <a:cxnLst/>
            <a:rect l="l" t="t" r="r" b="b"/>
            <a:pathLst>
              <a:path w="5385990" h="302489">
                <a:moveTo>
                  <a:pt x="33610" y="0"/>
                </a:moveTo>
                <a:lnTo>
                  <a:pt x="5352381" y="0"/>
                </a:lnTo>
                <a:cubicBezTo>
                  <a:pt x="5370943" y="0"/>
                  <a:pt x="5385990" y="15048"/>
                  <a:pt x="5385990" y="33610"/>
                </a:cubicBezTo>
                <a:lnTo>
                  <a:pt x="5385990" y="268880"/>
                </a:lnTo>
                <a:cubicBezTo>
                  <a:pt x="5385990" y="287442"/>
                  <a:pt x="5370943" y="302489"/>
                  <a:pt x="5352381" y="302489"/>
                </a:cubicBezTo>
                <a:lnTo>
                  <a:pt x="33610" y="302489"/>
                </a:lnTo>
                <a:cubicBezTo>
                  <a:pt x="15048" y="302489"/>
                  <a:pt x="0" y="287442"/>
                  <a:pt x="0" y="268880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FE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6409693" y="2251865"/>
            <a:ext cx="100830" cy="100830"/>
          </a:xfrm>
          <a:custGeom>
            <a:avLst/>
            <a:gdLst/>
            <a:ahLst/>
            <a:cxnLst/>
            <a:rect l="l" t="t" r="r" b="b"/>
            <a:pathLst>
              <a:path w="100830" h="100830">
                <a:moveTo>
                  <a:pt x="0" y="50415"/>
                </a:moveTo>
                <a:cubicBezTo>
                  <a:pt x="0" y="22590"/>
                  <a:pt x="22590" y="0"/>
                  <a:pt x="50415" y="0"/>
                </a:cubicBezTo>
                <a:cubicBezTo>
                  <a:pt x="78240" y="0"/>
                  <a:pt x="100830" y="22590"/>
                  <a:pt x="100830" y="50415"/>
                </a:cubicBezTo>
                <a:cubicBezTo>
                  <a:pt x="100830" y="78240"/>
                  <a:pt x="78240" y="100830"/>
                  <a:pt x="50415" y="100830"/>
                </a:cubicBezTo>
                <a:cubicBezTo>
                  <a:pt x="22590" y="100830"/>
                  <a:pt x="0" y="78240"/>
                  <a:pt x="0" y="50415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6590346" y="2201450"/>
            <a:ext cx="3369395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Sample characteristics: tech-savvy respondents less risk-averse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29869" y="2487134"/>
            <a:ext cx="5385990" cy="302489"/>
          </a:xfrm>
          <a:custGeom>
            <a:avLst/>
            <a:gdLst/>
            <a:ahLst/>
            <a:cxnLst/>
            <a:rect l="l" t="t" r="r" b="b"/>
            <a:pathLst>
              <a:path w="5385990" h="302489">
                <a:moveTo>
                  <a:pt x="33610" y="0"/>
                </a:moveTo>
                <a:lnTo>
                  <a:pt x="5352381" y="0"/>
                </a:lnTo>
                <a:cubicBezTo>
                  <a:pt x="5370943" y="0"/>
                  <a:pt x="5385990" y="15048"/>
                  <a:pt x="5385990" y="33610"/>
                </a:cubicBezTo>
                <a:lnTo>
                  <a:pt x="5385990" y="268880"/>
                </a:lnTo>
                <a:cubicBezTo>
                  <a:pt x="5385990" y="287442"/>
                  <a:pt x="5370943" y="302489"/>
                  <a:pt x="5352381" y="302489"/>
                </a:cubicBezTo>
                <a:lnTo>
                  <a:pt x="33610" y="302489"/>
                </a:lnTo>
                <a:cubicBezTo>
                  <a:pt x="15048" y="302489"/>
                  <a:pt x="0" y="287442"/>
                  <a:pt x="0" y="268880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FE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6409693" y="2604769"/>
            <a:ext cx="100830" cy="100830"/>
          </a:xfrm>
          <a:custGeom>
            <a:avLst/>
            <a:gdLst/>
            <a:ahLst/>
            <a:cxnLst/>
            <a:rect l="l" t="t" r="r" b="b"/>
            <a:pathLst>
              <a:path w="100830" h="100830">
                <a:moveTo>
                  <a:pt x="0" y="50415"/>
                </a:moveTo>
                <a:cubicBezTo>
                  <a:pt x="0" y="22590"/>
                  <a:pt x="22590" y="0"/>
                  <a:pt x="50415" y="0"/>
                </a:cubicBezTo>
                <a:cubicBezTo>
                  <a:pt x="78240" y="0"/>
                  <a:pt x="100830" y="22590"/>
                  <a:pt x="100830" y="50415"/>
                </a:cubicBezTo>
                <a:cubicBezTo>
                  <a:pt x="100830" y="78240"/>
                  <a:pt x="78240" y="100830"/>
                  <a:pt x="50415" y="100830"/>
                </a:cubicBezTo>
                <a:cubicBezTo>
                  <a:pt x="22590" y="100830"/>
                  <a:pt x="0" y="78240"/>
                  <a:pt x="0" y="50415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6590346" y="2554354"/>
            <a:ext cx="3411407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Singapore's secure e-commerce infrastructure reduces concerns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29869" y="2840039"/>
            <a:ext cx="5385990" cy="302489"/>
          </a:xfrm>
          <a:custGeom>
            <a:avLst/>
            <a:gdLst/>
            <a:ahLst/>
            <a:cxnLst/>
            <a:rect l="l" t="t" r="r" b="b"/>
            <a:pathLst>
              <a:path w="5385990" h="302489">
                <a:moveTo>
                  <a:pt x="33610" y="0"/>
                </a:moveTo>
                <a:lnTo>
                  <a:pt x="5352381" y="0"/>
                </a:lnTo>
                <a:cubicBezTo>
                  <a:pt x="5370943" y="0"/>
                  <a:pt x="5385990" y="15048"/>
                  <a:pt x="5385990" y="33610"/>
                </a:cubicBezTo>
                <a:lnTo>
                  <a:pt x="5385990" y="268880"/>
                </a:lnTo>
                <a:cubicBezTo>
                  <a:pt x="5385990" y="287442"/>
                  <a:pt x="5370943" y="302489"/>
                  <a:pt x="5352381" y="302489"/>
                </a:cubicBezTo>
                <a:lnTo>
                  <a:pt x="33610" y="302489"/>
                </a:lnTo>
                <a:cubicBezTo>
                  <a:pt x="15048" y="302489"/>
                  <a:pt x="0" y="287442"/>
                  <a:pt x="0" y="268880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FE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6409693" y="2957673"/>
            <a:ext cx="100830" cy="100830"/>
          </a:xfrm>
          <a:custGeom>
            <a:avLst/>
            <a:gdLst/>
            <a:ahLst/>
            <a:cxnLst/>
            <a:rect l="l" t="t" r="r" b="b"/>
            <a:pathLst>
              <a:path w="100830" h="100830">
                <a:moveTo>
                  <a:pt x="0" y="50415"/>
                </a:moveTo>
                <a:cubicBezTo>
                  <a:pt x="0" y="22590"/>
                  <a:pt x="22590" y="0"/>
                  <a:pt x="50415" y="0"/>
                </a:cubicBezTo>
                <a:cubicBezTo>
                  <a:pt x="78240" y="0"/>
                  <a:pt x="100830" y="22590"/>
                  <a:pt x="100830" y="50415"/>
                </a:cubicBezTo>
                <a:cubicBezTo>
                  <a:pt x="100830" y="78240"/>
                  <a:pt x="78240" y="100830"/>
                  <a:pt x="50415" y="100830"/>
                </a:cubicBezTo>
                <a:cubicBezTo>
                  <a:pt x="22590" y="100830"/>
                  <a:pt x="0" y="78240"/>
                  <a:pt x="0" y="50415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6590346" y="2907258"/>
            <a:ext cx="3638274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affects satisfaction more than initial intention (Ariffin et al., 2018)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61820" y="3377797"/>
            <a:ext cx="5688480" cy="1411617"/>
          </a:xfrm>
          <a:custGeom>
            <a:avLst/>
            <a:gdLst/>
            <a:ahLst/>
            <a:cxnLst/>
            <a:rect l="l" t="t" r="r" b="b"/>
            <a:pathLst>
              <a:path w="5688480" h="1411617">
                <a:moveTo>
                  <a:pt x="67221" y="0"/>
                </a:moveTo>
                <a:lnTo>
                  <a:pt x="5621258" y="0"/>
                </a:lnTo>
                <a:cubicBezTo>
                  <a:pt x="5658384" y="0"/>
                  <a:pt x="5688480" y="30096"/>
                  <a:pt x="5688480" y="67221"/>
                </a:cubicBezTo>
                <a:lnTo>
                  <a:pt x="5688480" y="1344396"/>
                </a:lnTo>
                <a:cubicBezTo>
                  <a:pt x="5688480" y="1381521"/>
                  <a:pt x="5658384" y="1411617"/>
                  <a:pt x="5621258" y="1411617"/>
                </a:cubicBezTo>
                <a:lnTo>
                  <a:pt x="67221" y="1411617"/>
                </a:lnTo>
                <a:cubicBezTo>
                  <a:pt x="30096" y="1411617"/>
                  <a:pt x="0" y="1381521"/>
                  <a:pt x="0" y="1344396"/>
                </a:cubicBezTo>
                <a:lnTo>
                  <a:pt x="0" y="67221"/>
                </a:lnTo>
                <a:cubicBezTo>
                  <a:pt x="0" y="30121"/>
                  <a:pt x="30121" y="0"/>
                  <a:pt x="67221" y="0"/>
                </a:cubicBezTo>
                <a:close/>
              </a:path>
            </a:pathLst>
          </a:custGeom>
          <a:solidFill>
            <a:srgbClr val="1A3A5C"/>
          </a:solidFill>
          <a:ln/>
          <a:effectLst>
            <a:outerShdw blurRad="50415" dist="3361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6296259" y="3512237"/>
            <a:ext cx="5495223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1" b="1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Gender &amp; Age Differences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36171" y="3881946"/>
            <a:ext cx="113433" cy="151245"/>
          </a:xfrm>
          <a:custGeom>
            <a:avLst/>
            <a:gdLst/>
            <a:ahLst/>
            <a:cxnLst/>
            <a:rect l="l" t="t" r="r" b="b"/>
            <a:pathLst>
              <a:path w="113433" h="151245">
                <a:moveTo>
                  <a:pt x="40174" y="7090"/>
                </a:moveTo>
                <a:cubicBezTo>
                  <a:pt x="40174" y="-2040"/>
                  <a:pt x="47587" y="-9453"/>
                  <a:pt x="56717" y="-9453"/>
                </a:cubicBezTo>
                <a:cubicBezTo>
                  <a:pt x="65847" y="-9453"/>
                  <a:pt x="73259" y="-2040"/>
                  <a:pt x="73259" y="7090"/>
                </a:cubicBezTo>
                <a:cubicBezTo>
                  <a:pt x="73259" y="16220"/>
                  <a:pt x="65847" y="23632"/>
                  <a:pt x="56717" y="23632"/>
                </a:cubicBezTo>
                <a:cubicBezTo>
                  <a:pt x="47587" y="23632"/>
                  <a:pt x="40174" y="16220"/>
                  <a:pt x="40174" y="7090"/>
                </a:cubicBezTo>
                <a:close/>
                <a:moveTo>
                  <a:pt x="33085" y="113433"/>
                </a:moveTo>
                <a:lnTo>
                  <a:pt x="25463" y="113433"/>
                </a:lnTo>
                <a:cubicBezTo>
                  <a:pt x="22244" y="113433"/>
                  <a:pt x="19969" y="110273"/>
                  <a:pt x="20973" y="107201"/>
                </a:cubicBezTo>
                <a:lnTo>
                  <a:pt x="33676" y="69094"/>
                </a:lnTo>
                <a:lnTo>
                  <a:pt x="19408" y="88325"/>
                </a:lnTo>
                <a:cubicBezTo>
                  <a:pt x="16306" y="92519"/>
                  <a:pt x="10369" y="93405"/>
                  <a:pt x="6174" y="90274"/>
                </a:cubicBezTo>
                <a:cubicBezTo>
                  <a:pt x="1979" y="87143"/>
                  <a:pt x="1093" y="81235"/>
                  <a:pt x="4224" y="77040"/>
                </a:cubicBezTo>
                <a:lnTo>
                  <a:pt x="25050" y="48977"/>
                </a:lnTo>
                <a:cubicBezTo>
                  <a:pt x="32494" y="38993"/>
                  <a:pt x="44221" y="33085"/>
                  <a:pt x="56717" y="33085"/>
                </a:cubicBezTo>
                <a:cubicBezTo>
                  <a:pt x="69212" y="33085"/>
                  <a:pt x="80940" y="38993"/>
                  <a:pt x="88384" y="49007"/>
                </a:cubicBezTo>
                <a:lnTo>
                  <a:pt x="109209" y="77070"/>
                </a:lnTo>
                <a:cubicBezTo>
                  <a:pt x="112311" y="81264"/>
                  <a:pt x="111454" y="87172"/>
                  <a:pt x="107260" y="90304"/>
                </a:cubicBezTo>
                <a:cubicBezTo>
                  <a:pt x="103065" y="93435"/>
                  <a:pt x="97157" y="92549"/>
                  <a:pt x="94026" y="88354"/>
                </a:cubicBezTo>
                <a:lnTo>
                  <a:pt x="79758" y="69124"/>
                </a:lnTo>
                <a:lnTo>
                  <a:pt x="92460" y="107201"/>
                </a:lnTo>
                <a:cubicBezTo>
                  <a:pt x="93494" y="110273"/>
                  <a:pt x="91190" y="113433"/>
                  <a:pt x="87970" y="113433"/>
                </a:cubicBezTo>
                <a:lnTo>
                  <a:pt x="80349" y="113433"/>
                </a:lnTo>
                <a:lnTo>
                  <a:pt x="80349" y="151245"/>
                </a:lnTo>
                <a:cubicBezTo>
                  <a:pt x="80349" y="156473"/>
                  <a:pt x="76125" y="160697"/>
                  <a:pt x="70896" y="160697"/>
                </a:cubicBezTo>
                <a:cubicBezTo>
                  <a:pt x="65667" y="160697"/>
                  <a:pt x="61443" y="156473"/>
                  <a:pt x="61443" y="151245"/>
                </a:cubicBezTo>
                <a:lnTo>
                  <a:pt x="61443" y="113433"/>
                </a:lnTo>
                <a:lnTo>
                  <a:pt x="51990" y="113433"/>
                </a:lnTo>
                <a:lnTo>
                  <a:pt x="51990" y="151245"/>
                </a:lnTo>
                <a:cubicBezTo>
                  <a:pt x="51990" y="156473"/>
                  <a:pt x="47766" y="160697"/>
                  <a:pt x="42538" y="160697"/>
                </a:cubicBezTo>
                <a:cubicBezTo>
                  <a:pt x="37309" y="160697"/>
                  <a:pt x="33085" y="156473"/>
                  <a:pt x="33085" y="151245"/>
                </a:cubicBezTo>
                <a:lnTo>
                  <a:pt x="33085" y="113433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6586145" y="3848336"/>
            <a:ext cx="5175928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Female Consumers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586145" y="4049996"/>
            <a:ext cx="5167526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Show higher susceptibility to influencing factors; dominate personal care and house care purchases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26718" y="4318875"/>
            <a:ext cx="132339" cy="151245"/>
          </a:xfrm>
          <a:custGeom>
            <a:avLst/>
            <a:gdLst/>
            <a:ahLst/>
            <a:cxnLst/>
            <a:rect l="l" t="t" r="r" b="b"/>
            <a:pathLst>
              <a:path w="132339" h="151245">
                <a:moveTo>
                  <a:pt x="71280" y="-3840"/>
                </a:moveTo>
                <a:cubicBezTo>
                  <a:pt x="67912" y="-4520"/>
                  <a:pt x="64456" y="-4520"/>
                  <a:pt x="61089" y="-3840"/>
                </a:cubicBezTo>
                <a:lnTo>
                  <a:pt x="5701" y="7237"/>
                </a:lnTo>
                <a:cubicBezTo>
                  <a:pt x="2393" y="7887"/>
                  <a:pt x="0" y="10812"/>
                  <a:pt x="0" y="14179"/>
                </a:cubicBezTo>
                <a:cubicBezTo>
                  <a:pt x="0" y="17222"/>
                  <a:pt x="1920" y="19880"/>
                  <a:pt x="4726" y="20855"/>
                </a:cubicBezTo>
                <a:lnTo>
                  <a:pt x="4726" y="42538"/>
                </a:lnTo>
                <a:lnTo>
                  <a:pt x="89" y="65756"/>
                </a:lnTo>
                <a:cubicBezTo>
                  <a:pt x="30" y="66022"/>
                  <a:pt x="0" y="66317"/>
                  <a:pt x="0" y="66613"/>
                </a:cubicBezTo>
                <a:cubicBezTo>
                  <a:pt x="0" y="68976"/>
                  <a:pt x="1920" y="70925"/>
                  <a:pt x="4313" y="70925"/>
                </a:cubicBezTo>
                <a:lnTo>
                  <a:pt x="14622" y="70925"/>
                </a:lnTo>
                <a:cubicBezTo>
                  <a:pt x="16985" y="70925"/>
                  <a:pt x="18935" y="69005"/>
                  <a:pt x="18935" y="66613"/>
                </a:cubicBezTo>
                <a:cubicBezTo>
                  <a:pt x="18935" y="66317"/>
                  <a:pt x="18906" y="66051"/>
                  <a:pt x="18847" y="65756"/>
                </a:cubicBezTo>
                <a:lnTo>
                  <a:pt x="14179" y="42538"/>
                </a:lnTo>
                <a:lnTo>
                  <a:pt x="14179" y="22834"/>
                </a:lnTo>
                <a:lnTo>
                  <a:pt x="28358" y="25670"/>
                </a:lnTo>
                <a:lnTo>
                  <a:pt x="28358" y="42538"/>
                </a:lnTo>
                <a:cubicBezTo>
                  <a:pt x="28358" y="63422"/>
                  <a:pt x="45285" y="80349"/>
                  <a:pt x="66170" y="80349"/>
                </a:cubicBezTo>
                <a:cubicBezTo>
                  <a:pt x="87054" y="80349"/>
                  <a:pt x="103981" y="63422"/>
                  <a:pt x="103981" y="42538"/>
                </a:cubicBezTo>
                <a:lnTo>
                  <a:pt x="103981" y="25670"/>
                </a:lnTo>
                <a:lnTo>
                  <a:pt x="126638" y="21151"/>
                </a:lnTo>
                <a:cubicBezTo>
                  <a:pt x="129946" y="20471"/>
                  <a:pt x="132339" y="17547"/>
                  <a:pt x="132339" y="14179"/>
                </a:cubicBezTo>
                <a:cubicBezTo>
                  <a:pt x="132339" y="10812"/>
                  <a:pt x="129946" y="7887"/>
                  <a:pt x="126638" y="7237"/>
                </a:cubicBezTo>
                <a:lnTo>
                  <a:pt x="71280" y="-3840"/>
                </a:lnTo>
                <a:close/>
                <a:moveTo>
                  <a:pt x="66170" y="66170"/>
                </a:moveTo>
                <a:cubicBezTo>
                  <a:pt x="53113" y="66170"/>
                  <a:pt x="42538" y="55594"/>
                  <a:pt x="42538" y="42538"/>
                </a:cubicBezTo>
                <a:lnTo>
                  <a:pt x="89802" y="42538"/>
                </a:lnTo>
                <a:cubicBezTo>
                  <a:pt x="89802" y="55594"/>
                  <a:pt x="79226" y="66170"/>
                  <a:pt x="66170" y="66170"/>
                </a:cubicBezTo>
                <a:close/>
                <a:moveTo>
                  <a:pt x="35478" y="94557"/>
                </a:moveTo>
                <a:cubicBezTo>
                  <a:pt x="17340" y="102888"/>
                  <a:pt x="4726" y="121203"/>
                  <a:pt x="4726" y="142471"/>
                </a:cubicBezTo>
                <a:cubicBezTo>
                  <a:pt x="4726" y="147316"/>
                  <a:pt x="8655" y="151245"/>
                  <a:pt x="13500" y="151245"/>
                </a:cubicBezTo>
                <a:lnTo>
                  <a:pt x="59080" y="151245"/>
                </a:lnTo>
                <a:lnTo>
                  <a:pt x="59080" y="108116"/>
                </a:lnTo>
                <a:lnTo>
                  <a:pt x="42124" y="95414"/>
                </a:lnTo>
                <a:cubicBezTo>
                  <a:pt x="40204" y="93967"/>
                  <a:pt x="37634" y="93583"/>
                  <a:pt x="35448" y="94587"/>
                </a:cubicBezTo>
                <a:close/>
                <a:moveTo>
                  <a:pt x="73259" y="151245"/>
                </a:moveTo>
                <a:lnTo>
                  <a:pt x="118839" y="151245"/>
                </a:lnTo>
                <a:cubicBezTo>
                  <a:pt x="123684" y="151245"/>
                  <a:pt x="127613" y="147316"/>
                  <a:pt x="127613" y="142471"/>
                </a:cubicBezTo>
                <a:cubicBezTo>
                  <a:pt x="127613" y="121203"/>
                  <a:pt x="114999" y="102888"/>
                  <a:pt x="96862" y="94587"/>
                </a:cubicBezTo>
                <a:cubicBezTo>
                  <a:pt x="94676" y="93583"/>
                  <a:pt x="92106" y="93967"/>
                  <a:pt x="90186" y="95414"/>
                </a:cubicBezTo>
                <a:lnTo>
                  <a:pt x="73230" y="108116"/>
                </a:lnTo>
                <a:lnTo>
                  <a:pt x="73230" y="151245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6586145" y="4285265"/>
            <a:ext cx="3520640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Generation Y (21-29)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586145" y="4486925"/>
            <a:ext cx="3512237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Highest online adoption; older generations face technology barriers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61820" y="4890244"/>
            <a:ext cx="5688480" cy="1579666"/>
          </a:xfrm>
          <a:custGeom>
            <a:avLst/>
            <a:gdLst/>
            <a:ahLst/>
            <a:cxnLst/>
            <a:rect l="l" t="t" r="r" b="b"/>
            <a:pathLst>
              <a:path w="5688480" h="1579666">
                <a:moveTo>
                  <a:pt x="67215" y="0"/>
                </a:moveTo>
                <a:lnTo>
                  <a:pt x="5621265" y="0"/>
                </a:lnTo>
                <a:cubicBezTo>
                  <a:pt x="5658387" y="0"/>
                  <a:pt x="5688480" y="30093"/>
                  <a:pt x="5688480" y="67215"/>
                </a:cubicBezTo>
                <a:lnTo>
                  <a:pt x="5688480" y="1512452"/>
                </a:lnTo>
                <a:cubicBezTo>
                  <a:pt x="5688480" y="1549573"/>
                  <a:pt x="5658387" y="1579666"/>
                  <a:pt x="5621265" y="1579666"/>
                </a:cubicBezTo>
                <a:lnTo>
                  <a:pt x="67215" y="1579666"/>
                </a:lnTo>
                <a:cubicBezTo>
                  <a:pt x="30093" y="1579666"/>
                  <a:pt x="0" y="1549573"/>
                  <a:pt x="0" y="1512452"/>
                </a:cubicBezTo>
                <a:lnTo>
                  <a:pt x="0" y="67215"/>
                </a:lnTo>
                <a:cubicBezTo>
                  <a:pt x="0" y="30118"/>
                  <a:pt x="30118" y="0"/>
                  <a:pt x="6721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0415" dist="3361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6296259" y="5024684"/>
            <a:ext cx="5495223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1" b="1" dirty="0">
                <a:solidFill>
                  <a:srgbClr val="1A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Product Category Preferences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296259" y="5327173"/>
            <a:ext cx="5419600" cy="302489"/>
          </a:xfrm>
          <a:custGeom>
            <a:avLst/>
            <a:gdLst/>
            <a:ahLst/>
            <a:cxnLst/>
            <a:rect l="l" t="t" r="r" b="b"/>
            <a:pathLst>
              <a:path w="5419600" h="302489">
                <a:moveTo>
                  <a:pt x="33610" y="0"/>
                </a:moveTo>
                <a:lnTo>
                  <a:pt x="5385991" y="0"/>
                </a:lnTo>
                <a:cubicBezTo>
                  <a:pt x="5404553" y="0"/>
                  <a:pt x="5419600" y="15048"/>
                  <a:pt x="5419600" y="33610"/>
                </a:cubicBezTo>
                <a:lnTo>
                  <a:pt x="5419600" y="268880"/>
                </a:lnTo>
                <a:cubicBezTo>
                  <a:pt x="5419600" y="287442"/>
                  <a:pt x="5404553" y="302489"/>
                  <a:pt x="5385991" y="302489"/>
                </a:cubicBezTo>
                <a:lnTo>
                  <a:pt x="33610" y="302489"/>
                </a:lnTo>
                <a:cubicBezTo>
                  <a:pt x="15048" y="302489"/>
                  <a:pt x="0" y="287442"/>
                  <a:pt x="0" y="268880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F0FDF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6363479" y="5394393"/>
            <a:ext cx="1520849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 Care &amp; House Care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366456" y="5394393"/>
            <a:ext cx="344502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b="1" dirty="0">
                <a:solidFill>
                  <a:srgbClr val="00A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296259" y="5680077"/>
            <a:ext cx="5419600" cy="302489"/>
          </a:xfrm>
          <a:custGeom>
            <a:avLst/>
            <a:gdLst/>
            <a:ahLst/>
            <a:cxnLst/>
            <a:rect l="l" t="t" r="r" b="b"/>
            <a:pathLst>
              <a:path w="5419600" h="302489">
                <a:moveTo>
                  <a:pt x="33610" y="0"/>
                </a:moveTo>
                <a:lnTo>
                  <a:pt x="5385991" y="0"/>
                </a:lnTo>
                <a:cubicBezTo>
                  <a:pt x="5404553" y="0"/>
                  <a:pt x="5419600" y="15048"/>
                  <a:pt x="5419600" y="33610"/>
                </a:cubicBezTo>
                <a:lnTo>
                  <a:pt x="5419600" y="268880"/>
                </a:lnTo>
                <a:cubicBezTo>
                  <a:pt x="5419600" y="287442"/>
                  <a:pt x="5404553" y="302489"/>
                  <a:pt x="5385991" y="302489"/>
                </a:cubicBezTo>
                <a:lnTo>
                  <a:pt x="33610" y="302489"/>
                </a:lnTo>
                <a:cubicBezTo>
                  <a:pt x="15048" y="302489"/>
                  <a:pt x="0" y="287442"/>
                  <a:pt x="0" y="268880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FEFC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/>
          <p:nvPr/>
        </p:nvSpPr>
        <p:spPr>
          <a:xfrm>
            <a:off x="6363479" y="5747297"/>
            <a:ext cx="857053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Packaged Food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017316" y="5747297"/>
            <a:ext cx="689003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b="1" dirty="0">
                <a:solidFill>
                  <a:srgbClr val="D08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MODERATE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296259" y="6032981"/>
            <a:ext cx="5419600" cy="302489"/>
          </a:xfrm>
          <a:custGeom>
            <a:avLst/>
            <a:gdLst/>
            <a:ahLst/>
            <a:cxnLst/>
            <a:rect l="l" t="t" r="r" b="b"/>
            <a:pathLst>
              <a:path w="5419600" h="302489">
                <a:moveTo>
                  <a:pt x="33610" y="0"/>
                </a:moveTo>
                <a:lnTo>
                  <a:pt x="5385991" y="0"/>
                </a:lnTo>
                <a:cubicBezTo>
                  <a:pt x="5404553" y="0"/>
                  <a:pt x="5419600" y="15048"/>
                  <a:pt x="5419600" y="33610"/>
                </a:cubicBezTo>
                <a:lnTo>
                  <a:pt x="5419600" y="268880"/>
                </a:lnTo>
                <a:cubicBezTo>
                  <a:pt x="5419600" y="287442"/>
                  <a:pt x="5404553" y="302489"/>
                  <a:pt x="5385991" y="302489"/>
                </a:cubicBezTo>
                <a:lnTo>
                  <a:pt x="33610" y="302489"/>
                </a:lnTo>
                <a:cubicBezTo>
                  <a:pt x="15048" y="302489"/>
                  <a:pt x="0" y="287442"/>
                  <a:pt x="0" y="268880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FE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/>
          <p:nvPr/>
        </p:nvSpPr>
        <p:spPr>
          <a:xfrm>
            <a:off x="6363479" y="6100201"/>
            <a:ext cx="1209957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Fresh Food &amp; Produce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1384574" y="6100201"/>
            <a:ext cx="327697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b="1" dirty="0">
                <a:solidFill>
                  <a:srgbClr val="E700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C5A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3A5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Recommendations &amp; Conclusion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00050" y="1333500"/>
            <a:ext cx="5619750" cy="2438400"/>
          </a:xfrm>
          <a:custGeom>
            <a:avLst/>
            <a:gdLst/>
            <a:ahLst/>
            <a:cxnLst/>
            <a:rect l="l" t="t" r="r" b="b"/>
            <a:pathLst>
              <a:path w="5619750" h="2438400">
                <a:moveTo>
                  <a:pt x="38100" y="0"/>
                </a:moveTo>
                <a:lnTo>
                  <a:pt x="5543550" y="0"/>
                </a:lnTo>
                <a:cubicBezTo>
                  <a:pt x="5585606" y="0"/>
                  <a:pt x="5619750" y="34144"/>
                  <a:pt x="5619750" y="76200"/>
                </a:cubicBezTo>
                <a:lnTo>
                  <a:pt x="5619750" y="2362200"/>
                </a:lnTo>
                <a:cubicBezTo>
                  <a:pt x="5619750" y="2404256"/>
                  <a:pt x="5585606" y="2438400"/>
                  <a:pt x="5543550" y="2438400"/>
                </a:cubicBezTo>
                <a:lnTo>
                  <a:pt x="38100" y="2438400"/>
                </a:lnTo>
                <a:cubicBezTo>
                  <a:pt x="17072" y="2438400"/>
                  <a:pt x="0" y="2421328"/>
                  <a:pt x="0" y="2400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00050" y="1333500"/>
            <a:ext cx="38100" cy="2438400"/>
          </a:xfrm>
          <a:custGeom>
            <a:avLst/>
            <a:gdLst/>
            <a:ahLst/>
            <a:cxnLst/>
            <a:rect l="l" t="t" r="r" b="b"/>
            <a:pathLst>
              <a:path w="38100" h="2438400">
                <a:moveTo>
                  <a:pt x="38100" y="0"/>
                </a:moveTo>
                <a:lnTo>
                  <a:pt x="38100" y="0"/>
                </a:lnTo>
                <a:lnTo>
                  <a:pt x="38100" y="2438400"/>
                </a:lnTo>
                <a:lnTo>
                  <a:pt x="38100" y="2438400"/>
                </a:lnTo>
                <a:cubicBezTo>
                  <a:pt x="17072" y="2438400"/>
                  <a:pt x="0" y="2421328"/>
                  <a:pt x="0" y="2400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628650" y="15049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42875" y="228600"/>
                </a:lnTo>
                <a:cubicBezTo>
                  <a:pt x="158636" y="228600"/>
                  <a:pt x="171450" y="215786"/>
                  <a:pt x="171450" y="200025"/>
                </a:cubicBezTo>
                <a:lnTo>
                  <a:pt x="171450" y="28575"/>
                </a:lnTo>
                <a:cubicBezTo>
                  <a:pt x="171450" y="12814"/>
                  <a:pt x="158636" y="0"/>
                  <a:pt x="142875" y="0"/>
                </a:cubicBezTo>
                <a:lnTo>
                  <a:pt x="28575" y="0"/>
                </a:lnTo>
                <a:close/>
                <a:moveTo>
                  <a:pt x="78581" y="157163"/>
                </a:moveTo>
                <a:lnTo>
                  <a:pt x="92869" y="157163"/>
                </a:lnTo>
                <a:cubicBezTo>
                  <a:pt x="100772" y="157163"/>
                  <a:pt x="107156" y="163547"/>
                  <a:pt x="107156" y="171450"/>
                </a:cubicBezTo>
                <a:lnTo>
                  <a:pt x="107156" y="207169"/>
                </a:lnTo>
                <a:lnTo>
                  <a:pt x="64294" y="207169"/>
                </a:lnTo>
                <a:lnTo>
                  <a:pt x="64294" y="171450"/>
                </a:lnTo>
                <a:cubicBezTo>
                  <a:pt x="64294" y="163547"/>
                  <a:pt x="70678" y="157163"/>
                  <a:pt x="78581" y="157163"/>
                </a:cubicBezTo>
                <a:close/>
                <a:moveTo>
                  <a:pt x="42863" y="50006"/>
                </a:moveTo>
                <a:cubicBezTo>
                  <a:pt x="42863" y="46077"/>
                  <a:pt x="46077" y="42863"/>
                  <a:pt x="50006" y="42863"/>
                </a:cubicBezTo>
                <a:lnTo>
                  <a:pt x="64294" y="42863"/>
                </a:lnTo>
                <a:cubicBezTo>
                  <a:pt x="68223" y="42863"/>
                  <a:pt x="71438" y="46077"/>
                  <a:pt x="71438" y="50006"/>
                </a:cubicBezTo>
                <a:lnTo>
                  <a:pt x="71438" y="64294"/>
                </a:lnTo>
                <a:cubicBezTo>
                  <a:pt x="71438" y="68223"/>
                  <a:pt x="68223" y="71438"/>
                  <a:pt x="64294" y="71438"/>
                </a:cubicBezTo>
                <a:lnTo>
                  <a:pt x="50006" y="71438"/>
                </a:lnTo>
                <a:cubicBezTo>
                  <a:pt x="46077" y="71438"/>
                  <a:pt x="42863" y="68223"/>
                  <a:pt x="42863" y="64294"/>
                </a:cubicBezTo>
                <a:lnTo>
                  <a:pt x="42863" y="50006"/>
                </a:lnTo>
                <a:close/>
                <a:moveTo>
                  <a:pt x="107156" y="42863"/>
                </a:moveTo>
                <a:lnTo>
                  <a:pt x="121444" y="42863"/>
                </a:lnTo>
                <a:cubicBezTo>
                  <a:pt x="125373" y="42863"/>
                  <a:pt x="128588" y="46077"/>
                  <a:pt x="128588" y="50006"/>
                </a:cubicBezTo>
                <a:lnTo>
                  <a:pt x="128588" y="64294"/>
                </a:lnTo>
                <a:cubicBezTo>
                  <a:pt x="128588" y="68223"/>
                  <a:pt x="125373" y="71438"/>
                  <a:pt x="121444" y="71438"/>
                </a:cubicBezTo>
                <a:lnTo>
                  <a:pt x="107156" y="71438"/>
                </a:lnTo>
                <a:cubicBezTo>
                  <a:pt x="103227" y="71438"/>
                  <a:pt x="100013" y="68223"/>
                  <a:pt x="100013" y="64294"/>
                </a:cubicBezTo>
                <a:lnTo>
                  <a:pt x="100013" y="50006"/>
                </a:lnTo>
                <a:cubicBezTo>
                  <a:pt x="100013" y="46077"/>
                  <a:pt x="103227" y="42863"/>
                  <a:pt x="107156" y="42863"/>
                </a:cubicBezTo>
                <a:close/>
                <a:moveTo>
                  <a:pt x="42863" y="107156"/>
                </a:moveTo>
                <a:cubicBezTo>
                  <a:pt x="42863" y="103227"/>
                  <a:pt x="46077" y="100013"/>
                  <a:pt x="50006" y="100013"/>
                </a:cubicBezTo>
                <a:lnTo>
                  <a:pt x="64294" y="100013"/>
                </a:lnTo>
                <a:cubicBezTo>
                  <a:pt x="68223" y="100013"/>
                  <a:pt x="71438" y="103227"/>
                  <a:pt x="71438" y="107156"/>
                </a:cubicBezTo>
                <a:lnTo>
                  <a:pt x="71438" y="121444"/>
                </a:lnTo>
                <a:cubicBezTo>
                  <a:pt x="71438" y="125373"/>
                  <a:pt x="68223" y="128588"/>
                  <a:pt x="64294" y="128588"/>
                </a:cubicBezTo>
                <a:lnTo>
                  <a:pt x="50006" y="128588"/>
                </a:lnTo>
                <a:cubicBezTo>
                  <a:pt x="46077" y="128588"/>
                  <a:pt x="42863" y="125373"/>
                  <a:pt x="42863" y="121444"/>
                </a:cubicBezTo>
                <a:lnTo>
                  <a:pt x="42863" y="107156"/>
                </a:lnTo>
                <a:close/>
                <a:moveTo>
                  <a:pt x="107156" y="100013"/>
                </a:moveTo>
                <a:lnTo>
                  <a:pt x="121444" y="100013"/>
                </a:lnTo>
                <a:cubicBezTo>
                  <a:pt x="125373" y="100013"/>
                  <a:pt x="128588" y="103227"/>
                  <a:pt x="128588" y="107156"/>
                </a:cubicBezTo>
                <a:lnTo>
                  <a:pt x="128588" y="121444"/>
                </a:lnTo>
                <a:cubicBezTo>
                  <a:pt x="128588" y="125373"/>
                  <a:pt x="125373" y="128588"/>
                  <a:pt x="121444" y="128588"/>
                </a:cubicBezTo>
                <a:lnTo>
                  <a:pt x="107156" y="128588"/>
                </a:lnTo>
                <a:cubicBezTo>
                  <a:pt x="103227" y="128588"/>
                  <a:pt x="100013" y="125373"/>
                  <a:pt x="100013" y="121444"/>
                </a:cubicBezTo>
                <a:lnTo>
                  <a:pt x="100013" y="107156"/>
                </a:lnTo>
                <a:cubicBezTo>
                  <a:pt x="100013" y="103227"/>
                  <a:pt x="103227" y="100013"/>
                  <a:pt x="107156" y="100013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71550" y="1485900"/>
            <a:ext cx="1885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For E-Commerce Firms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" y="1866900"/>
            <a:ext cx="5295900" cy="533400"/>
          </a:xfrm>
          <a:custGeom>
            <a:avLst/>
            <a:gdLst/>
            <a:ahLst/>
            <a:cxnLst/>
            <a:rect l="l" t="t" r="r" b="b"/>
            <a:pathLst>
              <a:path w="5295900" h="533400">
                <a:moveTo>
                  <a:pt x="38101" y="0"/>
                </a:moveTo>
                <a:lnTo>
                  <a:pt x="5257799" y="0"/>
                </a:lnTo>
                <a:cubicBezTo>
                  <a:pt x="5278842" y="0"/>
                  <a:pt x="5295900" y="17058"/>
                  <a:pt x="5295900" y="38101"/>
                </a:cubicBezTo>
                <a:lnTo>
                  <a:pt x="5295900" y="495299"/>
                </a:lnTo>
                <a:cubicBezTo>
                  <a:pt x="5295900" y="516342"/>
                  <a:pt x="5278842" y="533400"/>
                  <a:pt x="525779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647700" y="19621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19125" y="196215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0600" y="1943100"/>
            <a:ext cx="4867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Enhance User Experience:</a:t>
            </a:r>
            <a:r>
              <a:rPr lang="en-US" sz="105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Focus on website design, navigation, and seamless transaction processes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" y="2476500"/>
            <a:ext cx="5295900" cy="533400"/>
          </a:xfrm>
          <a:custGeom>
            <a:avLst/>
            <a:gdLst/>
            <a:ahLst/>
            <a:cxnLst/>
            <a:rect l="l" t="t" r="r" b="b"/>
            <a:pathLst>
              <a:path w="5295900" h="533400">
                <a:moveTo>
                  <a:pt x="38101" y="0"/>
                </a:moveTo>
                <a:lnTo>
                  <a:pt x="5257799" y="0"/>
                </a:lnTo>
                <a:cubicBezTo>
                  <a:pt x="5278842" y="0"/>
                  <a:pt x="5295900" y="17058"/>
                  <a:pt x="5295900" y="38101"/>
                </a:cubicBezTo>
                <a:lnTo>
                  <a:pt x="5295900" y="495299"/>
                </a:lnTo>
                <a:cubicBezTo>
                  <a:pt x="5295900" y="516342"/>
                  <a:pt x="5278842" y="533400"/>
                  <a:pt x="525779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47700" y="25717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19125" y="257175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90600" y="2552700"/>
            <a:ext cx="4867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Generation Y &amp; Females:</a:t>
            </a:r>
            <a:r>
              <a:rPr lang="en-US" sz="105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Develop marketing strategies tailored to these high-adoption segments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1500" y="3086100"/>
            <a:ext cx="5295900" cy="533400"/>
          </a:xfrm>
          <a:custGeom>
            <a:avLst/>
            <a:gdLst/>
            <a:ahLst/>
            <a:cxnLst/>
            <a:rect l="l" t="t" r="r" b="b"/>
            <a:pathLst>
              <a:path w="5295900" h="533400">
                <a:moveTo>
                  <a:pt x="38101" y="0"/>
                </a:moveTo>
                <a:lnTo>
                  <a:pt x="5257799" y="0"/>
                </a:lnTo>
                <a:cubicBezTo>
                  <a:pt x="5278842" y="0"/>
                  <a:pt x="5295900" y="17058"/>
                  <a:pt x="5295900" y="38101"/>
                </a:cubicBezTo>
                <a:lnTo>
                  <a:pt x="5295900" y="495299"/>
                </a:lnTo>
                <a:cubicBezTo>
                  <a:pt x="5295900" y="516342"/>
                  <a:pt x="5278842" y="533400"/>
                  <a:pt x="525779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47700" y="31813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19125" y="318135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90600" y="3162300"/>
            <a:ext cx="4867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Engage Older Demographics:</a:t>
            </a:r>
            <a:r>
              <a:rPr lang="en-US" sz="105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Create innovative, user-friendly approaches to overcome technology barriers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00050" y="3886200"/>
            <a:ext cx="5619750" cy="2438400"/>
          </a:xfrm>
          <a:custGeom>
            <a:avLst/>
            <a:gdLst/>
            <a:ahLst/>
            <a:cxnLst/>
            <a:rect l="l" t="t" r="r" b="b"/>
            <a:pathLst>
              <a:path w="5619750" h="2438400">
                <a:moveTo>
                  <a:pt x="38100" y="0"/>
                </a:moveTo>
                <a:lnTo>
                  <a:pt x="5543550" y="0"/>
                </a:lnTo>
                <a:cubicBezTo>
                  <a:pt x="5585606" y="0"/>
                  <a:pt x="5619750" y="34144"/>
                  <a:pt x="5619750" y="76200"/>
                </a:cubicBezTo>
                <a:lnTo>
                  <a:pt x="5619750" y="2362200"/>
                </a:lnTo>
                <a:cubicBezTo>
                  <a:pt x="5619750" y="2404256"/>
                  <a:pt x="5585606" y="2438400"/>
                  <a:pt x="5543550" y="2438400"/>
                </a:cubicBezTo>
                <a:lnTo>
                  <a:pt x="38100" y="2438400"/>
                </a:lnTo>
                <a:cubicBezTo>
                  <a:pt x="17072" y="2438400"/>
                  <a:pt x="0" y="2421328"/>
                  <a:pt x="0" y="2400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00050" y="3886200"/>
            <a:ext cx="38100" cy="2438400"/>
          </a:xfrm>
          <a:custGeom>
            <a:avLst/>
            <a:gdLst/>
            <a:ahLst/>
            <a:cxnLst/>
            <a:rect l="l" t="t" r="r" b="b"/>
            <a:pathLst>
              <a:path w="38100" h="2438400">
                <a:moveTo>
                  <a:pt x="38100" y="0"/>
                </a:moveTo>
                <a:lnTo>
                  <a:pt x="38100" y="0"/>
                </a:lnTo>
                <a:lnTo>
                  <a:pt x="38100" y="2438400"/>
                </a:lnTo>
                <a:lnTo>
                  <a:pt x="38100" y="2438400"/>
                </a:lnTo>
                <a:cubicBezTo>
                  <a:pt x="17072" y="2438400"/>
                  <a:pt x="0" y="2421328"/>
                  <a:pt x="0" y="2400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585788" y="40576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9599" y="80858"/>
                </a:moveTo>
                <a:lnTo>
                  <a:pt x="34960" y="30093"/>
                </a:lnTo>
                <a:cubicBezTo>
                  <a:pt x="39826" y="20404"/>
                  <a:pt x="49694" y="14288"/>
                  <a:pt x="60543" y="14288"/>
                </a:cubicBezTo>
                <a:lnTo>
                  <a:pt x="196676" y="14288"/>
                </a:lnTo>
                <a:cubicBezTo>
                  <a:pt x="207481" y="14288"/>
                  <a:pt x="217393" y="20404"/>
                  <a:pt x="222215" y="30093"/>
                </a:cubicBezTo>
                <a:lnTo>
                  <a:pt x="247576" y="80858"/>
                </a:lnTo>
                <a:cubicBezTo>
                  <a:pt x="249183" y="84073"/>
                  <a:pt x="250031" y="87600"/>
                  <a:pt x="250031" y="91217"/>
                </a:cubicBezTo>
                <a:cubicBezTo>
                  <a:pt x="250031" y="103406"/>
                  <a:pt x="240566" y="113407"/>
                  <a:pt x="228600" y="114255"/>
                </a:cubicBezTo>
                <a:lnTo>
                  <a:pt x="228600" y="200025"/>
                </a:lnTo>
                <a:cubicBezTo>
                  <a:pt x="228600" y="207928"/>
                  <a:pt x="222215" y="214313"/>
                  <a:pt x="214313" y="214313"/>
                </a:cubicBezTo>
                <a:cubicBezTo>
                  <a:pt x="206410" y="214313"/>
                  <a:pt x="200025" y="207928"/>
                  <a:pt x="200025" y="200025"/>
                </a:cubicBezTo>
                <a:lnTo>
                  <a:pt x="200025" y="114300"/>
                </a:lnTo>
                <a:lnTo>
                  <a:pt x="157163" y="114300"/>
                </a:lnTo>
                <a:lnTo>
                  <a:pt x="157163" y="192881"/>
                </a:lnTo>
                <a:cubicBezTo>
                  <a:pt x="157163" y="204713"/>
                  <a:pt x="147563" y="214313"/>
                  <a:pt x="135731" y="214313"/>
                </a:cubicBezTo>
                <a:lnTo>
                  <a:pt x="50006" y="214313"/>
                </a:lnTo>
                <a:cubicBezTo>
                  <a:pt x="38174" y="214313"/>
                  <a:pt x="28575" y="204713"/>
                  <a:pt x="28575" y="192881"/>
                </a:cubicBezTo>
                <a:lnTo>
                  <a:pt x="28575" y="114255"/>
                </a:lnTo>
                <a:cubicBezTo>
                  <a:pt x="16609" y="113407"/>
                  <a:pt x="7144" y="103406"/>
                  <a:pt x="7144" y="91217"/>
                </a:cubicBezTo>
                <a:cubicBezTo>
                  <a:pt x="7144" y="87645"/>
                  <a:pt x="7992" y="84073"/>
                  <a:pt x="9599" y="80858"/>
                </a:cubicBezTo>
                <a:close/>
                <a:moveTo>
                  <a:pt x="57150" y="114300"/>
                </a:moveTo>
                <a:lnTo>
                  <a:pt x="57150" y="164306"/>
                </a:lnTo>
                <a:cubicBezTo>
                  <a:pt x="57150" y="168235"/>
                  <a:pt x="60365" y="171450"/>
                  <a:pt x="64294" y="171450"/>
                </a:cubicBezTo>
                <a:lnTo>
                  <a:pt x="121444" y="171450"/>
                </a:lnTo>
                <a:cubicBezTo>
                  <a:pt x="125373" y="171450"/>
                  <a:pt x="128588" y="168235"/>
                  <a:pt x="128588" y="164306"/>
                </a:cubicBezTo>
                <a:lnTo>
                  <a:pt x="128588" y="114300"/>
                </a:lnTo>
                <a:lnTo>
                  <a:pt x="57150" y="114300"/>
                </a:ln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971550" y="4038600"/>
            <a:ext cx="122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For E-Retailers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1500" y="4419600"/>
            <a:ext cx="5295900" cy="533400"/>
          </a:xfrm>
          <a:custGeom>
            <a:avLst/>
            <a:gdLst/>
            <a:ahLst/>
            <a:cxnLst/>
            <a:rect l="l" t="t" r="r" b="b"/>
            <a:pathLst>
              <a:path w="5295900" h="533400">
                <a:moveTo>
                  <a:pt x="38101" y="0"/>
                </a:moveTo>
                <a:lnTo>
                  <a:pt x="5257799" y="0"/>
                </a:lnTo>
                <a:cubicBezTo>
                  <a:pt x="5278842" y="0"/>
                  <a:pt x="5295900" y="17058"/>
                  <a:pt x="5295900" y="38101"/>
                </a:cubicBezTo>
                <a:lnTo>
                  <a:pt x="5295900" y="495299"/>
                </a:lnTo>
                <a:cubicBezTo>
                  <a:pt x="5295900" y="516342"/>
                  <a:pt x="5278842" y="533400"/>
                  <a:pt x="525779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647700" y="45148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19125" y="451485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90600" y="4495800"/>
            <a:ext cx="4867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Provide Comprehensive Information:</a:t>
            </a:r>
            <a:r>
              <a:rPr lang="en-US" sz="105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Detailed product descriptions and quality assurance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71500" y="5029200"/>
            <a:ext cx="5295900" cy="533400"/>
          </a:xfrm>
          <a:custGeom>
            <a:avLst/>
            <a:gdLst/>
            <a:ahLst/>
            <a:cxnLst/>
            <a:rect l="l" t="t" r="r" b="b"/>
            <a:pathLst>
              <a:path w="5295900" h="533400">
                <a:moveTo>
                  <a:pt x="38101" y="0"/>
                </a:moveTo>
                <a:lnTo>
                  <a:pt x="5257799" y="0"/>
                </a:lnTo>
                <a:cubicBezTo>
                  <a:pt x="5278842" y="0"/>
                  <a:pt x="5295900" y="17058"/>
                  <a:pt x="5295900" y="38101"/>
                </a:cubicBezTo>
                <a:lnTo>
                  <a:pt x="5295900" y="495299"/>
                </a:lnTo>
                <a:cubicBezTo>
                  <a:pt x="5295900" y="516342"/>
                  <a:pt x="5278842" y="533400"/>
                  <a:pt x="525779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647700" y="5124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619125" y="512445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90600" y="5105400"/>
            <a:ext cx="4867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Maintain Quality Standards:</a:t>
            </a:r>
            <a:r>
              <a:rPr lang="en-US" sz="105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Reduce perceived risk through consistent product quality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71500" y="5638800"/>
            <a:ext cx="5295900" cy="533400"/>
          </a:xfrm>
          <a:custGeom>
            <a:avLst/>
            <a:gdLst/>
            <a:ahLst/>
            <a:cxnLst/>
            <a:rect l="l" t="t" r="r" b="b"/>
            <a:pathLst>
              <a:path w="5295900" h="533400">
                <a:moveTo>
                  <a:pt x="38101" y="0"/>
                </a:moveTo>
                <a:lnTo>
                  <a:pt x="5257799" y="0"/>
                </a:lnTo>
                <a:cubicBezTo>
                  <a:pt x="5278842" y="0"/>
                  <a:pt x="5295900" y="17058"/>
                  <a:pt x="5295900" y="38101"/>
                </a:cubicBezTo>
                <a:lnTo>
                  <a:pt x="5295900" y="495299"/>
                </a:lnTo>
                <a:cubicBezTo>
                  <a:pt x="5295900" y="516342"/>
                  <a:pt x="5278842" y="533400"/>
                  <a:pt x="525779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647700" y="57340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619125" y="573405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90600" y="5715000"/>
            <a:ext cx="4867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Actively Manage Reviews:</a:t>
            </a:r>
            <a:r>
              <a:rPr lang="en-US" sz="105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Respond to consumer feedback and address negative reviews promptly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72200" y="1333500"/>
            <a:ext cx="5638800" cy="1676400"/>
          </a:xfrm>
          <a:custGeom>
            <a:avLst/>
            <a:gdLst/>
            <a:ahLst/>
            <a:cxnLst/>
            <a:rect l="l" t="t" r="r" b="b"/>
            <a:pathLst>
              <a:path w="5638800" h="1676400">
                <a:moveTo>
                  <a:pt x="76192" y="0"/>
                </a:moveTo>
                <a:lnTo>
                  <a:pt x="5562608" y="0"/>
                </a:lnTo>
                <a:cubicBezTo>
                  <a:pt x="5604688" y="0"/>
                  <a:pt x="5638800" y="34112"/>
                  <a:pt x="5638800" y="76192"/>
                </a:cubicBezTo>
                <a:lnTo>
                  <a:pt x="5638800" y="1600208"/>
                </a:lnTo>
                <a:cubicBezTo>
                  <a:pt x="5638800" y="1642288"/>
                  <a:pt x="5604688" y="1676400"/>
                  <a:pt x="5562608" y="1676400"/>
                </a:cubicBezTo>
                <a:lnTo>
                  <a:pt x="76192" y="1676400"/>
                </a:lnTo>
                <a:cubicBezTo>
                  <a:pt x="34112" y="1676400"/>
                  <a:pt x="0" y="1642288"/>
                  <a:pt x="0" y="16002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1A3A5C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6353175" y="15049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6724650" y="1485900"/>
            <a:ext cx="1704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Research Limitations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38888" y="19240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6581775" y="1866900"/>
            <a:ext cx="3295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Sample skewed toward young, tech-savvy respondents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38888" y="21907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6581775" y="2133600"/>
            <a:ext cx="3324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Online survey excludes low technology adoption groups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38888" y="24574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6581775" y="2400300"/>
            <a:ext cx="3867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Perceived risk insignificance may require larger sample validation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38888" y="27241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6581775" y="2667000"/>
            <a:ext cx="2743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Cross-sectional design limits causal inference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72200" y="3124200"/>
            <a:ext cx="5638800" cy="2286000"/>
          </a:xfrm>
          <a:custGeom>
            <a:avLst/>
            <a:gdLst/>
            <a:ahLst/>
            <a:cxnLst/>
            <a:rect l="l" t="t" r="r" b="b"/>
            <a:pathLst>
              <a:path w="5638800" h="2286000">
                <a:moveTo>
                  <a:pt x="76192" y="0"/>
                </a:moveTo>
                <a:lnTo>
                  <a:pt x="5562608" y="0"/>
                </a:lnTo>
                <a:cubicBezTo>
                  <a:pt x="5604688" y="0"/>
                  <a:pt x="5638800" y="34112"/>
                  <a:pt x="5638800" y="76192"/>
                </a:cubicBezTo>
                <a:lnTo>
                  <a:pt x="5638800" y="2209808"/>
                </a:lnTo>
                <a:cubicBezTo>
                  <a:pt x="5638800" y="2251888"/>
                  <a:pt x="5604688" y="2286000"/>
                  <a:pt x="5562608" y="2286000"/>
                </a:cubicBezTo>
                <a:lnTo>
                  <a:pt x="76192" y="2286000"/>
                </a:lnTo>
                <a:cubicBezTo>
                  <a:pt x="34112" y="2286000"/>
                  <a:pt x="0" y="2251888"/>
                  <a:pt x="0" y="22098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6381750" y="32956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6724650" y="3276600"/>
            <a:ext cx="2181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Future Research Directions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24600" y="3657600"/>
            <a:ext cx="5334000" cy="342900"/>
          </a:xfrm>
          <a:custGeom>
            <a:avLst/>
            <a:gdLst/>
            <a:ahLst/>
            <a:cxnLst/>
            <a:rect l="l" t="t" r="r" b="b"/>
            <a:pathLst>
              <a:path w="5334000" h="34290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04800"/>
                </a:lnTo>
                <a:cubicBezTo>
                  <a:pt x="5334000" y="325842"/>
                  <a:pt x="5316942" y="342900"/>
                  <a:pt x="5295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2" name="Shape 50"/>
          <p:cNvSpPr/>
          <p:nvPr/>
        </p:nvSpPr>
        <p:spPr>
          <a:xfrm>
            <a:off x="6419850" y="37528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6667500" y="3733800"/>
            <a:ext cx="223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Expand sample size and age diversity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24600" y="4076700"/>
            <a:ext cx="5334000" cy="342900"/>
          </a:xfrm>
          <a:custGeom>
            <a:avLst/>
            <a:gdLst/>
            <a:ahLst/>
            <a:cxnLst/>
            <a:rect l="l" t="t" r="r" b="b"/>
            <a:pathLst>
              <a:path w="5334000" h="34290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04800"/>
                </a:lnTo>
                <a:cubicBezTo>
                  <a:pt x="5334000" y="325842"/>
                  <a:pt x="5316942" y="342900"/>
                  <a:pt x="5295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6419850" y="4171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/>
          <p:nvPr/>
        </p:nvSpPr>
        <p:spPr>
          <a:xfrm>
            <a:off x="6667500" y="415290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Incorporate qualitative methods (interviews)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24600" y="4495800"/>
            <a:ext cx="5334000" cy="342900"/>
          </a:xfrm>
          <a:custGeom>
            <a:avLst/>
            <a:gdLst/>
            <a:ahLst/>
            <a:cxnLst/>
            <a:rect l="l" t="t" r="r" b="b"/>
            <a:pathLst>
              <a:path w="5334000" h="34290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04800"/>
                </a:lnTo>
                <a:cubicBezTo>
                  <a:pt x="5334000" y="325842"/>
                  <a:pt x="5316942" y="342900"/>
                  <a:pt x="5295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8" name="Shape 56"/>
          <p:cNvSpPr/>
          <p:nvPr/>
        </p:nvSpPr>
        <p:spPr>
          <a:xfrm>
            <a:off x="6419850" y="45910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/>
          <p:nvPr/>
        </p:nvSpPr>
        <p:spPr>
          <a:xfrm>
            <a:off x="6667500" y="4572000"/>
            <a:ext cx="2676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Examine specific grocery product categories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24600" y="4914900"/>
            <a:ext cx="5334000" cy="342900"/>
          </a:xfrm>
          <a:custGeom>
            <a:avLst/>
            <a:gdLst/>
            <a:ahLst/>
            <a:cxnLst/>
            <a:rect l="l" t="t" r="r" b="b"/>
            <a:pathLst>
              <a:path w="5334000" h="34290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04800"/>
                </a:lnTo>
                <a:cubicBezTo>
                  <a:pt x="5334000" y="325842"/>
                  <a:pt x="5316942" y="342900"/>
                  <a:pt x="5295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1" name="Shape 59"/>
          <p:cNvSpPr/>
          <p:nvPr/>
        </p:nvSpPr>
        <p:spPr>
          <a:xfrm>
            <a:off x="6419850" y="5010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2" name="Text 60"/>
          <p:cNvSpPr/>
          <p:nvPr/>
        </p:nvSpPr>
        <p:spPr>
          <a:xfrm>
            <a:off x="6667500" y="4991100"/>
            <a:ext cx="323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Investigate perceived risk and satisfaction relationship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172200" y="5524500"/>
            <a:ext cx="5638800" cy="1295400"/>
          </a:xfrm>
          <a:custGeom>
            <a:avLst/>
            <a:gdLst/>
            <a:ahLst/>
            <a:cxnLst/>
            <a:rect l="l" t="t" r="r" b="b"/>
            <a:pathLst>
              <a:path w="5638800" h="1295400">
                <a:moveTo>
                  <a:pt x="76195" y="0"/>
                </a:moveTo>
                <a:lnTo>
                  <a:pt x="5562605" y="0"/>
                </a:lnTo>
                <a:cubicBezTo>
                  <a:pt x="5604658" y="0"/>
                  <a:pt x="5638800" y="34142"/>
                  <a:pt x="5638800" y="76195"/>
                </a:cubicBezTo>
                <a:lnTo>
                  <a:pt x="5638800" y="1219205"/>
                </a:lnTo>
                <a:cubicBezTo>
                  <a:pt x="5638800" y="1261286"/>
                  <a:pt x="5604686" y="1295400"/>
                  <a:pt x="5562605" y="1295400"/>
                </a:cubicBezTo>
                <a:lnTo>
                  <a:pt x="76195" y="1295400"/>
                </a:lnTo>
                <a:cubicBezTo>
                  <a:pt x="34142" y="1295400"/>
                  <a:pt x="0" y="1261258"/>
                  <a:pt x="0" y="12192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C5A56A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4" name="Shape 62"/>
          <p:cNvSpPr/>
          <p:nvPr/>
        </p:nvSpPr>
        <p:spPr>
          <a:xfrm>
            <a:off x="6353175" y="56959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5" name="Text 63"/>
          <p:cNvSpPr/>
          <p:nvPr/>
        </p:nvSpPr>
        <p:spPr>
          <a:xfrm>
            <a:off x="6724650" y="5676900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324600" y="6019800"/>
            <a:ext cx="540067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study successfully identifies </a:t>
            </a: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 key factors</a:t>
            </a: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driving online grocery purchase intention in Singapore, contributing valuable insights to this under-researched market segment and providing practical recommendations for e-commerce stakeholders.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1576</Words>
  <Application>Microsoft Office PowerPoint</Application>
  <PresentationFormat>Widescreen</PresentationFormat>
  <Paragraphs>298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Unna</vt:lpstr>
      <vt:lpstr>微软雅黑</vt:lpstr>
      <vt:lpstr>Liter</vt:lpstr>
      <vt:lpstr>Quattrocento Sans</vt:lpstr>
      <vt:lpstr>Oranienbaum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Factors Influencing Consumer Purchase Intention in the Singapore Online Grocery Market</dc:title>
  <dc:subject>Factors Influencing Consumer Purchase Intention in the Singapore Online Grocery Market</dc:subject>
  <dc:creator>Kimi</dc:creator>
  <cp:lastModifiedBy>Nguyễn Nguyện</cp:lastModifiedBy>
  <cp:revision>2</cp:revision>
  <dcterms:created xsi:type="dcterms:W3CDTF">2026-03-18T11:18:50Z</dcterms:created>
  <dcterms:modified xsi:type="dcterms:W3CDTF">2026-03-18T14:16:52Z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{"Label":"Factors Influencing Consumer Purchase Intention in the Singapore Online Grocery Market","ContentProducer":"001191110108MACG2KBH8F10000","ProduceID":"19d009fe-6072-8448-8000-0000ad56d6ca","ReservedCode1":"","ContentPropagator":"001191110108MACG2KBH8F20000","PropagateID":"19d009fe-6072-8448-8000-0000ad56d6ca","ReservedCode2":""}</vt:lpwstr>
  </property>
</Properties>
</file>